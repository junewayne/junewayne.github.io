
<file path=[Content_Types].xml><?xml version="1.0" encoding="utf-8"?>
<Types xmlns="http://schemas.openxmlformats.org/package/2006/content-types">
  <Default Extension="gif" ContentType="image/gi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17"/>
  </p:notesMasterIdLst>
  <p:sldIdLst>
    <p:sldId id="256" r:id="rId2"/>
    <p:sldId id="337" r:id="rId3"/>
    <p:sldId id="433" r:id="rId4"/>
    <p:sldId id="434" r:id="rId5"/>
    <p:sldId id="428" r:id="rId6"/>
    <p:sldId id="429" r:id="rId7"/>
    <p:sldId id="430" r:id="rId8"/>
    <p:sldId id="414" r:id="rId9"/>
    <p:sldId id="403" r:id="rId10"/>
    <p:sldId id="418" r:id="rId11"/>
    <p:sldId id="417" r:id="rId12"/>
    <p:sldId id="416" r:id="rId13"/>
    <p:sldId id="431" r:id="rId14"/>
    <p:sldId id="432" r:id="rId15"/>
    <p:sldId id="405" r:id="rId1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DEE1F179-3F9C-4700-906F-7D84A5D4CE5B}">
          <p14:sldIdLst>
            <p14:sldId id="256"/>
            <p14:sldId id="337"/>
            <p14:sldId id="433"/>
            <p14:sldId id="434"/>
            <p14:sldId id="428"/>
            <p14:sldId id="429"/>
            <p14:sldId id="430"/>
            <p14:sldId id="414"/>
            <p14:sldId id="403"/>
            <p14:sldId id="418"/>
            <p14:sldId id="417"/>
            <p14:sldId id="416"/>
            <p14:sldId id="431"/>
            <p14:sldId id="432"/>
            <p14:sldId id="405"/>
          </p14:sldIdLst>
        </p14:section>
        <p14:section name="Untitled Section" id="{8A64603C-D8D4-4761-9183-361E20B7485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57200"/>
    <a:srgbClr val="24323E"/>
    <a:srgbClr val="FDDA24"/>
    <a:srgbClr val="0000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36B6E64-C1C0-4FBB-8B7B-7691495BD057}" v="63" dt="2026-10-05T15:30:28.158"/>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993" autoAdjust="0"/>
    <p:restoredTop sz="96092" autoAdjust="0"/>
  </p:normalViewPr>
  <p:slideViewPr>
    <p:cSldViewPr snapToGrid="0">
      <p:cViewPr varScale="1">
        <p:scale>
          <a:sx n="107" d="100"/>
          <a:sy n="107" d="100"/>
        </p:scale>
        <p:origin x="84" y="136"/>
      </p:cViewPr>
      <p:guideLst/>
    </p:cSldViewPr>
  </p:slideViewPr>
  <p:notesTextViewPr>
    <p:cViewPr>
      <p:scale>
        <a:sx n="400" d="100"/>
        <a:sy n="4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microsoft.com/office/2015/10/relationships/revisionInfo" Target="revisionInfo.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F6DE9F3-C219-49FD-930C-F94C68B180E1}" type="datetimeFigureOut">
              <a:rPr lang="zh-CN" altLang="en-US" smtClean="0"/>
              <a:t>2026/10/12</a:t>
            </a:fld>
            <a:endParaRPr lang="zh-CN" alt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zh-CN" alt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81BC30D-90A3-4E4C-B19D-19AF502431E3}" type="slidenum">
              <a:rPr lang="zh-CN" altLang="en-US" smtClean="0"/>
              <a:t>‹#›</a:t>
            </a:fld>
            <a:endParaRPr lang="zh-CN" altLang="en-US"/>
          </a:p>
        </p:txBody>
      </p:sp>
    </p:spTree>
    <p:extLst>
      <p:ext uri="{BB962C8B-B14F-4D97-AF65-F5344CB8AC3E}">
        <p14:creationId xmlns:p14="http://schemas.microsoft.com/office/powerpoint/2010/main" val="26984094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zh-CN" altLang="en-US"/>
          </a:p>
        </p:txBody>
      </p:sp>
      <p:sp>
        <p:nvSpPr>
          <p:cNvPr id="3" name="Notes Placeholder 2"/>
          <p:cNvSpPr>
            <a:spLocks noGrp="1"/>
          </p:cNvSpPr>
          <p:nvPr>
            <p:ph type="body" idx="1"/>
          </p:nvPr>
        </p:nvSpPr>
        <p:spPr/>
        <p:txBody>
          <a:bodyPr/>
          <a:lstStyle/>
          <a:p>
            <a:endParaRPr lang="zh-CN" altLang="en-US" dirty="0"/>
          </a:p>
        </p:txBody>
      </p:sp>
      <p:sp>
        <p:nvSpPr>
          <p:cNvPr id="4" name="Slide Number Placeholder 3"/>
          <p:cNvSpPr>
            <a:spLocks noGrp="1"/>
          </p:cNvSpPr>
          <p:nvPr>
            <p:ph type="sldNum" sz="quarter" idx="5"/>
          </p:nvPr>
        </p:nvSpPr>
        <p:spPr/>
        <p:txBody>
          <a:bodyPr/>
          <a:lstStyle/>
          <a:p>
            <a:fld id="{481BC30D-90A3-4E4C-B19D-19AF502431E3}" type="slidenum">
              <a:rPr lang="zh-CN" altLang="en-US" smtClean="0"/>
              <a:t>1</a:t>
            </a:fld>
            <a:endParaRPr lang="zh-CN" altLang="en-US"/>
          </a:p>
        </p:txBody>
      </p:sp>
    </p:spTree>
    <p:extLst>
      <p:ext uri="{BB962C8B-B14F-4D97-AF65-F5344CB8AC3E}">
        <p14:creationId xmlns:p14="http://schemas.microsoft.com/office/powerpoint/2010/main" val="51870042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sz="900" dirty="0"/>
          </a:p>
        </p:txBody>
      </p:sp>
      <p:sp>
        <p:nvSpPr>
          <p:cNvPr id="4" name="Slide Number Placeholder 3"/>
          <p:cNvSpPr>
            <a:spLocks noGrp="1"/>
          </p:cNvSpPr>
          <p:nvPr>
            <p:ph type="sldNum" sz="quarter" idx="5"/>
          </p:nvPr>
        </p:nvSpPr>
        <p:spPr/>
        <p:txBody>
          <a:bodyPr/>
          <a:lstStyle/>
          <a:p>
            <a:fld id="{481BC30D-90A3-4E4C-B19D-19AF502431E3}" type="slidenum">
              <a:rPr lang="zh-CN" altLang="en-US" smtClean="0"/>
              <a:t>2</a:t>
            </a:fld>
            <a:endParaRPr lang="zh-CN" altLang="en-US"/>
          </a:p>
        </p:txBody>
      </p:sp>
    </p:spTree>
    <p:extLst>
      <p:ext uri="{BB962C8B-B14F-4D97-AF65-F5344CB8AC3E}">
        <p14:creationId xmlns:p14="http://schemas.microsoft.com/office/powerpoint/2010/main" val="382129647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C2B34D-946C-DB91-A251-ED5074620C1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CB30DFC-2E4E-F2B8-A8C9-EE226F697B0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EDC85E7-D249-780C-015B-0FCD99AA5199}"/>
              </a:ext>
            </a:extLst>
          </p:cNvPr>
          <p:cNvSpPr>
            <a:spLocks noGrp="1"/>
          </p:cNvSpPr>
          <p:nvPr>
            <p:ph type="body" idx="1"/>
          </p:nvPr>
        </p:nvSpPr>
        <p:spPr/>
        <p:txBody>
          <a:bodyPr/>
          <a:lstStyle/>
          <a:p>
            <a:endParaRPr lang="en-US" sz="900" dirty="0"/>
          </a:p>
        </p:txBody>
      </p:sp>
      <p:sp>
        <p:nvSpPr>
          <p:cNvPr id="4" name="Slide Number Placeholder 3">
            <a:extLst>
              <a:ext uri="{FF2B5EF4-FFF2-40B4-BE49-F238E27FC236}">
                <a16:creationId xmlns:a16="http://schemas.microsoft.com/office/drawing/2014/main" id="{03CB76C8-3D77-384A-1B5E-C8AE629DB02A}"/>
              </a:ext>
            </a:extLst>
          </p:cNvPr>
          <p:cNvSpPr>
            <a:spLocks noGrp="1"/>
          </p:cNvSpPr>
          <p:nvPr>
            <p:ph type="sldNum" sz="quarter" idx="5"/>
          </p:nvPr>
        </p:nvSpPr>
        <p:spPr/>
        <p:txBody>
          <a:bodyPr/>
          <a:lstStyle/>
          <a:p>
            <a:fld id="{481BC30D-90A3-4E4C-B19D-19AF502431E3}" type="slidenum">
              <a:rPr lang="zh-CN" altLang="en-US" smtClean="0"/>
              <a:t>3</a:t>
            </a:fld>
            <a:endParaRPr lang="zh-CN" altLang="en-US"/>
          </a:p>
        </p:txBody>
      </p:sp>
    </p:spTree>
    <p:extLst>
      <p:ext uri="{BB962C8B-B14F-4D97-AF65-F5344CB8AC3E}">
        <p14:creationId xmlns:p14="http://schemas.microsoft.com/office/powerpoint/2010/main" val="275725579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81BC30D-90A3-4E4C-B19D-19AF502431E3}" type="slidenum">
              <a:rPr lang="zh-CN" altLang="en-US" smtClean="0"/>
              <a:t>11</a:t>
            </a:fld>
            <a:endParaRPr lang="zh-CN" altLang="en-US"/>
          </a:p>
        </p:txBody>
      </p:sp>
    </p:spTree>
    <p:extLst>
      <p:ext uri="{BB962C8B-B14F-4D97-AF65-F5344CB8AC3E}">
        <p14:creationId xmlns:p14="http://schemas.microsoft.com/office/powerpoint/2010/main" val="314902464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38">
          <a:extLst>
            <a:ext uri="{FF2B5EF4-FFF2-40B4-BE49-F238E27FC236}">
              <a16:creationId xmlns:a16="http://schemas.microsoft.com/office/drawing/2014/main" id="{5F815653-12DB-8B1E-1F4E-5CDBD565A6C5}"/>
            </a:ext>
          </a:extLst>
        </p:cNvPr>
        <p:cNvGrpSpPr/>
        <p:nvPr/>
      </p:nvGrpSpPr>
      <p:grpSpPr>
        <a:xfrm>
          <a:off x="0" y="0"/>
          <a:ext cx="0" cy="0"/>
          <a:chOff x="0" y="0"/>
          <a:chExt cx="0" cy="0"/>
        </a:xfrm>
      </p:grpSpPr>
      <p:sp>
        <p:nvSpPr>
          <p:cNvPr id="1539" name="Google Shape;1539;g3d06e6c6d78_2_117:notes">
            <a:extLst>
              <a:ext uri="{FF2B5EF4-FFF2-40B4-BE49-F238E27FC236}">
                <a16:creationId xmlns:a16="http://schemas.microsoft.com/office/drawing/2014/main" id="{EDECBB8E-739C-9519-87AB-531EEF844201}"/>
              </a:ext>
            </a:extLst>
          </p:cNvPr>
          <p:cNvSpPr txBox="1">
            <a:spLocks noGrp="1"/>
          </p:cNvSpPr>
          <p:nvPr>
            <p:ph type="body" idx="1"/>
          </p:nvPr>
        </p:nvSpPr>
        <p:spPr>
          <a:xfrm>
            <a:off x="685800" y="4400550"/>
            <a:ext cx="5486400" cy="360045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540" name="Google Shape;1540;g3d06e6c6d78_2_117:notes">
            <a:extLst>
              <a:ext uri="{FF2B5EF4-FFF2-40B4-BE49-F238E27FC236}">
                <a16:creationId xmlns:a16="http://schemas.microsoft.com/office/drawing/2014/main" id="{BCD4810E-485C-7ABC-EB07-6C3CB0527EFD}"/>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34401284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38">
          <a:extLst>
            <a:ext uri="{FF2B5EF4-FFF2-40B4-BE49-F238E27FC236}">
              <a16:creationId xmlns:a16="http://schemas.microsoft.com/office/drawing/2014/main" id="{5F815653-12DB-8B1E-1F4E-5CDBD565A6C5}"/>
            </a:ext>
          </a:extLst>
        </p:cNvPr>
        <p:cNvGrpSpPr/>
        <p:nvPr/>
      </p:nvGrpSpPr>
      <p:grpSpPr>
        <a:xfrm>
          <a:off x="0" y="0"/>
          <a:ext cx="0" cy="0"/>
          <a:chOff x="0" y="0"/>
          <a:chExt cx="0" cy="0"/>
        </a:xfrm>
      </p:grpSpPr>
      <p:sp>
        <p:nvSpPr>
          <p:cNvPr id="1539" name="Google Shape;1539;g3d06e6c6d78_2_117:notes">
            <a:extLst>
              <a:ext uri="{FF2B5EF4-FFF2-40B4-BE49-F238E27FC236}">
                <a16:creationId xmlns:a16="http://schemas.microsoft.com/office/drawing/2014/main" id="{EDECBB8E-739C-9519-87AB-531EEF844201}"/>
              </a:ext>
            </a:extLst>
          </p:cNvPr>
          <p:cNvSpPr txBox="1">
            <a:spLocks noGrp="1"/>
          </p:cNvSpPr>
          <p:nvPr>
            <p:ph type="body" idx="1"/>
          </p:nvPr>
        </p:nvSpPr>
        <p:spPr>
          <a:xfrm>
            <a:off x="685800" y="4400550"/>
            <a:ext cx="5486400" cy="360045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540" name="Google Shape;1540;g3d06e6c6d78_2_117:notes">
            <a:extLst>
              <a:ext uri="{FF2B5EF4-FFF2-40B4-BE49-F238E27FC236}">
                <a16:creationId xmlns:a16="http://schemas.microsoft.com/office/drawing/2014/main" id="{BCD4810E-485C-7ABC-EB07-6C3CB0527EFD}"/>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34401284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ltLang="zh-CN"/>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ltLang="zh-CN"/>
              <a:t>Click to edit Master subtitle style</a:t>
            </a:r>
            <a:endParaRPr lang="en-US" dirty="0"/>
          </a:p>
        </p:txBody>
      </p:sp>
      <p:sp>
        <p:nvSpPr>
          <p:cNvPr id="4" name="Date Placeholder 3"/>
          <p:cNvSpPr>
            <a:spLocks noGrp="1"/>
          </p:cNvSpPr>
          <p:nvPr>
            <p:ph type="dt" sz="half" idx="10"/>
          </p:nvPr>
        </p:nvSpPr>
        <p:spPr/>
        <p:txBody>
          <a:bodyPr/>
          <a:lstStyle/>
          <a:p>
            <a:fld id="{5EFC6FD0-1959-46F1-9185-A7A20AB1012E}" type="datetimeFigureOut">
              <a:rPr lang="zh-CN" altLang="en-US" smtClean="0"/>
              <a:t>2026/10/12</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5624A873-E234-437D-A4D4-076DD0BF38C6}" type="slidenum">
              <a:rPr lang="zh-CN" altLang="en-US" smtClean="0"/>
              <a:t>‹#›</a:t>
            </a:fld>
            <a:endParaRPr lang="zh-CN" altLang="en-US"/>
          </a:p>
        </p:txBody>
      </p:sp>
    </p:spTree>
    <p:extLst>
      <p:ext uri="{BB962C8B-B14F-4D97-AF65-F5344CB8AC3E}">
        <p14:creationId xmlns:p14="http://schemas.microsoft.com/office/powerpoint/2010/main" val="312196931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a:t>Click to edit Master title style</a:t>
            </a:r>
            <a:endParaRPr lang="en-US" dirty="0"/>
          </a:p>
        </p:txBody>
      </p:sp>
      <p:sp>
        <p:nvSpPr>
          <p:cNvPr id="3" name="Content Placeholder 2"/>
          <p:cNvSpPr>
            <a:spLocks noGrp="1"/>
          </p:cNvSpPr>
          <p:nvPr>
            <p:ph idx="1"/>
          </p:nvPr>
        </p:nvSpPr>
        <p:spPr/>
        <p:txBody>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4" name="Date Placeholder 3"/>
          <p:cNvSpPr>
            <a:spLocks noGrp="1"/>
          </p:cNvSpPr>
          <p:nvPr>
            <p:ph type="dt" sz="half" idx="10"/>
          </p:nvPr>
        </p:nvSpPr>
        <p:spPr/>
        <p:txBody>
          <a:bodyPr/>
          <a:lstStyle/>
          <a:p>
            <a:fld id="{5EFC6FD0-1959-46F1-9185-A7A20AB1012E}" type="datetimeFigureOut">
              <a:rPr lang="zh-CN" altLang="en-US" smtClean="0"/>
              <a:t>2026/10/12</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5624A873-E234-437D-A4D4-076DD0BF38C6}" type="slidenum">
              <a:rPr lang="zh-CN" altLang="en-US" smtClean="0"/>
              <a:t>‹#›</a:t>
            </a:fld>
            <a:endParaRPr lang="zh-CN" altLang="en-US"/>
          </a:p>
        </p:txBody>
      </p:sp>
    </p:spTree>
    <p:extLst>
      <p:ext uri="{BB962C8B-B14F-4D97-AF65-F5344CB8AC3E}">
        <p14:creationId xmlns:p14="http://schemas.microsoft.com/office/powerpoint/2010/main" val="107171274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ltLang="zh-CN"/>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ltLang="zh-CN"/>
              <a:t>Click to edit Master text styles</a:t>
            </a:r>
          </a:p>
        </p:txBody>
      </p:sp>
      <p:sp>
        <p:nvSpPr>
          <p:cNvPr id="4" name="Date Placeholder 3"/>
          <p:cNvSpPr>
            <a:spLocks noGrp="1"/>
          </p:cNvSpPr>
          <p:nvPr>
            <p:ph type="dt" sz="half" idx="10"/>
          </p:nvPr>
        </p:nvSpPr>
        <p:spPr/>
        <p:txBody>
          <a:bodyPr/>
          <a:lstStyle/>
          <a:p>
            <a:fld id="{5EFC6FD0-1959-46F1-9185-A7A20AB1012E}" type="datetimeFigureOut">
              <a:rPr lang="zh-CN" altLang="en-US" smtClean="0"/>
              <a:t>2026/10/12</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5624A873-E234-437D-A4D4-076DD0BF38C6}" type="slidenum">
              <a:rPr lang="zh-CN" altLang="en-US" smtClean="0"/>
              <a:t>‹#›</a:t>
            </a:fld>
            <a:endParaRPr lang="zh-CN" altLang="en-US"/>
          </a:p>
        </p:txBody>
      </p:sp>
    </p:spTree>
    <p:extLst>
      <p:ext uri="{BB962C8B-B14F-4D97-AF65-F5344CB8AC3E}">
        <p14:creationId xmlns:p14="http://schemas.microsoft.com/office/powerpoint/2010/main" val="408615218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5" name="Date Placeholder 4"/>
          <p:cNvSpPr>
            <a:spLocks noGrp="1"/>
          </p:cNvSpPr>
          <p:nvPr>
            <p:ph type="dt" sz="half" idx="10"/>
          </p:nvPr>
        </p:nvSpPr>
        <p:spPr/>
        <p:txBody>
          <a:bodyPr/>
          <a:lstStyle/>
          <a:p>
            <a:fld id="{5EFC6FD0-1959-46F1-9185-A7A20AB1012E}" type="datetimeFigureOut">
              <a:rPr lang="zh-CN" altLang="en-US" smtClean="0"/>
              <a:t>2026/10/12</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5624A873-E234-437D-A4D4-076DD0BF38C6}" type="slidenum">
              <a:rPr lang="zh-CN" altLang="en-US" smtClean="0"/>
              <a:t>‹#›</a:t>
            </a:fld>
            <a:endParaRPr lang="zh-CN" altLang="en-US"/>
          </a:p>
        </p:txBody>
      </p:sp>
    </p:spTree>
    <p:extLst>
      <p:ext uri="{BB962C8B-B14F-4D97-AF65-F5344CB8AC3E}">
        <p14:creationId xmlns:p14="http://schemas.microsoft.com/office/powerpoint/2010/main" val="23056556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ltLang="zh-CN"/>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ltLang="zh-CN"/>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ltLang="zh-CN"/>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7" name="Date Placeholder 6"/>
          <p:cNvSpPr>
            <a:spLocks noGrp="1"/>
          </p:cNvSpPr>
          <p:nvPr>
            <p:ph type="dt" sz="half" idx="10"/>
          </p:nvPr>
        </p:nvSpPr>
        <p:spPr/>
        <p:txBody>
          <a:bodyPr/>
          <a:lstStyle/>
          <a:p>
            <a:fld id="{5EFC6FD0-1959-46F1-9185-A7A20AB1012E}" type="datetimeFigureOut">
              <a:rPr lang="zh-CN" altLang="en-US" smtClean="0"/>
              <a:t>2026/10/12</a:t>
            </a:fld>
            <a:endParaRPr lang="zh-CN" altLang="en-US"/>
          </a:p>
        </p:txBody>
      </p:sp>
      <p:sp>
        <p:nvSpPr>
          <p:cNvPr id="8" name="Footer Placeholder 7"/>
          <p:cNvSpPr>
            <a:spLocks noGrp="1"/>
          </p:cNvSpPr>
          <p:nvPr>
            <p:ph type="ftr" sz="quarter" idx="11"/>
          </p:nvPr>
        </p:nvSpPr>
        <p:spPr/>
        <p:txBody>
          <a:bodyPr/>
          <a:lstStyle/>
          <a:p>
            <a:endParaRPr lang="zh-CN" altLang="en-US"/>
          </a:p>
        </p:txBody>
      </p:sp>
      <p:sp>
        <p:nvSpPr>
          <p:cNvPr id="9" name="Slide Number Placeholder 8"/>
          <p:cNvSpPr>
            <a:spLocks noGrp="1"/>
          </p:cNvSpPr>
          <p:nvPr>
            <p:ph type="sldNum" sz="quarter" idx="12"/>
          </p:nvPr>
        </p:nvSpPr>
        <p:spPr/>
        <p:txBody>
          <a:bodyPr/>
          <a:lstStyle/>
          <a:p>
            <a:fld id="{5624A873-E234-437D-A4D4-076DD0BF38C6}" type="slidenum">
              <a:rPr lang="zh-CN" altLang="en-US" smtClean="0"/>
              <a:t>‹#›</a:t>
            </a:fld>
            <a:endParaRPr lang="zh-CN" altLang="en-US"/>
          </a:p>
        </p:txBody>
      </p:sp>
    </p:spTree>
    <p:extLst>
      <p:ext uri="{BB962C8B-B14F-4D97-AF65-F5344CB8AC3E}">
        <p14:creationId xmlns:p14="http://schemas.microsoft.com/office/powerpoint/2010/main" val="338389715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a:t>Click to edit Master title style</a:t>
            </a:r>
            <a:endParaRPr lang="en-US" dirty="0"/>
          </a:p>
        </p:txBody>
      </p:sp>
      <p:sp>
        <p:nvSpPr>
          <p:cNvPr id="3" name="Date Placeholder 2"/>
          <p:cNvSpPr>
            <a:spLocks noGrp="1"/>
          </p:cNvSpPr>
          <p:nvPr>
            <p:ph type="dt" sz="half" idx="10"/>
          </p:nvPr>
        </p:nvSpPr>
        <p:spPr/>
        <p:txBody>
          <a:bodyPr/>
          <a:lstStyle/>
          <a:p>
            <a:fld id="{5EFC6FD0-1959-46F1-9185-A7A20AB1012E}" type="datetimeFigureOut">
              <a:rPr lang="zh-CN" altLang="en-US" smtClean="0"/>
              <a:t>2026/10/12</a:t>
            </a:fld>
            <a:endParaRPr lang="zh-CN" altLang="en-US"/>
          </a:p>
        </p:txBody>
      </p:sp>
      <p:sp>
        <p:nvSpPr>
          <p:cNvPr id="4" name="Footer Placeholder 3"/>
          <p:cNvSpPr>
            <a:spLocks noGrp="1"/>
          </p:cNvSpPr>
          <p:nvPr>
            <p:ph type="ftr" sz="quarter" idx="11"/>
          </p:nvPr>
        </p:nvSpPr>
        <p:spPr/>
        <p:txBody>
          <a:bodyPr/>
          <a:lstStyle/>
          <a:p>
            <a:endParaRPr lang="zh-CN" altLang="en-US"/>
          </a:p>
        </p:txBody>
      </p:sp>
      <p:sp>
        <p:nvSpPr>
          <p:cNvPr id="5" name="Slide Number Placeholder 4"/>
          <p:cNvSpPr>
            <a:spLocks noGrp="1"/>
          </p:cNvSpPr>
          <p:nvPr>
            <p:ph type="sldNum" sz="quarter" idx="12"/>
          </p:nvPr>
        </p:nvSpPr>
        <p:spPr/>
        <p:txBody>
          <a:bodyPr/>
          <a:lstStyle/>
          <a:p>
            <a:fld id="{5624A873-E234-437D-A4D4-076DD0BF38C6}" type="slidenum">
              <a:rPr lang="zh-CN" altLang="en-US" smtClean="0"/>
              <a:t>‹#›</a:t>
            </a:fld>
            <a:endParaRPr lang="zh-CN" altLang="en-US"/>
          </a:p>
        </p:txBody>
      </p:sp>
    </p:spTree>
    <p:extLst>
      <p:ext uri="{BB962C8B-B14F-4D97-AF65-F5344CB8AC3E}">
        <p14:creationId xmlns:p14="http://schemas.microsoft.com/office/powerpoint/2010/main" val="220759494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EFC6FD0-1959-46F1-9185-A7A20AB1012E}" type="datetimeFigureOut">
              <a:rPr lang="zh-CN" altLang="en-US" smtClean="0"/>
              <a:t>2026/10/12</a:t>
            </a:fld>
            <a:endParaRPr lang="zh-CN" altLang="en-US"/>
          </a:p>
        </p:txBody>
      </p:sp>
      <p:sp>
        <p:nvSpPr>
          <p:cNvPr id="3" name="Footer Placeholder 2"/>
          <p:cNvSpPr>
            <a:spLocks noGrp="1"/>
          </p:cNvSpPr>
          <p:nvPr>
            <p:ph type="ftr" sz="quarter" idx="11"/>
          </p:nvPr>
        </p:nvSpPr>
        <p:spPr/>
        <p:txBody>
          <a:bodyPr/>
          <a:lstStyle/>
          <a:p>
            <a:endParaRPr lang="zh-CN" altLang="en-US"/>
          </a:p>
        </p:txBody>
      </p:sp>
      <p:sp>
        <p:nvSpPr>
          <p:cNvPr id="4" name="Slide Number Placeholder 3"/>
          <p:cNvSpPr>
            <a:spLocks noGrp="1"/>
          </p:cNvSpPr>
          <p:nvPr>
            <p:ph type="sldNum" sz="quarter" idx="12"/>
          </p:nvPr>
        </p:nvSpPr>
        <p:spPr/>
        <p:txBody>
          <a:bodyPr/>
          <a:lstStyle/>
          <a:p>
            <a:fld id="{5624A873-E234-437D-A4D4-076DD0BF38C6}" type="slidenum">
              <a:rPr lang="zh-CN" altLang="en-US" smtClean="0"/>
              <a:t>‹#›</a:t>
            </a:fld>
            <a:endParaRPr lang="zh-CN" altLang="en-US"/>
          </a:p>
        </p:txBody>
      </p:sp>
    </p:spTree>
    <p:extLst>
      <p:ext uri="{BB962C8B-B14F-4D97-AF65-F5344CB8AC3E}">
        <p14:creationId xmlns:p14="http://schemas.microsoft.com/office/powerpoint/2010/main" val="137481249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ltLang="zh-CN"/>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ltLang="zh-CN"/>
              <a:t>Click to edit Master text styles</a:t>
            </a:r>
          </a:p>
        </p:txBody>
      </p:sp>
      <p:sp>
        <p:nvSpPr>
          <p:cNvPr id="5" name="Date Placeholder 4"/>
          <p:cNvSpPr>
            <a:spLocks noGrp="1"/>
          </p:cNvSpPr>
          <p:nvPr>
            <p:ph type="dt" sz="half" idx="10"/>
          </p:nvPr>
        </p:nvSpPr>
        <p:spPr/>
        <p:txBody>
          <a:bodyPr/>
          <a:lstStyle/>
          <a:p>
            <a:fld id="{5EFC6FD0-1959-46F1-9185-A7A20AB1012E}" type="datetimeFigureOut">
              <a:rPr lang="zh-CN" altLang="en-US" smtClean="0"/>
              <a:t>2026/10/12</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5624A873-E234-437D-A4D4-076DD0BF38C6}" type="slidenum">
              <a:rPr lang="zh-CN" altLang="en-US" smtClean="0"/>
              <a:t>‹#›</a:t>
            </a:fld>
            <a:endParaRPr lang="zh-CN" altLang="en-US"/>
          </a:p>
        </p:txBody>
      </p:sp>
    </p:spTree>
    <p:extLst>
      <p:ext uri="{BB962C8B-B14F-4D97-AF65-F5344CB8AC3E}">
        <p14:creationId xmlns:p14="http://schemas.microsoft.com/office/powerpoint/2010/main" val="390779276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ltLang="zh-CN"/>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ltLang="zh-CN" dirty="0"/>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ltLang="zh-CN"/>
              <a:t>Click to edit Master text styles</a:t>
            </a:r>
          </a:p>
        </p:txBody>
      </p:sp>
      <p:sp>
        <p:nvSpPr>
          <p:cNvPr id="5" name="Date Placeholder 4"/>
          <p:cNvSpPr>
            <a:spLocks noGrp="1"/>
          </p:cNvSpPr>
          <p:nvPr>
            <p:ph type="dt" sz="half" idx="10"/>
          </p:nvPr>
        </p:nvSpPr>
        <p:spPr/>
        <p:txBody>
          <a:bodyPr/>
          <a:lstStyle/>
          <a:p>
            <a:fld id="{5EFC6FD0-1959-46F1-9185-A7A20AB1012E}" type="datetimeFigureOut">
              <a:rPr lang="zh-CN" altLang="en-US" smtClean="0"/>
              <a:t>2026/10/12</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5624A873-E234-437D-A4D4-076DD0BF38C6}" type="slidenum">
              <a:rPr lang="zh-CN" altLang="en-US" smtClean="0"/>
              <a:t>‹#›</a:t>
            </a:fld>
            <a:endParaRPr lang="zh-CN" altLang="en-US"/>
          </a:p>
        </p:txBody>
      </p:sp>
    </p:spTree>
    <p:extLst>
      <p:ext uri="{BB962C8B-B14F-4D97-AF65-F5344CB8AC3E}">
        <p14:creationId xmlns:p14="http://schemas.microsoft.com/office/powerpoint/2010/main" val="419852933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4" name="Date Placeholder 3"/>
          <p:cNvSpPr>
            <a:spLocks noGrp="1"/>
          </p:cNvSpPr>
          <p:nvPr>
            <p:ph type="dt" sz="half" idx="10"/>
          </p:nvPr>
        </p:nvSpPr>
        <p:spPr/>
        <p:txBody>
          <a:bodyPr/>
          <a:lstStyle/>
          <a:p>
            <a:fld id="{5EFC6FD0-1959-46F1-9185-A7A20AB1012E}" type="datetimeFigureOut">
              <a:rPr lang="zh-CN" altLang="en-US" smtClean="0"/>
              <a:t>2026/10/12</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5624A873-E234-437D-A4D4-076DD0BF38C6}" type="slidenum">
              <a:rPr lang="zh-CN" altLang="en-US" smtClean="0"/>
              <a:t>‹#›</a:t>
            </a:fld>
            <a:endParaRPr lang="zh-CN" altLang="en-US"/>
          </a:p>
        </p:txBody>
      </p:sp>
    </p:spTree>
    <p:extLst>
      <p:ext uri="{BB962C8B-B14F-4D97-AF65-F5344CB8AC3E}">
        <p14:creationId xmlns:p14="http://schemas.microsoft.com/office/powerpoint/2010/main" val="294390132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ltLang="zh-CN"/>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4" name="Date Placeholder 3"/>
          <p:cNvSpPr>
            <a:spLocks noGrp="1"/>
          </p:cNvSpPr>
          <p:nvPr>
            <p:ph type="dt" sz="half" idx="10"/>
          </p:nvPr>
        </p:nvSpPr>
        <p:spPr/>
        <p:txBody>
          <a:bodyPr/>
          <a:lstStyle/>
          <a:p>
            <a:fld id="{5EFC6FD0-1959-46F1-9185-A7A20AB1012E}" type="datetimeFigureOut">
              <a:rPr lang="zh-CN" altLang="en-US" smtClean="0"/>
              <a:t>2026/10/12</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5624A873-E234-437D-A4D4-076DD0BF38C6}" type="slidenum">
              <a:rPr lang="zh-CN" altLang="en-US" smtClean="0"/>
              <a:t>‹#›</a:t>
            </a:fld>
            <a:endParaRPr lang="zh-CN" altLang="en-US"/>
          </a:p>
        </p:txBody>
      </p:sp>
    </p:spTree>
    <p:extLst>
      <p:ext uri="{BB962C8B-B14F-4D97-AF65-F5344CB8AC3E}">
        <p14:creationId xmlns:p14="http://schemas.microsoft.com/office/powerpoint/2010/main" val="317500013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ltLang="zh-CN"/>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5EFC6FD0-1959-46F1-9185-A7A20AB1012E}" type="datetimeFigureOut">
              <a:rPr lang="zh-CN" altLang="en-US" smtClean="0"/>
              <a:t>2026/10/12</a:t>
            </a:fld>
            <a:endParaRPr lang="zh-CN" alt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zh-CN" alt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5624A873-E234-437D-A4D4-076DD0BF38C6}" type="slidenum">
              <a:rPr lang="zh-CN" altLang="en-US" smtClean="0"/>
              <a:t>‹#›</a:t>
            </a:fld>
            <a:endParaRPr lang="zh-CN" altLang="en-US"/>
          </a:p>
        </p:txBody>
      </p:sp>
    </p:spTree>
    <p:extLst>
      <p:ext uri="{BB962C8B-B14F-4D97-AF65-F5344CB8AC3E}">
        <p14:creationId xmlns:p14="http://schemas.microsoft.com/office/powerpoint/2010/main" val="319334688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2.xml"/><Relationship Id="rId5" Type="http://schemas.openxmlformats.org/officeDocument/2006/relationships/image" Target="../media/image4.gif"/><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2.xml"/><Relationship Id="rId5" Type="http://schemas.openxmlformats.org/officeDocument/2006/relationships/image" Target="../media/image5.png"/><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2.xml"/><Relationship Id="rId5" Type="http://schemas.openxmlformats.org/officeDocument/2006/relationships/image" Target="../media/image11.png"/><Relationship Id="rId4" Type="http://schemas.openxmlformats.org/officeDocument/2006/relationships/image" Target="../media/image3.png"/></Relationships>
</file>

<file path=ppt/slides/_rels/slide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3.png"/><Relationship Id="rId7" Type="http://schemas.openxmlformats.org/officeDocument/2006/relationships/image" Target="../media/image16.jpg"/><Relationship Id="rId2" Type="http://schemas.openxmlformats.org/officeDocument/2006/relationships/notesSlide" Target="../notesSlides/notesSlide5.xml"/><Relationship Id="rId1" Type="http://schemas.openxmlformats.org/officeDocument/2006/relationships/slideLayout" Target="../slideLayouts/slideLayout3.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hyperlink" Target="mailto:wkt7ne@virginia.edu" TargetMode="External"/></Relationships>
</file>

<file path=ppt/slides/_rels/slide1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6.xml"/><Relationship Id="rId1" Type="http://schemas.openxmlformats.org/officeDocument/2006/relationships/slideLayout" Target="../slideLayouts/slideLayout3.xml"/><Relationship Id="rId5" Type="http://schemas.openxmlformats.org/officeDocument/2006/relationships/image" Target="../media/image15.png"/><Relationship Id="rId4" Type="http://schemas.openxmlformats.org/officeDocument/2006/relationships/image" Target="../media/image14.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98CB7253-CAF1-6158-619A-8388C4CEA565}"/>
              </a:ext>
            </a:extLst>
          </p:cNvPr>
          <p:cNvPicPr>
            <a:picLocks noGrp="1" noRot="1" noMove="1" noResize="1" noEditPoints="1" noAdjustHandles="1" noChangeArrowheads="1" noChangeShapeType="1" noCrop="1"/>
          </p:cNvPicPr>
          <p:nvPr/>
        </p:nvPicPr>
        <p:blipFill>
          <a:blip r:embed="rId3">
            <a:alphaModFix/>
            <a:extLst>
              <a:ext uri="{28A0092B-C50C-407E-A947-70E740481C1C}">
                <a14:useLocalDpi xmlns:a14="http://schemas.microsoft.com/office/drawing/2010/main" val="0"/>
              </a:ext>
            </a:extLst>
          </a:blip>
          <a:srcRect/>
          <a:stretch>
            <a:fillRect/>
          </a:stretch>
        </p:blipFill>
        <p:spPr bwMode="auto">
          <a:xfrm>
            <a:off x="5801033" y="335056"/>
            <a:ext cx="6302478" cy="6187888"/>
          </a:xfrm>
          <a:prstGeom prst="rect">
            <a:avLst/>
          </a:prstGeom>
          <a:noFill/>
          <a:extLst>
            <a:ext uri="{909E8E84-426E-40DD-AFC4-6F175D3DCCD1}">
              <a14:hiddenFill xmlns:a14="http://schemas.microsoft.com/office/drawing/2010/main">
                <a:solidFill>
                  <a:srgbClr val="FFFFFF"/>
                </a:solidFill>
              </a14:hiddenFill>
            </a:ext>
          </a:extLst>
        </p:spPr>
      </p:pic>
      <p:sp>
        <p:nvSpPr>
          <p:cNvPr id="5" name="Title 1">
            <a:extLst>
              <a:ext uri="{FF2B5EF4-FFF2-40B4-BE49-F238E27FC236}">
                <a16:creationId xmlns:a16="http://schemas.microsoft.com/office/drawing/2014/main" id="{F5BFD4B6-347A-DD0A-EBBB-6D7343B076D6}"/>
              </a:ext>
            </a:extLst>
          </p:cNvPr>
          <p:cNvSpPr>
            <a:spLocks noGrp="1"/>
          </p:cNvSpPr>
          <p:nvPr>
            <p:ph type="ctrTitle"/>
          </p:nvPr>
        </p:nvSpPr>
        <p:spPr>
          <a:xfrm>
            <a:off x="282453" y="1197131"/>
            <a:ext cx="5947362" cy="2445774"/>
          </a:xfrm>
        </p:spPr>
        <p:txBody>
          <a:bodyPr>
            <a:normAutofit fontScale="90000"/>
          </a:bodyPr>
          <a:lstStyle/>
          <a:p>
            <a:pPr algn="l"/>
            <a:r>
              <a:rPr lang="en-US" altLang="zh-CN" sz="5600" b="1" dirty="0">
                <a:solidFill>
                  <a:srgbClr val="24323E"/>
                </a:solidFill>
                <a:latin typeface="Franklin Gothic Book" panose="020F0502020204030204" pitchFamily="34" charset="0"/>
              </a:rPr>
              <a:t>Spatial AI Lab:</a:t>
            </a:r>
            <a:br>
              <a:rPr lang="en-US" altLang="zh-CN" sz="5600" b="1" dirty="0">
                <a:solidFill>
                  <a:srgbClr val="24323E"/>
                </a:solidFill>
                <a:latin typeface="Franklin Gothic Book" panose="020F0502020204030204" pitchFamily="34" charset="0"/>
              </a:rPr>
            </a:br>
            <a:r>
              <a:rPr lang="en-US" altLang="zh-CN" sz="5600" b="1" dirty="0">
                <a:solidFill>
                  <a:srgbClr val="E57200"/>
                </a:solidFill>
                <a:latin typeface="Franklin Gothic Book" panose="020F0502020204030204" pitchFamily="34" charset="0"/>
              </a:rPr>
              <a:t>Interpretation of 3D Autoregressive Transformers</a:t>
            </a:r>
            <a:endParaRPr lang="en-US" dirty="0">
              <a:solidFill>
                <a:srgbClr val="E57200"/>
              </a:solidFill>
              <a:latin typeface="Franklin Gothic Book" panose="020F0502020204030204" pitchFamily="34" charset="0"/>
            </a:endParaRPr>
          </a:p>
        </p:txBody>
      </p:sp>
      <p:sp>
        <p:nvSpPr>
          <p:cNvPr id="6" name="Subtitle 2">
            <a:extLst>
              <a:ext uri="{FF2B5EF4-FFF2-40B4-BE49-F238E27FC236}">
                <a16:creationId xmlns:a16="http://schemas.microsoft.com/office/drawing/2014/main" id="{DD8EB22F-E18E-4D2F-8572-74EBEFC31FE0}"/>
              </a:ext>
            </a:extLst>
          </p:cNvPr>
          <p:cNvSpPr>
            <a:spLocks noGrp="1"/>
          </p:cNvSpPr>
          <p:nvPr>
            <p:ph type="subTitle" idx="1"/>
          </p:nvPr>
        </p:nvSpPr>
        <p:spPr>
          <a:xfrm>
            <a:off x="373933" y="3865642"/>
            <a:ext cx="5335621" cy="986399"/>
          </a:xfrm>
        </p:spPr>
        <p:txBody>
          <a:bodyPr>
            <a:normAutofit/>
          </a:bodyPr>
          <a:lstStyle/>
          <a:p>
            <a:pPr algn="l"/>
            <a:r>
              <a:rPr lang="en-US" dirty="0">
                <a:solidFill>
                  <a:schemeClr val="tx2"/>
                </a:solidFill>
              </a:rPr>
              <a:t>Ethan Cao </a:t>
            </a:r>
          </a:p>
          <a:p>
            <a:pPr algn="l"/>
            <a:r>
              <a:rPr lang="en-US" dirty="0">
                <a:solidFill>
                  <a:schemeClr val="tx2"/>
                </a:solidFill>
              </a:rPr>
              <a:t>10/02/2026</a:t>
            </a:r>
          </a:p>
        </p:txBody>
      </p:sp>
      <p:pic>
        <p:nvPicPr>
          <p:cNvPr id="1026" name="Picture 2" descr="Tours of the School of Data Science — School of Data Science">
            <a:extLst>
              <a:ext uri="{FF2B5EF4-FFF2-40B4-BE49-F238E27FC236}">
                <a16:creationId xmlns:a16="http://schemas.microsoft.com/office/drawing/2014/main" id="{E0216ACC-8A62-C76C-5FB7-37D078DAF246}"/>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16258" t="15751" r="12546" b="32126"/>
          <a:stretch>
            <a:fillRect/>
          </a:stretch>
        </p:blipFill>
        <p:spPr bwMode="auto">
          <a:xfrm>
            <a:off x="8198254" y="3179474"/>
            <a:ext cx="1508035" cy="735569"/>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7" descr="A black background with blue text&#10;&#10;AI-generated content may be incorrect.">
            <a:extLst>
              <a:ext uri="{FF2B5EF4-FFF2-40B4-BE49-F238E27FC236}">
                <a16:creationId xmlns:a16="http://schemas.microsoft.com/office/drawing/2014/main" id="{FB677F29-D8EE-69A0-BF89-1A350BB7AD49}"/>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82453" y="6025142"/>
            <a:ext cx="3141061" cy="634838"/>
          </a:xfrm>
          <a:prstGeom prst="rect">
            <a:avLst/>
          </a:prstGeom>
        </p:spPr>
      </p:pic>
    </p:spTree>
    <p:extLst>
      <p:ext uri="{BB962C8B-B14F-4D97-AF65-F5344CB8AC3E}">
        <p14:creationId xmlns:p14="http://schemas.microsoft.com/office/powerpoint/2010/main" val="392790426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005287-5518-F63F-448B-F57618F71FAF}"/>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3D7910FD-35AA-8978-2C1C-B17A1C6018D1}"/>
              </a:ext>
            </a:extLst>
          </p:cNvPr>
          <p:cNvPicPr>
            <a:picLocks noGrp="1" noRot="1" noMove="1" noResize="1" noEditPoints="1" noAdjustHandles="1" noChangeArrowheads="1" noChangeShapeType="1" noCrop="1"/>
          </p:cNvPicPr>
          <p:nvPr/>
        </p:nvPicPr>
        <p:blipFill rotWithShape="1">
          <a:blip r:embed="rId3">
            <a:alphaModFix amt="10000"/>
            <a:extLst>
              <a:ext uri="{28A0092B-C50C-407E-A947-70E740481C1C}">
                <a14:useLocalDpi xmlns:a14="http://schemas.microsoft.com/office/drawing/2010/main" val="0"/>
              </a:ext>
            </a:extLst>
          </a:blip>
          <a:srcRect r="12168" b="16493"/>
          <a:stretch>
            <a:fillRect/>
          </a:stretch>
        </p:blipFill>
        <p:spPr bwMode="auto">
          <a:xfrm>
            <a:off x="6656439" y="1690688"/>
            <a:ext cx="5535561" cy="5167312"/>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0CC40AF6-51CC-3D8B-C48A-89FEDA061F90}"/>
              </a:ext>
            </a:extLst>
          </p:cNvPr>
          <p:cNvSpPr>
            <a:spLocks noGrp="1"/>
          </p:cNvSpPr>
          <p:nvPr>
            <p:ph type="title"/>
          </p:nvPr>
        </p:nvSpPr>
        <p:spPr>
          <a:xfrm>
            <a:off x="838200" y="180174"/>
            <a:ext cx="10515600" cy="1325563"/>
          </a:xfrm>
        </p:spPr>
        <p:txBody>
          <a:bodyPr>
            <a:normAutofit/>
          </a:bodyPr>
          <a:lstStyle/>
          <a:p>
            <a:r>
              <a:rPr lang="en-US" altLang="zh-CN" b="1" dirty="0">
                <a:solidFill>
                  <a:srgbClr val="24323E"/>
                </a:solidFill>
              </a:rPr>
              <a:t>Research Proposal</a:t>
            </a:r>
            <a:endParaRPr lang="zh-CN" altLang="en-US" b="1" dirty="0">
              <a:solidFill>
                <a:srgbClr val="24323E"/>
              </a:solidFill>
            </a:endParaRPr>
          </a:p>
        </p:txBody>
      </p:sp>
      <p:pic>
        <p:nvPicPr>
          <p:cNvPr id="5" name="Picture 4" descr="A black background with blue text&#10;&#10;AI-generated content may be incorrect.">
            <a:extLst>
              <a:ext uri="{FF2B5EF4-FFF2-40B4-BE49-F238E27FC236}">
                <a16:creationId xmlns:a16="http://schemas.microsoft.com/office/drawing/2014/main" id="{B0CD9993-F08C-8DC3-7549-684ED103D8A0}"/>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82453" y="6025142"/>
            <a:ext cx="3141061" cy="634838"/>
          </a:xfrm>
          <a:prstGeom prst="rect">
            <a:avLst/>
          </a:prstGeom>
        </p:spPr>
      </p:pic>
      <p:cxnSp>
        <p:nvCxnSpPr>
          <p:cNvPr id="6" name="Straight Connector 5">
            <a:extLst>
              <a:ext uri="{FF2B5EF4-FFF2-40B4-BE49-F238E27FC236}">
                <a16:creationId xmlns:a16="http://schemas.microsoft.com/office/drawing/2014/main" id="{C71D803C-03D9-2D43-6CBA-E54B5DF4CF43}"/>
              </a:ext>
            </a:extLst>
          </p:cNvPr>
          <p:cNvCxnSpPr/>
          <p:nvPr/>
        </p:nvCxnSpPr>
        <p:spPr>
          <a:xfrm>
            <a:off x="936346" y="1463041"/>
            <a:ext cx="804672" cy="0"/>
          </a:xfrm>
          <a:prstGeom prst="line">
            <a:avLst/>
          </a:prstGeom>
          <a:ln w="76200">
            <a:solidFill>
              <a:srgbClr val="E57200"/>
            </a:solidFill>
          </a:ln>
        </p:spPr>
        <p:style>
          <a:lnRef idx="3">
            <a:schemeClr val="dk1"/>
          </a:lnRef>
          <a:fillRef idx="0">
            <a:schemeClr val="dk1"/>
          </a:fillRef>
          <a:effectRef idx="2">
            <a:schemeClr val="dk1"/>
          </a:effectRef>
          <a:fontRef idx="minor">
            <a:schemeClr val="tx1"/>
          </a:fontRef>
        </p:style>
      </p:cxnSp>
      <p:sp>
        <p:nvSpPr>
          <p:cNvPr id="3" name="Content Placeholder 2">
            <a:extLst>
              <a:ext uri="{FF2B5EF4-FFF2-40B4-BE49-F238E27FC236}">
                <a16:creationId xmlns:a16="http://schemas.microsoft.com/office/drawing/2014/main" id="{3484B380-1FCA-6148-128E-ABB093F7731C}"/>
              </a:ext>
            </a:extLst>
          </p:cNvPr>
          <p:cNvSpPr>
            <a:spLocks noGrp="1"/>
          </p:cNvSpPr>
          <p:nvPr>
            <p:ph idx="1"/>
          </p:nvPr>
        </p:nvSpPr>
        <p:spPr>
          <a:xfrm>
            <a:off x="376754" y="2006929"/>
            <a:ext cx="11438492" cy="3570179"/>
          </a:xfrm>
          <a:solidFill>
            <a:schemeClr val="bg2"/>
          </a:solidFill>
        </p:spPr>
        <p:txBody>
          <a:bodyPr>
            <a:normAutofit/>
          </a:bodyPr>
          <a:lstStyle/>
          <a:p>
            <a:r>
              <a:rPr lang="en-US" altLang="zh-CN" sz="2000" b="1" dirty="0">
                <a:solidFill>
                  <a:srgbClr val="24323E"/>
                </a:solidFill>
              </a:rPr>
              <a:t>Context: </a:t>
            </a:r>
            <a:r>
              <a:rPr lang="en-US" altLang="zh-CN" sz="2000" dirty="0">
                <a:solidFill>
                  <a:srgbClr val="24323E"/>
                </a:solidFill>
              </a:rPr>
              <a:t>Substantial research have been made into the development of </a:t>
            </a:r>
            <a:r>
              <a:rPr lang="en-US" altLang="zh-CN" sz="2000" b="1" dirty="0">
                <a:solidFill>
                  <a:srgbClr val="24323E"/>
                </a:solidFill>
              </a:rPr>
              <a:t>autoregressive</a:t>
            </a:r>
            <a:r>
              <a:rPr lang="en-US" altLang="zh-CN" sz="2000" dirty="0">
                <a:solidFill>
                  <a:srgbClr val="24323E"/>
                </a:solidFill>
              </a:rPr>
              <a:t> 3D generative models, i.e. </a:t>
            </a:r>
            <a:r>
              <a:rPr lang="en-US" altLang="zh-CN" sz="2000" dirty="0" err="1">
                <a:solidFill>
                  <a:srgbClr val="24323E"/>
                </a:solidFill>
              </a:rPr>
              <a:t>MeshGPT</a:t>
            </a:r>
            <a:r>
              <a:rPr lang="en-US" altLang="zh-CN" sz="2000" dirty="0">
                <a:solidFill>
                  <a:srgbClr val="24323E"/>
                </a:solidFill>
              </a:rPr>
              <a:t> and followed by a series of variant and improved models.</a:t>
            </a:r>
          </a:p>
        </p:txBody>
      </p:sp>
      <p:sp>
        <p:nvSpPr>
          <p:cNvPr id="8" name="Rectangle 7">
            <a:extLst>
              <a:ext uri="{FF2B5EF4-FFF2-40B4-BE49-F238E27FC236}">
                <a16:creationId xmlns:a16="http://schemas.microsoft.com/office/drawing/2014/main" id="{8DC8C2ED-27D3-386E-CA2D-8CFDD3E7EBF5}"/>
              </a:ext>
            </a:extLst>
          </p:cNvPr>
          <p:cNvSpPr/>
          <p:nvPr/>
        </p:nvSpPr>
        <p:spPr>
          <a:xfrm>
            <a:off x="376754" y="1647992"/>
            <a:ext cx="11438492" cy="358937"/>
          </a:xfrm>
          <a:prstGeom prst="rect">
            <a:avLst/>
          </a:prstGeom>
          <a:solidFill>
            <a:srgbClr val="24323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dirty="0"/>
              <a:t>What’s inside the black box?</a:t>
            </a:r>
          </a:p>
        </p:txBody>
      </p:sp>
      <p:pic>
        <p:nvPicPr>
          <p:cNvPr id="13" name="Picture 12">
            <a:extLst>
              <a:ext uri="{FF2B5EF4-FFF2-40B4-BE49-F238E27FC236}">
                <a16:creationId xmlns:a16="http://schemas.microsoft.com/office/drawing/2014/main" id="{3EB40166-588D-5D44-C922-0CF1E7289262}"/>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376754" y="2788604"/>
            <a:ext cx="11452994" cy="2843808"/>
          </a:xfrm>
          <a:prstGeom prst="rect">
            <a:avLst/>
          </a:prstGeom>
        </p:spPr>
      </p:pic>
      <p:sp>
        <p:nvSpPr>
          <p:cNvPr id="14" name="Content Placeholder 2">
            <a:extLst>
              <a:ext uri="{FF2B5EF4-FFF2-40B4-BE49-F238E27FC236}">
                <a16:creationId xmlns:a16="http://schemas.microsoft.com/office/drawing/2014/main" id="{029A375C-9515-F802-40EC-F0D9626585A6}"/>
              </a:ext>
            </a:extLst>
          </p:cNvPr>
          <p:cNvSpPr txBox="1">
            <a:spLocks/>
          </p:cNvSpPr>
          <p:nvPr/>
        </p:nvSpPr>
        <p:spPr>
          <a:xfrm>
            <a:off x="1852983" y="5387454"/>
            <a:ext cx="8220334" cy="434612"/>
          </a:xfrm>
          <a:prstGeom prst="rect">
            <a:avLst/>
          </a:prstGeom>
          <a:solidFill>
            <a:schemeClr val="bg2"/>
          </a:solidFill>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US" altLang="zh-CN" sz="2000" b="1" dirty="0">
                <a:solidFill>
                  <a:srgbClr val="24323E"/>
                </a:solidFill>
              </a:rPr>
              <a:t>GIF: </a:t>
            </a:r>
            <a:r>
              <a:rPr lang="en-US" altLang="zh-CN" sz="2000" dirty="0">
                <a:solidFill>
                  <a:srgbClr val="24323E"/>
                </a:solidFill>
              </a:rPr>
              <a:t>Demonstration of autoregressively generating triangular meshes  </a:t>
            </a:r>
          </a:p>
        </p:txBody>
      </p:sp>
    </p:spTree>
    <p:extLst>
      <p:ext uri="{BB962C8B-B14F-4D97-AF65-F5344CB8AC3E}">
        <p14:creationId xmlns:p14="http://schemas.microsoft.com/office/powerpoint/2010/main" val="17067822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6211A3-6905-55BA-39B0-E6FEEE6A0E20}"/>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7E23F8A8-19D0-8A7D-8D34-93395BC99A47}"/>
              </a:ext>
            </a:extLst>
          </p:cNvPr>
          <p:cNvPicPr>
            <a:picLocks noGrp="1" noRot="1" noMove="1" noResize="1" noEditPoints="1" noAdjustHandles="1" noChangeArrowheads="1" noChangeShapeType="1" noCrop="1"/>
          </p:cNvPicPr>
          <p:nvPr/>
        </p:nvPicPr>
        <p:blipFill rotWithShape="1">
          <a:blip r:embed="rId3">
            <a:alphaModFix amt="10000"/>
            <a:extLst>
              <a:ext uri="{28A0092B-C50C-407E-A947-70E740481C1C}">
                <a14:useLocalDpi xmlns:a14="http://schemas.microsoft.com/office/drawing/2010/main" val="0"/>
              </a:ext>
            </a:extLst>
          </a:blip>
          <a:srcRect r="12168" b="16493"/>
          <a:stretch>
            <a:fillRect/>
          </a:stretch>
        </p:blipFill>
        <p:spPr bwMode="auto">
          <a:xfrm>
            <a:off x="6656439" y="1690688"/>
            <a:ext cx="5535561" cy="5167312"/>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B3FDA422-9A81-DCB3-B4DD-A67F70DC7B07}"/>
              </a:ext>
            </a:extLst>
          </p:cNvPr>
          <p:cNvSpPr>
            <a:spLocks noGrp="1"/>
          </p:cNvSpPr>
          <p:nvPr>
            <p:ph type="title"/>
          </p:nvPr>
        </p:nvSpPr>
        <p:spPr>
          <a:xfrm>
            <a:off x="838200" y="180174"/>
            <a:ext cx="10515600" cy="1325563"/>
          </a:xfrm>
        </p:spPr>
        <p:txBody>
          <a:bodyPr>
            <a:normAutofit/>
          </a:bodyPr>
          <a:lstStyle/>
          <a:p>
            <a:r>
              <a:rPr lang="en-US" altLang="zh-CN" b="1" dirty="0">
                <a:solidFill>
                  <a:srgbClr val="24323E"/>
                </a:solidFill>
              </a:rPr>
              <a:t>Research Proposal</a:t>
            </a:r>
            <a:endParaRPr lang="zh-CN" altLang="en-US" b="1" dirty="0">
              <a:solidFill>
                <a:srgbClr val="24323E"/>
              </a:solidFill>
            </a:endParaRPr>
          </a:p>
        </p:txBody>
      </p:sp>
      <p:pic>
        <p:nvPicPr>
          <p:cNvPr id="5" name="Picture 4" descr="A black background with blue text&#10;&#10;AI-generated content may be incorrect.">
            <a:extLst>
              <a:ext uri="{FF2B5EF4-FFF2-40B4-BE49-F238E27FC236}">
                <a16:creationId xmlns:a16="http://schemas.microsoft.com/office/drawing/2014/main" id="{30494689-926E-2FA0-8121-6EDC94EF360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82453" y="6025142"/>
            <a:ext cx="3141061" cy="634838"/>
          </a:xfrm>
          <a:prstGeom prst="rect">
            <a:avLst/>
          </a:prstGeom>
        </p:spPr>
      </p:pic>
      <p:cxnSp>
        <p:nvCxnSpPr>
          <p:cNvPr id="6" name="Straight Connector 5">
            <a:extLst>
              <a:ext uri="{FF2B5EF4-FFF2-40B4-BE49-F238E27FC236}">
                <a16:creationId xmlns:a16="http://schemas.microsoft.com/office/drawing/2014/main" id="{CEE8B929-6466-095F-683C-D44B8D984D4A}"/>
              </a:ext>
            </a:extLst>
          </p:cNvPr>
          <p:cNvCxnSpPr/>
          <p:nvPr/>
        </p:nvCxnSpPr>
        <p:spPr>
          <a:xfrm>
            <a:off x="936346" y="1463041"/>
            <a:ext cx="804672" cy="0"/>
          </a:xfrm>
          <a:prstGeom prst="line">
            <a:avLst/>
          </a:prstGeom>
          <a:ln w="76200">
            <a:solidFill>
              <a:srgbClr val="E57200"/>
            </a:solidFill>
          </a:ln>
        </p:spPr>
        <p:style>
          <a:lnRef idx="3">
            <a:schemeClr val="dk1"/>
          </a:lnRef>
          <a:fillRef idx="0">
            <a:schemeClr val="dk1"/>
          </a:fillRef>
          <a:effectRef idx="2">
            <a:schemeClr val="dk1"/>
          </a:effectRef>
          <a:fontRef idx="minor">
            <a:schemeClr val="tx1"/>
          </a:fontRef>
        </p:style>
      </p:cxnSp>
      <p:sp>
        <p:nvSpPr>
          <p:cNvPr id="3" name="Content Placeholder 2">
            <a:extLst>
              <a:ext uri="{FF2B5EF4-FFF2-40B4-BE49-F238E27FC236}">
                <a16:creationId xmlns:a16="http://schemas.microsoft.com/office/drawing/2014/main" id="{248BD12F-69E6-714E-6100-EF8D4F38E47E}"/>
              </a:ext>
            </a:extLst>
          </p:cNvPr>
          <p:cNvSpPr>
            <a:spLocks noGrp="1"/>
          </p:cNvSpPr>
          <p:nvPr>
            <p:ph idx="1"/>
          </p:nvPr>
        </p:nvSpPr>
        <p:spPr>
          <a:xfrm>
            <a:off x="376754" y="2113808"/>
            <a:ext cx="11438492" cy="2090057"/>
          </a:xfrm>
          <a:solidFill>
            <a:schemeClr val="bg2"/>
          </a:solidFill>
        </p:spPr>
        <p:txBody>
          <a:bodyPr>
            <a:normAutofit/>
          </a:bodyPr>
          <a:lstStyle/>
          <a:p>
            <a:r>
              <a:rPr lang="en-US" altLang="zh-CN" sz="1800" b="1" dirty="0">
                <a:solidFill>
                  <a:srgbClr val="24323E"/>
                </a:solidFill>
              </a:rPr>
              <a:t>The Gap: </a:t>
            </a:r>
          </a:p>
          <a:p>
            <a:pPr lvl="1"/>
            <a:r>
              <a:rPr lang="en-US" altLang="zh-CN" sz="1600" dirty="0">
                <a:solidFill>
                  <a:srgbClr val="24323E"/>
                </a:solidFill>
              </a:rPr>
              <a:t>There is no published study of what individual attention head do in mesh generation transformers. Recent models are developed with assumptions of attention mechanisms rather than systematically and quantitatively measuring it. </a:t>
            </a:r>
            <a:endParaRPr lang="en-US" altLang="zh-CN" sz="1800" b="1" dirty="0">
              <a:solidFill>
                <a:srgbClr val="24323E"/>
              </a:solidFill>
            </a:endParaRPr>
          </a:p>
          <a:p>
            <a:r>
              <a:rPr lang="en-US" altLang="zh-CN" sz="1800" b="1" dirty="0">
                <a:solidFill>
                  <a:srgbClr val="24323E"/>
                </a:solidFill>
              </a:rPr>
              <a:t>Opportunity: </a:t>
            </a:r>
          </a:p>
          <a:p>
            <a:pPr lvl="1"/>
            <a:r>
              <a:rPr lang="en-US" altLang="zh-CN" sz="1600" dirty="0">
                <a:solidFill>
                  <a:srgbClr val="24323E"/>
                </a:solidFill>
              </a:rPr>
              <a:t>In language models, measuring attention head behavior led directly to a design of faster decoding and memory caching features. </a:t>
            </a:r>
            <a:r>
              <a:rPr lang="en-US" altLang="zh-CN" sz="1600" dirty="0" err="1">
                <a:solidFill>
                  <a:srgbClr val="24323E"/>
                </a:solidFill>
              </a:rPr>
              <a:t>DuoAttention</a:t>
            </a:r>
            <a:r>
              <a:rPr lang="en-US" altLang="zh-CN" sz="1600" dirty="0">
                <a:solidFill>
                  <a:srgbClr val="24323E"/>
                </a:solidFill>
              </a:rPr>
              <a:t> (ICLR</a:t>
            </a:r>
            <a:r>
              <a:rPr lang="zh-CN" altLang="en-US" sz="1600" dirty="0">
                <a:solidFill>
                  <a:srgbClr val="24323E"/>
                </a:solidFill>
              </a:rPr>
              <a:t> </a:t>
            </a:r>
            <a:r>
              <a:rPr lang="en-US" altLang="zh-CN" sz="1600" dirty="0">
                <a:solidFill>
                  <a:srgbClr val="24323E"/>
                </a:solidFill>
              </a:rPr>
              <a:t>2025).</a:t>
            </a:r>
            <a:r>
              <a:rPr lang="zh-CN" altLang="en-US" sz="1600" dirty="0">
                <a:solidFill>
                  <a:srgbClr val="24323E"/>
                </a:solidFill>
              </a:rPr>
              <a:t> </a:t>
            </a:r>
            <a:endParaRPr lang="en-US" altLang="zh-CN" sz="1600" dirty="0">
              <a:solidFill>
                <a:srgbClr val="24323E"/>
              </a:solidFill>
            </a:endParaRPr>
          </a:p>
          <a:p>
            <a:pPr lvl="1"/>
            <a:r>
              <a:rPr lang="en-US" altLang="zh-CN" sz="1600" dirty="0">
                <a:solidFill>
                  <a:srgbClr val="24323E"/>
                </a:solidFill>
              </a:rPr>
              <a:t>The</a:t>
            </a:r>
            <a:r>
              <a:rPr lang="zh-CN" altLang="en-US" sz="1600" dirty="0">
                <a:solidFill>
                  <a:srgbClr val="24323E"/>
                </a:solidFill>
              </a:rPr>
              <a:t> </a:t>
            </a:r>
            <a:r>
              <a:rPr lang="en-US" altLang="zh-CN" sz="1600" dirty="0">
                <a:solidFill>
                  <a:srgbClr val="24323E"/>
                </a:solidFill>
              </a:rPr>
              <a:t>same</a:t>
            </a:r>
            <a:r>
              <a:rPr lang="zh-CN" altLang="en-US" sz="1600" dirty="0">
                <a:solidFill>
                  <a:srgbClr val="24323E"/>
                </a:solidFill>
              </a:rPr>
              <a:t> </a:t>
            </a:r>
            <a:r>
              <a:rPr lang="en-US" altLang="zh-CN" sz="1600" dirty="0">
                <a:solidFill>
                  <a:srgbClr val="24323E"/>
                </a:solidFill>
              </a:rPr>
              <a:t>approach</a:t>
            </a:r>
            <a:r>
              <a:rPr lang="zh-CN" altLang="en-US" sz="1600" dirty="0">
                <a:solidFill>
                  <a:srgbClr val="24323E"/>
                </a:solidFill>
              </a:rPr>
              <a:t> </a:t>
            </a:r>
            <a:r>
              <a:rPr lang="en-US" altLang="zh-CN" sz="1600" dirty="0">
                <a:solidFill>
                  <a:srgbClr val="24323E"/>
                </a:solidFill>
              </a:rPr>
              <a:t>and inspiration can be applied to enhance autoregressive mesh transformers. </a:t>
            </a:r>
            <a:endParaRPr lang="en-US" altLang="zh-CN" sz="1600" b="1" dirty="0">
              <a:solidFill>
                <a:srgbClr val="24323E"/>
              </a:solidFill>
            </a:endParaRPr>
          </a:p>
        </p:txBody>
      </p:sp>
      <p:sp>
        <p:nvSpPr>
          <p:cNvPr id="8" name="Rectangle 7">
            <a:extLst>
              <a:ext uri="{FF2B5EF4-FFF2-40B4-BE49-F238E27FC236}">
                <a16:creationId xmlns:a16="http://schemas.microsoft.com/office/drawing/2014/main" id="{91D2498E-9956-EB89-DCC4-5016F2A3199D}"/>
              </a:ext>
            </a:extLst>
          </p:cNvPr>
          <p:cNvSpPr/>
          <p:nvPr/>
        </p:nvSpPr>
        <p:spPr>
          <a:xfrm>
            <a:off x="376754" y="1647993"/>
            <a:ext cx="11438492" cy="465815"/>
          </a:xfrm>
          <a:prstGeom prst="rect">
            <a:avLst/>
          </a:prstGeom>
          <a:solidFill>
            <a:srgbClr val="24323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b="1" dirty="0"/>
              <a:t>How to interpret 3D Auto</a:t>
            </a:r>
            <a:r>
              <a:rPr lang="en-US" altLang="zh-CN" sz="2400" b="1" dirty="0"/>
              <a:t>regressive Mesh Transformers?</a:t>
            </a:r>
            <a:endParaRPr lang="en-US" sz="2400" b="1" dirty="0"/>
          </a:p>
        </p:txBody>
      </p:sp>
      <p:pic>
        <p:nvPicPr>
          <p:cNvPr id="10" name="Picture 9">
            <a:extLst>
              <a:ext uri="{FF2B5EF4-FFF2-40B4-BE49-F238E27FC236}">
                <a16:creationId xmlns:a16="http://schemas.microsoft.com/office/drawing/2014/main" id="{D2102877-D05D-DB07-5DB5-F2AEB6E140CE}"/>
              </a:ext>
            </a:extLst>
          </p:cNvPr>
          <p:cNvPicPr>
            <a:picLocks noChangeAspect="1"/>
          </p:cNvPicPr>
          <p:nvPr/>
        </p:nvPicPr>
        <p:blipFill>
          <a:blip r:embed="rId5">
            <a:extLst>
              <a:ext uri="{28A0092B-C50C-407E-A947-70E740481C1C}">
                <a14:useLocalDpi xmlns:a14="http://schemas.microsoft.com/office/drawing/2010/main" val="0"/>
              </a:ext>
            </a:extLst>
          </a:blip>
          <a:srcRect t="45454"/>
          <a:stretch>
            <a:fillRect/>
          </a:stretch>
        </p:blipFill>
        <p:spPr>
          <a:xfrm>
            <a:off x="3670237" y="4203865"/>
            <a:ext cx="4392760" cy="2654135"/>
          </a:xfrm>
          <a:prstGeom prst="rect">
            <a:avLst/>
          </a:prstGeom>
        </p:spPr>
      </p:pic>
      <p:pic>
        <p:nvPicPr>
          <p:cNvPr id="13" name="Picture 12">
            <a:extLst>
              <a:ext uri="{FF2B5EF4-FFF2-40B4-BE49-F238E27FC236}">
                <a16:creationId xmlns:a16="http://schemas.microsoft.com/office/drawing/2014/main" id="{21E93CF1-818C-E5FC-BAB8-FDBF7283BC53}"/>
              </a:ext>
            </a:extLst>
          </p:cNvPr>
          <p:cNvPicPr>
            <a:picLocks noChangeAspect="1"/>
          </p:cNvPicPr>
          <p:nvPr/>
        </p:nvPicPr>
        <p:blipFill>
          <a:blip r:embed="rId5">
            <a:extLst>
              <a:ext uri="{28A0092B-C50C-407E-A947-70E740481C1C}">
                <a14:useLocalDpi xmlns:a14="http://schemas.microsoft.com/office/drawing/2010/main" val="0"/>
              </a:ext>
            </a:extLst>
          </a:blip>
          <a:srcRect l="27677" t="-996" r="15904" b="56570"/>
          <a:stretch>
            <a:fillRect/>
          </a:stretch>
        </p:blipFill>
        <p:spPr>
          <a:xfrm>
            <a:off x="8263307" y="4162300"/>
            <a:ext cx="3090493" cy="2695699"/>
          </a:xfrm>
          <a:prstGeom prst="rect">
            <a:avLst/>
          </a:prstGeom>
        </p:spPr>
      </p:pic>
      <p:cxnSp>
        <p:nvCxnSpPr>
          <p:cNvPr id="15" name="Straight Arrow Connector 14">
            <a:extLst>
              <a:ext uri="{FF2B5EF4-FFF2-40B4-BE49-F238E27FC236}">
                <a16:creationId xmlns:a16="http://schemas.microsoft.com/office/drawing/2014/main" id="{241F4AAF-7D13-626B-84F6-775B9A89E944}"/>
              </a:ext>
            </a:extLst>
          </p:cNvPr>
          <p:cNvCxnSpPr>
            <a:cxnSpLocks/>
          </p:cNvCxnSpPr>
          <p:nvPr/>
        </p:nvCxnSpPr>
        <p:spPr>
          <a:xfrm>
            <a:off x="7944592" y="4476997"/>
            <a:ext cx="2280063" cy="653143"/>
          </a:xfrm>
          <a:prstGeom prst="straightConnector1">
            <a:avLst/>
          </a:prstGeom>
          <a:ln>
            <a:solidFill>
              <a:srgbClr val="24323E"/>
            </a:solidFill>
            <a:headEnd type="triangle"/>
            <a:tailEnd type="triangle"/>
          </a:ln>
        </p:spPr>
        <p:style>
          <a:lnRef idx="2">
            <a:schemeClr val="accent1"/>
          </a:lnRef>
          <a:fillRef idx="0">
            <a:schemeClr val="accent1"/>
          </a:fillRef>
          <a:effectRef idx="1">
            <a:schemeClr val="accent1"/>
          </a:effectRef>
          <a:fontRef idx="minor">
            <a:schemeClr val="tx1"/>
          </a:fontRef>
        </p:style>
      </p:cxnSp>
      <p:sp>
        <p:nvSpPr>
          <p:cNvPr id="17" name="TextBox 16">
            <a:extLst>
              <a:ext uri="{FF2B5EF4-FFF2-40B4-BE49-F238E27FC236}">
                <a16:creationId xmlns:a16="http://schemas.microsoft.com/office/drawing/2014/main" id="{180E0E02-114B-EF48-2DFA-96A9E8E32C96}"/>
              </a:ext>
            </a:extLst>
          </p:cNvPr>
          <p:cNvSpPr txBox="1"/>
          <p:nvPr/>
        </p:nvSpPr>
        <p:spPr>
          <a:xfrm>
            <a:off x="688442" y="4626985"/>
            <a:ext cx="2977389" cy="1200329"/>
          </a:xfrm>
          <a:prstGeom prst="rect">
            <a:avLst/>
          </a:prstGeom>
          <a:noFill/>
        </p:spPr>
        <p:txBody>
          <a:bodyPr wrap="square" rtlCol="0">
            <a:spAutoFit/>
          </a:bodyPr>
          <a:lstStyle/>
          <a:p>
            <a:r>
              <a:rPr lang="en-US" dirty="0"/>
              <a:t>We examine the question of what query triangles </a:t>
            </a:r>
            <a:r>
              <a:rPr lang="en-US" b="1" dirty="0"/>
              <a:t>attend to </a:t>
            </a:r>
            <a:r>
              <a:rPr lang="en-US" dirty="0"/>
              <a:t>in the early token sequence, and </a:t>
            </a:r>
            <a:r>
              <a:rPr lang="en-US" b="1" dirty="0"/>
              <a:t>why?</a:t>
            </a:r>
            <a:endParaRPr lang="en-US" dirty="0"/>
          </a:p>
        </p:txBody>
      </p:sp>
      <p:cxnSp>
        <p:nvCxnSpPr>
          <p:cNvPr id="20" name="Straight Arrow Connector 19">
            <a:extLst>
              <a:ext uri="{FF2B5EF4-FFF2-40B4-BE49-F238E27FC236}">
                <a16:creationId xmlns:a16="http://schemas.microsoft.com/office/drawing/2014/main" id="{C29FA15B-BE67-8DA1-DFCD-7C760AD21546}"/>
              </a:ext>
            </a:extLst>
          </p:cNvPr>
          <p:cNvCxnSpPr>
            <a:cxnSpLocks/>
          </p:cNvCxnSpPr>
          <p:nvPr/>
        </p:nvCxnSpPr>
        <p:spPr>
          <a:xfrm>
            <a:off x="3665831" y="5227149"/>
            <a:ext cx="3186231" cy="728326"/>
          </a:xfrm>
          <a:prstGeom prst="straightConnector1">
            <a:avLst/>
          </a:prstGeom>
          <a:ln w="6350">
            <a:solidFill>
              <a:srgbClr val="24323E"/>
            </a:solidFill>
            <a:tailEnd type="triangle"/>
          </a:ln>
        </p:spPr>
        <p:style>
          <a:lnRef idx="2">
            <a:schemeClr val="accent1"/>
          </a:lnRef>
          <a:fillRef idx="0">
            <a:schemeClr val="accent1"/>
          </a:fillRef>
          <a:effectRef idx="1">
            <a:schemeClr val="accent1"/>
          </a:effectRef>
          <a:fontRef idx="minor">
            <a:schemeClr val="tx1"/>
          </a:fontRef>
        </p:style>
      </p:cxnSp>
      <p:cxnSp>
        <p:nvCxnSpPr>
          <p:cNvPr id="22" name="Straight Arrow Connector 21">
            <a:extLst>
              <a:ext uri="{FF2B5EF4-FFF2-40B4-BE49-F238E27FC236}">
                <a16:creationId xmlns:a16="http://schemas.microsoft.com/office/drawing/2014/main" id="{B61A0E22-D5F1-8EED-945B-9C1D69A0EDA1}"/>
              </a:ext>
            </a:extLst>
          </p:cNvPr>
          <p:cNvCxnSpPr>
            <a:cxnSpLocks/>
            <a:stCxn id="17" idx="3"/>
          </p:cNvCxnSpPr>
          <p:nvPr/>
        </p:nvCxnSpPr>
        <p:spPr>
          <a:xfrm>
            <a:off x="3665831" y="5227150"/>
            <a:ext cx="4047192" cy="282999"/>
          </a:xfrm>
          <a:prstGeom prst="straightConnector1">
            <a:avLst/>
          </a:prstGeom>
          <a:ln w="6350">
            <a:solidFill>
              <a:srgbClr val="24323E"/>
            </a:solidFill>
            <a:tailEnd type="triangle"/>
          </a:ln>
        </p:spPr>
        <p:style>
          <a:lnRef idx="2">
            <a:schemeClr val="accent1"/>
          </a:lnRef>
          <a:fillRef idx="0">
            <a:schemeClr val="accent1"/>
          </a:fillRef>
          <a:effectRef idx="1">
            <a:schemeClr val="accent1"/>
          </a:effectRef>
          <a:fontRef idx="minor">
            <a:schemeClr val="tx1"/>
          </a:fontRef>
        </p:style>
      </p:cxnSp>
      <p:cxnSp>
        <p:nvCxnSpPr>
          <p:cNvPr id="25" name="Straight Arrow Connector 24">
            <a:extLst>
              <a:ext uri="{FF2B5EF4-FFF2-40B4-BE49-F238E27FC236}">
                <a16:creationId xmlns:a16="http://schemas.microsoft.com/office/drawing/2014/main" id="{D5ACEA45-EB33-4D6F-7F45-5E8E32DF3075}"/>
              </a:ext>
            </a:extLst>
          </p:cNvPr>
          <p:cNvCxnSpPr>
            <a:cxnSpLocks/>
            <a:stCxn id="17" idx="3"/>
          </p:cNvCxnSpPr>
          <p:nvPr/>
        </p:nvCxnSpPr>
        <p:spPr>
          <a:xfrm>
            <a:off x="3665831" y="5227150"/>
            <a:ext cx="1179301" cy="897807"/>
          </a:xfrm>
          <a:prstGeom prst="straightConnector1">
            <a:avLst/>
          </a:prstGeom>
          <a:ln w="6350">
            <a:solidFill>
              <a:srgbClr val="24323E"/>
            </a:solidFill>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5707320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B6002B-2DE4-B48D-53E1-634884E628BB}"/>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50F81998-A588-B316-2919-4FD41285FA50}"/>
              </a:ext>
            </a:extLst>
          </p:cNvPr>
          <p:cNvPicPr>
            <a:picLocks noGrp="1" noRot="1" noMove="1" noResize="1" noEditPoints="1" noAdjustHandles="1" noChangeArrowheads="1" noChangeShapeType="1" noCrop="1"/>
          </p:cNvPicPr>
          <p:nvPr/>
        </p:nvPicPr>
        <p:blipFill rotWithShape="1">
          <a:blip r:embed="rId2">
            <a:alphaModFix amt="10000"/>
            <a:extLst>
              <a:ext uri="{28A0092B-C50C-407E-A947-70E740481C1C}">
                <a14:useLocalDpi xmlns:a14="http://schemas.microsoft.com/office/drawing/2010/main" val="0"/>
              </a:ext>
            </a:extLst>
          </a:blip>
          <a:srcRect r="12168" b="16493"/>
          <a:stretch>
            <a:fillRect/>
          </a:stretch>
        </p:blipFill>
        <p:spPr bwMode="auto">
          <a:xfrm>
            <a:off x="6656439" y="1690688"/>
            <a:ext cx="5535561" cy="5167312"/>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E966851E-AEF4-B3A8-999F-8BE53A986B18}"/>
              </a:ext>
            </a:extLst>
          </p:cNvPr>
          <p:cNvSpPr>
            <a:spLocks noGrp="1"/>
          </p:cNvSpPr>
          <p:nvPr>
            <p:ph type="title"/>
          </p:nvPr>
        </p:nvSpPr>
        <p:spPr>
          <a:xfrm>
            <a:off x="838200" y="180174"/>
            <a:ext cx="10515600" cy="1325563"/>
          </a:xfrm>
        </p:spPr>
        <p:txBody>
          <a:bodyPr>
            <a:normAutofit/>
          </a:bodyPr>
          <a:lstStyle/>
          <a:p>
            <a:r>
              <a:rPr lang="en-US" altLang="zh-CN" b="1" dirty="0">
                <a:solidFill>
                  <a:srgbClr val="24323E"/>
                </a:solidFill>
              </a:rPr>
              <a:t>Experimental Method</a:t>
            </a:r>
            <a:endParaRPr lang="zh-CN" altLang="en-US" b="1" dirty="0">
              <a:solidFill>
                <a:srgbClr val="24323E"/>
              </a:solidFill>
            </a:endParaRPr>
          </a:p>
        </p:txBody>
      </p:sp>
      <p:pic>
        <p:nvPicPr>
          <p:cNvPr id="5" name="Picture 4" descr="A black background with blue text&#10;&#10;AI-generated content may be incorrect.">
            <a:extLst>
              <a:ext uri="{FF2B5EF4-FFF2-40B4-BE49-F238E27FC236}">
                <a16:creationId xmlns:a16="http://schemas.microsoft.com/office/drawing/2014/main" id="{2946A324-A340-7570-7113-3F094F42505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82453" y="6025142"/>
            <a:ext cx="3141061" cy="634838"/>
          </a:xfrm>
          <a:prstGeom prst="rect">
            <a:avLst/>
          </a:prstGeom>
        </p:spPr>
      </p:pic>
      <p:cxnSp>
        <p:nvCxnSpPr>
          <p:cNvPr id="6" name="Straight Connector 5">
            <a:extLst>
              <a:ext uri="{FF2B5EF4-FFF2-40B4-BE49-F238E27FC236}">
                <a16:creationId xmlns:a16="http://schemas.microsoft.com/office/drawing/2014/main" id="{B9ABBDDF-9C3E-35C7-78FB-2B51B4D6A0DE}"/>
              </a:ext>
            </a:extLst>
          </p:cNvPr>
          <p:cNvCxnSpPr/>
          <p:nvPr/>
        </p:nvCxnSpPr>
        <p:spPr>
          <a:xfrm>
            <a:off x="936346" y="1463041"/>
            <a:ext cx="804672" cy="0"/>
          </a:xfrm>
          <a:prstGeom prst="line">
            <a:avLst/>
          </a:prstGeom>
          <a:ln w="76200">
            <a:solidFill>
              <a:srgbClr val="E57200"/>
            </a:solidFill>
          </a:ln>
        </p:spPr>
        <p:style>
          <a:lnRef idx="3">
            <a:schemeClr val="dk1"/>
          </a:lnRef>
          <a:fillRef idx="0">
            <a:schemeClr val="dk1"/>
          </a:fillRef>
          <a:effectRef idx="2">
            <a:schemeClr val="dk1"/>
          </a:effectRef>
          <a:fontRef idx="minor">
            <a:schemeClr val="tx1"/>
          </a:fontRef>
        </p:style>
      </p:cxnSp>
      <p:sp>
        <p:nvSpPr>
          <p:cNvPr id="3" name="Content Placeholder 2">
            <a:extLst>
              <a:ext uri="{FF2B5EF4-FFF2-40B4-BE49-F238E27FC236}">
                <a16:creationId xmlns:a16="http://schemas.microsoft.com/office/drawing/2014/main" id="{8B046686-16F6-E6BB-4F26-98192343934C}"/>
              </a:ext>
            </a:extLst>
          </p:cNvPr>
          <p:cNvSpPr>
            <a:spLocks noGrp="1"/>
          </p:cNvSpPr>
          <p:nvPr>
            <p:ph idx="1"/>
          </p:nvPr>
        </p:nvSpPr>
        <p:spPr>
          <a:xfrm>
            <a:off x="156411" y="2022656"/>
            <a:ext cx="5535561" cy="4546586"/>
          </a:xfrm>
          <a:solidFill>
            <a:schemeClr val="bg2"/>
          </a:solidFill>
        </p:spPr>
        <p:txBody>
          <a:bodyPr>
            <a:normAutofit/>
          </a:bodyPr>
          <a:lstStyle/>
          <a:p>
            <a:pPr marL="0" indent="0">
              <a:buNone/>
            </a:pPr>
            <a:endParaRPr lang="en-US" altLang="zh-CN" sz="2000" b="1" dirty="0">
              <a:solidFill>
                <a:srgbClr val="24323E"/>
              </a:solidFill>
            </a:endParaRPr>
          </a:p>
          <a:p>
            <a:r>
              <a:rPr lang="en-US" altLang="zh-CN" sz="2000" b="1" dirty="0">
                <a:solidFill>
                  <a:srgbClr val="24323E"/>
                </a:solidFill>
              </a:rPr>
              <a:t>Choose 500 </a:t>
            </a:r>
            <a:r>
              <a:rPr lang="en-US" altLang="zh-CN" sz="2000" b="1" dirty="0" err="1">
                <a:solidFill>
                  <a:srgbClr val="24323E"/>
                </a:solidFill>
              </a:rPr>
              <a:t>ShapeNet</a:t>
            </a:r>
            <a:r>
              <a:rPr lang="en-US" altLang="zh-CN" sz="2000" b="1" dirty="0">
                <a:solidFill>
                  <a:srgbClr val="24323E"/>
                </a:solidFill>
              </a:rPr>
              <a:t> shapes from 5 shape categories: </a:t>
            </a:r>
            <a:r>
              <a:rPr lang="en-US" altLang="zh-CN" sz="2000" dirty="0">
                <a:solidFill>
                  <a:srgbClr val="24323E"/>
                </a:solidFill>
              </a:rPr>
              <a:t>chair, table, airplane, bottle, lamp</a:t>
            </a:r>
          </a:p>
          <a:p>
            <a:r>
              <a:rPr lang="en-US" altLang="zh-CN" sz="2000" b="1" dirty="0">
                <a:solidFill>
                  <a:srgbClr val="24323E"/>
                </a:solidFill>
              </a:rPr>
              <a:t>Choose 4 model families </a:t>
            </a:r>
            <a:r>
              <a:rPr lang="en-US" altLang="zh-CN" sz="2000" dirty="0">
                <a:solidFill>
                  <a:srgbClr val="24323E"/>
                </a:solidFill>
              </a:rPr>
              <a:t>to experiment with: </a:t>
            </a:r>
          </a:p>
          <a:p>
            <a:pPr lvl="1"/>
            <a:r>
              <a:rPr lang="en-US" altLang="zh-CN" sz="2000" b="1" dirty="0" err="1">
                <a:solidFill>
                  <a:srgbClr val="24323E"/>
                </a:solidFill>
              </a:rPr>
              <a:t>MeshGPT</a:t>
            </a:r>
            <a:r>
              <a:rPr lang="en-US" altLang="zh-CN" sz="2000" b="1" dirty="0">
                <a:solidFill>
                  <a:srgbClr val="24323E"/>
                </a:solidFill>
              </a:rPr>
              <a:t>: </a:t>
            </a:r>
            <a:r>
              <a:rPr lang="en-US" altLang="zh-CN" sz="2000" dirty="0">
                <a:solidFill>
                  <a:srgbClr val="24323E"/>
                </a:solidFill>
              </a:rPr>
              <a:t>learned-codebook decoder only transformer </a:t>
            </a:r>
          </a:p>
          <a:p>
            <a:pPr lvl="1"/>
            <a:r>
              <a:rPr lang="en-US" altLang="zh-CN" sz="2000" b="1" dirty="0" err="1">
                <a:solidFill>
                  <a:srgbClr val="24323E"/>
                </a:solidFill>
              </a:rPr>
              <a:t>MeshXL</a:t>
            </a:r>
            <a:r>
              <a:rPr lang="en-US" altLang="zh-CN" sz="2000" b="1" dirty="0">
                <a:solidFill>
                  <a:srgbClr val="24323E"/>
                </a:solidFill>
              </a:rPr>
              <a:t>: </a:t>
            </a:r>
            <a:r>
              <a:rPr lang="en-US" altLang="zh-CN" sz="2000" dirty="0">
                <a:solidFill>
                  <a:srgbClr val="24323E"/>
                </a:solidFill>
              </a:rPr>
              <a:t>raw coordinate prediction decoder only transformer</a:t>
            </a:r>
          </a:p>
          <a:p>
            <a:pPr lvl="1"/>
            <a:r>
              <a:rPr lang="en-US" altLang="zh-CN" sz="2000" b="1" dirty="0" err="1">
                <a:solidFill>
                  <a:srgbClr val="24323E"/>
                </a:solidFill>
              </a:rPr>
              <a:t>DeepMesh</a:t>
            </a:r>
            <a:r>
              <a:rPr lang="en-US" altLang="zh-CN" sz="2000" b="1" dirty="0">
                <a:solidFill>
                  <a:srgbClr val="24323E"/>
                </a:solidFill>
              </a:rPr>
              <a:t>:</a:t>
            </a:r>
            <a:r>
              <a:rPr lang="en-US" altLang="zh-CN" sz="2000" dirty="0">
                <a:solidFill>
                  <a:srgbClr val="24323E"/>
                </a:solidFill>
              </a:rPr>
              <a:t> “Point-cloud to mesh” generators with hourglass transformer structure</a:t>
            </a:r>
          </a:p>
          <a:p>
            <a:pPr lvl="1"/>
            <a:r>
              <a:rPr lang="en-US" altLang="zh-CN" sz="2000" b="1" dirty="0" err="1">
                <a:solidFill>
                  <a:srgbClr val="24323E"/>
                </a:solidFill>
              </a:rPr>
              <a:t>MeshMosaic</a:t>
            </a:r>
            <a:r>
              <a:rPr lang="en-US" altLang="zh-CN" sz="2000" b="1" dirty="0">
                <a:solidFill>
                  <a:srgbClr val="24323E"/>
                </a:solidFill>
              </a:rPr>
              <a:t>: “</a:t>
            </a:r>
            <a:r>
              <a:rPr lang="en-US" altLang="zh-CN" sz="2000" dirty="0">
                <a:solidFill>
                  <a:srgbClr val="24323E"/>
                </a:solidFill>
              </a:rPr>
              <a:t>Part by part” mesh generators, generates in small patches and fuses together into one mesh object</a:t>
            </a:r>
            <a:endParaRPr lang="en-US" altLang="zh-CN" sz="2000" b="1" dirty="0">
              <a:solidFill>
                <a:srgbClr val="24323E"/>
              </a:solidFill>
            </a:endParaRPr>
          </a:p>
        </p:txBody>
      </p:sp>
      <p:sp>
        <p:nvSpPr>
          <p:cNvPr id="9" name="Rectangle 8">
            <a:extLst>
              <a:ext uri="{FF2B5EF4-FFF2-40B4-BE49-F238E27FC236}">
                <a16:creationId xmlns:a16="http://schemas.microsoft.com/office/drawing/2014/main" id="{B34D9880-A7E8-7E41-311B-7EAF6D887677}"/>
              </a:ext>
            </a:extLst>
          </p:cNvPr>
          <p:cNvSpPr/>
          <p:nvPr/>
        </p:nvSpPr>
        <p:spPr>
          <a:xfrm>
            <a:off x="156411" y="1576476"/>
            <a:ext cx="5535561" cy="634838"/>
          </a:xfrm>
          <a:prstGeom prst="rect">
            <a:avLst/>
          </a:prstGeom>
          <a:solidFill>
            <a:srgbClr val="24323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b="1" dirty="0"/>
              <a:t>Da</a:t>
            </a:r>
            <a:r>
              <a:rPr lang="en-US" altLang="zh-CN" sz="2400" b="1" dirty="0"/>
              <a:t>ta Set &amp; Model of Choice</a:t>
            </a:r>
            <a:endParaRPr lang="en-US" sz="2400" b="1" dirty="0"/>
          </a:p>
        </p:txBody>
      </p:sp>
      <p:pic>
        <p:nvPicPr>
          <p:cNvPr id="8" name="Picture 7">
            <a:extLst>
              <a:ext uri="{FF2B5EF4-FFF2-40B4-BE49-F238E27FC236}">
                <a16:creationId xmlns:a16="http://schemas.microsoft.com/office/drawing/2014/main" id="{B9AB6855-03B8-7A34-115D-20AF92103135}"/>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735900" y="2022656"/>
            <a:ext cx="6377994" cy="3826797"/>
          </a:xfrm>
          <a:prstGeom prst="rect">
            <a:avLst/>
          </a:prstGeom>
        </p:spPr>
      </p:pic>
      <p:sp>
        <p:nvSpPr>
          <p:cNvPr id="10" name="Content Placeholder 2">
            <a:extLst>
              <a:ext uri="{FF2B5EF4-FFF2-40B4-BE49-F238E27FC236}">
                <a16:creationId xmlns:a16="http://schemas.microsoft.com/office/drawing/2014/main" id="{97185F5C-99C3-A5BA-0B09-85D71DD1908E}"/>
              </a:ext>
            </a:extLst>
          </p:cNvPr>
          <p:cNvSpPr txBox="1">
            <a:spLocks/>
          </p:cNvSpPr>
          <p:nvPr/>
        </p:nvSpPr>
        <p:spPr>
          <a:xfrm>
            <a:off x="7012378" y="5849453"/>
            <a:ext cx="4171281" cy="434612"/>
          </a:xfrm>
          <a:prstGeom prst="rect">
            <a:avLst/>
          </a:prstGeom>
          <a:solidFill>
            <a:schemeClr val="bg2"/>
          </a:solidFill>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US" altLang="zh-CN" sz="2000" dirty="0">
                <a:solidFill>
                  <a:srgbClr val="24323E"/>
                </a:solidFill>
              </a:rPr>
              <a:t>5 categories of shape examined</a:t>
            </a:r>
          </a:p>
        </p:txBody>
      </p:sp>
    </p:spTree>
    <p:extLst>
      <p:ext uri="{BB962C8B-B14F-4D97-AF65-F5344CB8AC3E}">
        <p14:creationId xmlns:p14="http://schemas.microsoft.com/office/powerpoint/2010/main" val="64273780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05A2FD-F141-8BE5-2237-FCEA2B9DAA03}"/>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0ABEFF8B-77CA-F845-01F2-CFA08E9C4686}"/>
              </a:ext>
            </a:extLst>
          </p:cNvPr>
          <p:cNvPicPr>
            <a:picLocks noGrp="1" noRot="1" noMove="1" noResize="1" noEditPoints="1" noAdjustHandles="1" noChangeArrowheads="1" noChangeShapeType="1" noCrop="1"/>
          </p:cNvPicPr>
          <p:nvPr/>
        </p:nvPicPr>
        <p:blipFill rotWithShape="1">
          <a:blip r:embed="rId2">
            <a:alphaModFix amt="10000"/>
            <a:extLst>
              <a:ext uri="{28A0092B-C50C-407E-A947-70E740481C1C}">
                <a14:useLocalDpi xmlns:a14="http://schemas.microsoft.com/office/drawing/2010/main" val="0"/>
              </a:ext>
            </a:extLst>
          </a:blip>
          <a:srcRect r="12168" b="16493"/>
          <a:stretch>
            <a:fillRect/>
          </a:stretch>
        </p:blipFill>
        <p:spPr bwMode="auto">
          <a:xfrm>
            <a:off x="6656439" y="1690688"/>
            <a:ext cx="5535561" cy="5167312"/>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308DD57F-3AB3-8C03-E631-6F60ADC6409B}"/>
              </a:ext>
            </a:extLst>
          </p:cNvPr>
          <p:cNvSpPr>
            <a:spLocks noGrp="1"/>
          </p:cNvSpPr>
          <p:nvPr>
            <p:ph type="title"/>
          </p:nvPr>
        </p:nvSpPr>
        <p:spPr>
          <a:xfrm>
            <a:off x="838200" y="180174"/>
            <a:ext cx="10515600" cy="1325563"/>
          </a:xfrm>
        </p:spPr>
        <p:txBody>
          <a:bodyPr>
            <a:normAutofit/>
          </a:bodyPr>
          <a:lstStyle/>
          <a:p>
            <a:r>
              <a:rPr lang="en-US" altLang="zh-CN" b="1" dirty="0">
                <a:solidFill>
                  <a:srgbClr val="24323E"/>
                </a:solidFill>
              </a:rPr>
              <a:t>Experimental Method </a:t>
            </a:r>
            <a:endParaRPr lang="zh-CN" altLang="en-US" b="1" dirty="0">
              <a:solidFill>
                <a:srgbClr val="24323E"/>
              </a:solidFill>
            </a:endParaRPr>
          </a:p>
        </p:txBody>
      </p:sp>
      <p:pic>
        <p:nvPicPr>
          <p:cNvPr id="5" name="Picture 4" descr="A black background with blue text&#10;&#10;AI-generated content may be incorrect.">
            <a:extLst>
              <a:ext uri="{FF2B5EF4-FFF2-40B4-BE49-F238E27FC236}">
                <a16:creationId xmlns:a16="http://schemas.microsoft.com/office/drawing/2014/main" id="{4BAFDED2-A72B-C9D5-6092-0A930582599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82453" y="6025142"/>
            <a:ext cx="3141061" cy="634838"/>
          </a:xfrm>
          <a:prstGeom prst="rect">
            <a:avLst/>
          </a:prstGeom>
        </p:spPr>
      </p:pic>
      <p:cxnSp>
        <p:nvCxnSpPr>
          <p:cNvPr id="6" name="Straight Connector 5">
            <a:extLst>
              <a:ext uri="{FF2B5EF4-FFF2-40B4-BE49-F238E27FC236}">
                <a16:creationId xmlns:a16="http://schemas.microsoft.com/office/drawing/2014/main" id="{7A4B2342-6E5D-C5EE-8E61-74452EC6F488}"/>
              </a:ext>
            </a:extLst>
          </p:cNvPr>
          <p:cNvCxnSpPr/>
          <p:nvPr/>
        </p:nvCxnSpPr>
        <p:spPr>
          <a:xfrm>
            <a:off x="936346" y="1463041"/>
            <a:ext cx="804672" cy="0"/>
          </a:xfrm>
          <a:prstGeom prst="line">
            <a:avLst/>
          </a:prstGeom>
          <a:ln w="76200">
            <a:solidFill>
              <a:srgbClr val="E57200"/>
            </a:solidFill>
          </a:ln>
        </p:spPr>
        <p:style>
          <a:lnRef idx="3">
            <a:schemeClr val="dk1"/>
          </a:lnRef>
          <a:fillRef idx="0">
            <a:schemeClr val="dk1"/>
          </a:fillRef>
          <a:effectRef idx="2">
            <a:schemeClr val="dk1"/>
          </a:effectRef>
          <a:fontRef idx="minor">
            <a:schemeClr val="tx1"/>
          </a:fontRef>
        </p:style>
      </p:cxnSp>
      <p:sp>
        <p:nvSpPr>
          <p:cNvPr id="3" name="Content Placeholder 2">
            <a:extLst>
              <a:ext uri="{FF2B5EF4-FFF2-40B4-BE49-F238E27FC236}">
                <a16:creationId xmlns:a16="http://schemas.microsoft.com/office/drawing/2014/main" id="{FC8AF141-075B-7AA1-4CFE-791027294FB1}"/>
              </a:ext>
            </a:extLst>
          </p:cNvPr>
          <p:cNvSpPr>
            <a:spLocks noGrp="1"/>
          </p:cNvSpPr>
          <p:nvPr>
            <p:ph idx="1"/>
          </p:nvPr>
        </p:nvSpPr>
        <p:spPr>
          <a:xfrm>
            <a:off x="4619675" y="4069397"/>
            <a:ext cx="3267101" cy="2257262"/>
          </a:xfrm>
          <a:solidFill>
            <a:srgbClr val="FDDA24"/>
          </a:solidFill>
        </p:spPr>
        <p:txBody>
          <a:bodyPr>
            <a:normAutofit/>
          </a:bodyPr>
          <a:lstStyle/>
          <a:p>
            <a:pPr marL="0" indent="0" algn="ctr">
              <a:buNone/>
            </a:pPr>
            <a:r>
              <a:rPr lang="en-US" altLang="zh-CN" sz="2000" b="1" dirty="0">
                <a:solidFill>
                  <a:srgbClr val="24323E"/>
                </a:solidFill>
              </a:rPr>
              <a:t>Compare: </a:t>
            </a:r>
            <a:r>
              <a:rPr lang="en-US" altLang="zh-CN" sz="2000" dirty="0">
                <a:solidFill>
                  <a:srgbClr val="24323E"/>
                </a:solidFill>
              </a:rPr>
              <a:t>for each head, compare what category (cluster) of triangles do the attended triangles fall into.</a:t>
            </a:r>
          </a:p>
          <a:p>
            <a:pPr algn="ctr"/>
            <a:r>
              <a:rPr lang="en-US" altLang="zh-CN" sz="2000" dirty="0">
                <a:solidFill>
                  <a:srgbClr val="24323E"/>
                </a:solidFill>
              </a:rPr>
              <a:t>Potentially find generalizable patterns across the 4 models </a:t>
            </a:r>
            <a:endParaRPr lang="en-US" altLang="zh-CN" sz="2000" b="1" dirty="0">
              <a:solidFill>
                <a:srgbClr val="24323E"/>
              </a:solidFill>
            </a:endParaRPr>
          </a:p>
        </p:txBody>
      </p:sp>
      <p:sp>
        <p:nvSpPr>
          <p:cNvPr id="10" name="Content Placeholder 2">
            <a:extLst>
              <a:ext uri="{FF2B5EF4-FFF2-40B4-BE49-F238E27FC236}">
                <a16:creationId xmlns:a16="http://schemas.microsoft.com/office/drawing/2014/main" id="{C9FE4796-C72B-1067-1A6E-B2DEE65DCC86}"/>
              </a:ext>
            </a:extLst>
          </p:cNvPr>
          <p:cNvSpPr txBox="1">
            <a:spLocks/>
          </p:cNvSpPr>
          <p:nvPr/>
        </p:nvSpPr>
        <p:spPr>
          <a:xfrm>
            <a:off x="282453" y="1690688"/>
            <a:ext cx="3267103" cy="1407018"/>
          </a:xfrm>
          <a:prstGeom prst="rect">
            <a:avLst/>
          </a:prstGeom>
          <a:solidFill>
            <a:schemeClr val="bg2"/>
          </a:solidFill>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altLang="zh-CN" sz="2000" b="1" dirty="0">
                <a:solidFill>
                  <a:srgbClr val="24323E"/>
                </a:solidFill>
              </a:rPr>
              <a:t>Feed: </a:t>
            </a:r>
            <a:r>
              <a:rPr lang="en-US" altLang="zh-CN" sz="2000" dirty="0">
                <a:solidFill>
                  <a:srgbClr val="24323E"/>
                </a:solidFill>
              </a:rPr>
              <a:t>run inference by passing 500 </a:t>
            </a:r>
            <a:r>
              <a:rPr lang="en-US" altLang="zh-CN" sz="2000" dirty="0" err="1">
                <a:solidFill>
                  <a:srgbClr val="24323E"/>
                </a:solidFill>
              </a:rPr>
              <a:t>ShapeNet</a:t>
            </a:r>
            <a:r>
              <a:rPr lang="en-US" altLang="zh-CN" sz="2000" dirty="0">
                <a:solidFill>
                  <a:srgbClr val="24323E"/>
                </a:solidFill>
              </a:rPr>
              <a:t> meshes into each model in one forward pass</a:t>
            </a:r>
          </a:p>
        </p:txBody>
      </p:sp>
      <p:cxnSp>
        <p:nvCxnSpPr>
          <p:cNvPr id="12" name="Straight Arrow Connector 11">
            <a:extLst>
              <a:ext uri="{FF2B5EF4-FFF2-40B4-BE49-F238E27FC236}">
                <a16:creationId xmlns:a16="http://schemas.microsoft.com/office/drawing/2014/main" id="{96E6C212-CD56-4407-2C35-68C1876452D8}"/>
              </a:ext>
            </a:extLst>
          </p:cNvPr>
          <p:cNvCxnSpPr>
            <a:cxnSpLocks/>
            <a:stCxn id="10" idx="3"/>
            <a:endCxn id="15" idx="1"/>
          </p:cNvCxnSpPr>
          <p:nvPr/>
        </p:nvCxnSpPr>
        <p:spPr>
          <a:xfrm flipV="1">
            <a:off x="3549556" y="2394196"/>
            <a:ext cx="1070119" cy="1"/>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15" name="Content Placeholder 2">
            <a:extLst>
              <a:ext uri="{FF2B5EF4-FFF2-40B4-BE49-F238E27FC236}">
                <a16:creationId xmlns:a16="http://schemas.microsoft.com/office/drawing/2014/main" id="{799846C7-0484-C4E0-8920-1C665F8A499E}"/>
              </a:ext>
            </a:extLst>
          </p:cNvPr>
          <p:cNvSpPr txBox="1">
            <a:spLocks/>
          </p:cNvSpPr>
          <p:nvPr/>
        </p:nvSpPr>
        <p:spPr>
          <a:xfrm>
            <a:off x="4619675" y="1690687"/>
            <a:ext cx="3267103" cy="1407018"/>
          </a:xfrm>
          <a:prstGeom prst="rect">
            <a:avLst/>
          </a:prstGeom>
          <a:solidFill>
            <a:schemeClr val="bg2"/>
          </a:solidFill>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altLang="zh-CN" sz="2000" b="1" dirty="0">
                <a:solidFill>
                  <a:srgbClr val="24323E"/>
                </a:solidFill>
              </a:rPr>
              <a:t>Record: </a:t>
            </a:r>
            <a:r>
              <a:rPr lang="en-US" altLang="zh-CN" sz="2000" dirty="0">
                <a:solidFill>
                  <a:srgbClr val="24323E"/>
                </a:solidFill>
              </a:rPr>
              <a:t>at one query triangle, save the attention weight each head gives to every earlier triangle</a:t>
            </a:r>
          </a:p>
        </p:txBody>
      </p:sp>
      <p:sp>
        <p:nvSpPr>
          <p:cNvPr id="19" name="Content Placeholder 2">
            <a:extLst>
              <a:ext uri="{FF2B5EF4-FFF2-40B4-BE49-F238E27FC236}">
                <a16:creationId xmlns:a16="http://schemas.microsoft.com/office/drawing/2014/main" id="{8888FF2A-7D99-8473-95E5-0171645CC748}"/>
              </a:ext>
            </a:extLst>
          </p:cNvPr>
          <p:cNvSpPr txBox="1">
            <a:spLocks/>
          </p:cNvSpPr>
          <p:nvPr/>
        </p:nvSpPr>
        <p:spPr>
          <a:xfrm>
            <a:off x="8642444" y="1731414"/>
            <a:ext cx="3267103" cy="1325563"/>
          </a:xfrm>
          <a:prstGeom prst="rect">
            <a:avLst/>
          </a:prstGeom>
          <a:solidFill>
            <a:schemeClr val="bg2"/>
          </a:solidFill>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altLang="zh-CN" sz="2000" b="1" dirty="0">
                <a:solidFill>
                  <a:srgbClr val="24323E"/>
                </a:solidFill>
              </a:rPr>
              <a:t>Select: </a:t>
            </a:r>
            <a:r>
              <a:rPr lang="en-US" altLang="zh-CN" sz="2000" dirty="0">
                <a:solidFill>
                  <a:srgbClr val="24323E"/>
                </a:solidFill>
              </a:rPr>
              <a:t> select attended triangles that holds significant attention weight assigned by a head.</a:t>
            </a:r>
          </a:p>
        </p:txBody>
      </p:sp>
      <p:sp>
        <p:nvSpPr>
          <p:cNvPr id="21" name="Content Placeholder 2">
            <a:extLst>
              <a:ext uri="{FF2B5EF4-FFF2-40B4-BE49-F238E27FC236}">
                <a16:creationId xmlns:a16="http://schemas.microsoft.com/office/drawing/2014/main" id="{2E16FB85-20DF-6C27-60D9-207AF841BB57}"/>
              </a:ext>
            </a:extLst>
          </p:cNvPr>
          <p:cNvSpPr txBox="1">
            <a:spLocks/>
          </p:cNvSpPr>
          <p:nvPr/>
        </p:nvSpPr>
        <p:spPr>
          <a:xfrm>
            <a:off x="282452" y="4069396"/>
            <a:ext cx="3267103" cy="1325563"/>
          </a:xfrm>
          <a:prstGeom prst="rect">
            <a:avLst/>
          </a:prstGeom>
          <a:solidFill>
            <a:schemeClr val="bg2"/>
          </a:solidFill>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altLang="zh-CN" sz="2000" b="1" dirty="0">
                <a:solidFill>
                  <a:srgbClr val="24323E"/>
                </a:solidFill>
              </a:rPr>
              <a:t>Group: </a:t>
            </a:r>
            <a:r>
              <a:rPr lang="en-US" altLang="zh-CN" sz="2000" dirty="0">
                <a:solidFill>
                  <a:srgbClr val="24323E"/>
                </a:solidFill>
              </a:rPr>
              <a:t>group </a:t>
            </a:r>
            <a:r>
              <a:rPr lang="en-US" altLang="zh-CN" sz="2000" dirty="0" err="1">
                <a:solidFill>
                  <a:srgbClr val="24323E"/>
                </a:solidFill>
              </a:rPr>
              <a:t>ShapeNet</a:t>
            </a:r>
            <a:r>
              <a:rPr lang="en-US" altLang="zh-CN" sz="2000" dirty="0">
                <a:solidFill>
                  <a:srgbClr val="24323E"/>
                </a:solidFill>
              </a:rPr>
              <a:t> triangles into clusters by different their triangle properties</a:t>
            </a:r>
          </a:p>
        </p:txBody>
      </p:sp>
      <p:cxnSp>
        <p:nvCxnSpPr>
          <p:cNvPr id="22" name="Straight Arrow Connector 21">
            <a:extLst>
              <a:ext uri="{FF2B5EF4-FFF2-40B4-BE49-F238E27FC236}">
                <a16:creationId xmlns:a16="http://schemas.microsoft.com/office/drawing/2014/main" id="{B14C9650-54D7-5DF2-039C-CB9DD9490C87}"/>
              </a:ext>
            </a:extLst>
          </p:cNvPr>
          <p:cNvCxnSpPr>
            <a:cxnSpLocks/>
            <a:stCxn id="15" idx="3"/>
            <a:endCxn id="19" idx="1"/>
          </p:cNvCxnSpPr>
          <p:nvPr/>
        </p:nvCxnSpPr>
        <p:spPr>
          <a:xfrm>
            <a:off x="7886778" y="2394196"/>
            <a:ext cx="755666"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52" name="Connector: Elbow 51">
            <a:extLst>
              <a:ext uri="{FF2B5EF4-FFF2-40B4-BE49-F238E27FC236}">
                <a16:creationId xmlns:a16="http://schemas.microsoft.com/office/drawing/2014/main" id="{664465F3-97D1-5971-D0A6-32EC7B773CB6}"/>
              </a:ext>
            </a:extLst>
          </p:cNvPr>
          <p:cNvCxnSpPr>
            <a:cxnSpLocks/>
            <a:stCxn id="19" idx="2"/>
            <a:endCxn id="21" idx="0"/>
          </p:cNvCxnSpPr>
          <p:nvPr/>
        </p:nvCxnSpPr>
        <p:spPr>
          <a:xfrm rot="5400000">
            <a:off x="5589791" y="-616810"/>
            <a:ext cx="1012419" cy="8359992"/>
          </a:xfrm>
          <a:prstGeom prst="bentConnector3">
            <a:avLst>
              <a:gd name="adj1" fmla="val 50000"/>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56" name="Straight Arrow Connector 55">
            <a:extLst>
              <a:ext uri="{FF2B5EF4-FFF2-40B4-BE49-F238E27FC236}">
                <a16:creationId xmlns:a16="http://schemas.microsoft.com/office/drawing/2014/main" id="{E578EBE5-5476-4DE2-0EE7-E9D199408B1B}"/>
              </a:ext>
            </a:extLst>
          </p:cNvPr>
          <p:cNvCxnSpPr>
            <a:cxnSpLocks/>
            <a:stCxn id="21" idx="3"/>
            <a:endCxn id="3" idx="1"/>
          </p:cNvCxnSpPr>
          <p:nvPr/>
        </p:nvCxnSpPr>
        <p:spPr>
          <a:xfrm>
            <a:off x="3549555" y="4732178"/>
            <a:ext cx="1070120" cy="46585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64" name="Straight Arrow Connector 63">
            <a:extLst>
              <a:ext uri="{FF2B5EF4-FFF2-40B4-BE49-F238E27FC236}">
                <a16:creationId xmlns:a16="http://schemas.microsoft.com/office/drawing/2014/main" id="{B8E634F0-DA93-217E-447B-FAAB81E670B0}"/>
              </a:ext>
            </a:extLst>
          </p:cNvPr>
          <p:cNvCxnSpPr>
            <a:cxnSpLocks/>
            <a:stCxn id="3" idx="3"/>
            <a:endCxn id="67" idx="1"/>
          </p:cNvCxnSpPr>
          <p:nvPr/>
        </p:nvCxnSpPr>
        <p:spPr>
          <a:xfrm flipV="1">
            <a:off x="7886776" y="4746106"/>
            <a:ext cx="755670" cy="451922"/>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67" name="Content Placeholder 2">
            <a:extLst>
              <a:ext uri="{FF2B5EF4-FFF2-40B4-BE49-F238E27FC236}">
                <a16:creationId xmlns:a16="http://schemas.microsoft.com/office/drawing/2014/main" id="{E6C4F5CE-09C8-961E-56C5-79AB9AF99B06}"/>
              </a:ext>
            </a:extLst>
          </p:cNvPr>
          <p:cNvSpPr txBox="1">
            <a:spLocks/>
          </p:cNvSpPr>
          <p:nvPr/>
        </p:nvSpPr>
        <p:spPr>
          <a:xfrm>
            <a:off x="8642446" y="4056528"/>
            <a:ext cx="3267101" cy="1379156"/>
          </a:xfrm>
          <a:prstGeom prst="rect">
            <a:avLst/>
          </a:prstGeom>
          <a:solidFill>
            <a:srgbClr val="FDDA24"/>
          </a:solidFill>
        </p:spPr>
        <p:txBody>
          <a:bodyPr vert="horz" lIns="91440" tIns="45720" rIns="91440" bIns="45720" rtlCol="0">
            <a:normAutofit fontScale="92500"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en-US" altLang="zh-CN" sz="2000" b="1" dirty="0">
                <a:solidFill>
                  <a:srgbClr val="24323E"/>
                </a:solidFill>
              </a:rPr>
              <a:t>Model Enhancements</a:t>
            </a:r>
            <a:r>
              <a:rPr lang="zh-CN" altLang="en-US" sz="2000" b="1" dirty="0">
                <a:solidFill>
                  <a:srgbClr val="24323E"/>
                </a:solidFill>
              </a:rPr>
              <a:t>：</a:t>
            </a:r>
            <a:endParaRPr lang="en-US" altLang="zh-CN" sz="2000" b="1" dirty="0">
              <a:solidFill>
                <a:srgbClr val="24323E"/>
              </a:solidFill>
            </a:endParaRPr>
          </a:p>
          <a:p>
            <a:pPr marL="0" indent="0" algn="ctr">
              <a:buFont typeface="Arial" panose="020B0604020202020204" pitchFamily="34" charset="0"/>
              <a:buNone/>
            </a:pPr>
            <a:r>
              <a:rPr lang="en-US" altLang="zh-CN" sz="2000" dirty="0">
                <a:solidFill>
                  <a:srgbClr val="24323E"/>
                </a:solidFill>
              </a:rPr>
              <a:t>Hard code attention head with rules/policies</a:t>
            </a:r>
          </a:p>
          <a:p>
            <a:pPr marL="0" indent="0" algn="ctr">
              <a:buFont typeface="Arial" panose="020B0604020202020204" pitchFamily="34" charset="0"/>
              <a:buNone/>
            </a:pPr>
            <a:r>
              <a:rPr lang="en-US" altLang="zh-CN" sz="2000" dirty="0">
                <a:solidFill>
                  <a:srgbClr val="24323E"/>
                </a:solidFill>
              </a:rPr>
              <a:t> </a:t>
            </a:r>
            <a:r>
              <a:rPr lang="en-US" altLang="zh-CN" sz="2000" dirty="0" err="1">
                <a:solidFill>
                  <a:srgbClr val="24323E"/>
                </a:solidFill>
              </a:rPr>
              <a:t>Etc</a:t>
            </a:r>
            <a:r>
              <a:rPr lang="en-US" altLang="zh-CN" sz="2000" dirty="0">
                <a:solidFill>
                  <a:srgbClr val="24323E"/>
                </a:solidFill>
              </a:rPr>
              <a:t>…</a:t>
            </a:r>
          </a:p>
        </p:txBody>
      </p:sp>
    </p:spTree>
    <p:extLst>
      <p:ext uri="{BB962C8B-B14F-4D97-AF65-F5344CB8AC3E}">
        <p14:creationId xmlns:p14="http://schemas.microsoft.com/office/powerpoint/2010/main" val="41194743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E0E0F9-2C49-D5F3-0067-9B10B1325BD4}"/>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17D72A72-A7C2-6463-226D-BEBBA9F732A5}"/>
              </a:ext>
            </a:extLst>
          </p:cNvPr>
          <p:cNvPicPr>
            <a:picLocks noGrp="1" noRot="1" noMove="1" noResize="1" noEditPoints="1" noAdjustHandles="1" noChangeArrowheads="1" noChangeShapeType="1" noCrop="1"/>
          </p:cNvPicPr>
          <p:nvPr/>
        </p:nvPicPr>
        <p:blipFill rotWithShape="1">
          <a:blip r:embed="rId2">
            <a:alphaModFix amt="10000"/>
            <a:extLst>
              <a:ext uri="{28A0092B-C50C-407E-A947-70E740481C1C}">
                <a14:useLocalDpi xmlns:a14="http://schemas.microsoft.com/office/drawing/2010/main" val="0"/>
              </a:ext>
            </a:extLst>
          </a:blip>
          <a:srcRect r="12168" b="16493"/>
          <a:stretch>
            <a:fillRect/>
          </a:stretch>
        </p:blipFill>
        <p:spPr bwMode="auto">
          <a:xfrm>
            <a:off x="6656439" y="1690688"/>
            <a:ext cx="5535561" cy="5167312"/>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7ACD7D43-DD71-48C0-86E5-BDC968EE7828}"/>
              </a:ext>
            </a:extLst>
          </p:cNvPr>
          <p:cNvSpPr>
            <a:spLocks noGrp="1"/>
          </p:cNvSpPr>
          <p:nvPr>
            <p:ph type="title"/>
          </p:nvPr>
        </p:nvSpPr>
        <p:spPr>
          <a:xfrm>
            <a:off x="838200" y="180174"/>
            <a:ext cx="10515600" cy="1325563"/>
          </a:xfrm>
        </p:spPr>
        <p:txBody>
          <a:bodyPr>
            <a:normAutofit/>
          </a:bodyPr>
          <a:lstStyle/>
          <a:p>
            <a:r>
              <a:rPr lang="en-US" altLang="zh-CN" b="1" dirty="0">
                <a:solidFill>
                  <a:srgbClr val="24323E"/>
                </a:solidFill>
              </a:rPr>
              <a:t>Experimental Method</a:t>
            </a:r>
            <a:endParaRPr lang="zh-CN" altLang="en-US" b="1" dirty="0">
              <a:solidFill>
                <a:srgbClr val="24323E"/>
              </a:solidFill>
            </a:endParaRPr>
          </a:p>
        </p:txBody>
      </p:sp>
      <p:pic>
        <p:nvPicPr>
          <p:cNvPr id="5" name="Picture 4" descr="A black background with blue text&#10;&#10;AI-generated content may be incorrect.">
            <a:extLst>
              <a:ext uri="{FF2B5EF4-FFF2-40B4-BE49-F238E27FC236}">
                <a16:creationId xmlns:a16="http://schemas.microsoft.com/office/drawing/2014/main" id="{721CAF8A-92D5-F461-B141-1E672D9F67F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82453" y="6025142"/>
            <a:ext cx="3141061" cy="634838"/>
          </a:xfrm>
          <a:prstGeom prst="rect">
            <a:avLst/>
          </a:prstGeom>
        </p:spPr>
      </p:pic>
      <p:cxnSp>
        <p:nvCxnSpPr>
          <p:cNvPr id="6" name="Straight Connector 5">
            <a:extLst>
              <a:ext uri="{FF2B5EF4-FFF2-40B4-BE49-F238E27FC236}">
                <a16:creationId xmlns:a16="http://schemas.microsoft.com/office/drawing/2014/main" id="{6D7E92A4-820D-CF42-5161-56AD32003780}"/>
              </a:ext>
            </a:extLst>
          </p:cNvPr>
          <p:cNvCxnSpPr/>
          <p:nvPr/>
        </p:nvCxnSpPr>
        <p:spPr>
          <a:xfrm>
            <a:off x="936346" y="1463041"/>
            <a:ext cx="804672" cy="0"/>
          </a:xfrm>
          <a:prstGeom prst="line">
            <a:avLst/>
          </a:prstGeom>
          <a:ln w="76200">
            <a:solidFill>
              <a:srgbClr val="E57200"/>
            </a:solidFill>
          </a:ln>
        </p:spPr>
        <p:style>
          <a:lnRef idx="3">
            <a:schemeClr val="dk1"/>
          </a:lnRef>
          <a:fillRef idx="0">
            <a:schemeClr val="dk1"/>
          </a:fillRef>
          <a:effectRef idx="2">
            <a:schemeClr val="dk1"/>
          </a:effectRef>
          <a:fontRef idx="minor">
            <a:schemeClr val="tx1"/>
          </a:fontRef>
        </p:style>
      </p:cxnSp>
      <p:sp>
        <p:nvSpPr>
          <p:cNvPr id="3" name="Content Placeholder 2">
            <a:extLst>
              <a:ext uri="{FF2B5EF4-FFF2-40B4-BE49-F238E27FC236}">
                <a16:creationId xmlns:a16="http://schemas.microsoft.com/office/drawing/2014/main" id="{30197ED3-5883-9E1A-DB9A-EFE7AAEC0CF1}"/>
              </a:ext>
            </a:extLst>
          </p:cNvPr>
          <p:cNvSpPr>
            <a:spLocks noGrp="1"/>
          </p:cNvSpPr>
          <p:nvPr>
            <p:ph idx="1"/>
          </p:nvPr>
        </p:nvSpPr>
        <p:spPr>
          <a:xfrm>
            <a:off x="156411" y="2211314"/>
            <a:ext cx="6685192" cy="1639717"/>
          </a:xfrm>
          <a:solidFill>
            <a:schemeClr val="bg2"/>
          </a:solidFill>
        </p:spPr>
        <p:txBody>
          <a:bodyPr>
            <a:normAutofit fontScale="92500" lnSpcReduction="10000"/>
          </a:bodyPr>
          <a:lstStyle/>
          <a:p>
            <a:r>
              <a:rPr lang="en-US" altLang="zh-CN" sz="2000" b="1" dirty="0">
                <a:solidFill>
                  <a:srgbClr val="24323E"/>
                </a:solidFill>
              </a:rPr>
              <a:t>Active-Dormant head classification: </a:t>
            </a:r>
          </a:p>
          <a:p>
            <a:pPr lvl="1"/>
            <a:r>
              <a:rPr lang="en-US" altLang="zh-CN" sz="2000" b="1" dirty="0">
                <a:solidFill>
                  <a:srgbClr val="24323E"/>
                </a:solidFill>
              </a:rPr>
              <a:t>Dormant</a:t>
            </a:r>
            <a:r>
              <a:rPr lang="en-US" altLang="zh-CN" sz="2000" dirty="0">
                <a:solidFill>
                  <a:srgbClr val="24323E"/>
                </a:solidFill>
              </a:rPr>
              <a:t> heads attend largely to the “beginning of sequence” token or to the very first few tokens of the token sequence. </a:t>
            </a:r>
          </a:p>
          <a:p>
            <a:pPr lvl="1"/>
            <a:r>
              <a:rPr lang="en-US" altLang="zh-CN" sz="2000" b="1" dirty="0">
                <a:solidFill>
                  <a:srgbClr val="24323E"/>
                </a:solidFill>
              </a:rPr>
              <a:t>Active</a:t>
            </a:r>
            <a:r>
              <a:rPr lang="en-US" altLang="zh-CN" sz="2000" dirty="0">
                <a:solidFill>
                  <a:srgbClr val="24323E"/>
                </a:solidFill>
              </a:rPr>
              <a:t> heads pay attention to nearby tokens, or any tokens that are not the BOS or initial tokens. </a:t>
            </a:r>
          </a:p>
        </p:txBody>
      </p:sp>
      <p:sp>
        <p:nvSpPr>
          <p:cNvPr id="9" name="Rectangle 8">
            <a:extLst>
              <a:ext uri="{FF2B5EF4-FFF2-40B4-BE49-F238E27FC236}">
                <a16:creationId xmlns:a16="http://schemas.microsoft.com/office/drawing/2014/main" id="{69476AD0-A0E4-7489-52C5-3351326ADE7B}"/>
              </a:ext>
            </a:extLst>
          </p:cNvPr>
          <p:cNvSpPr/>
          <p:nvPr/>
        </p:nvSpPr>
        <p:spPr>
          <a:xfrm>
            <a:off x="156411" y="1576476"/>
            <a:ext cx="6685192" cy="634838"/>
          </a:xfrm>
          <a:prstGeom prst="rect">
            <a:avLst/>
          </a:prstGeom>
          <a:solidFill>
            <a:srgbClr val="24323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b="1" dirty="0"/>
              <a:t>Examining </a:t>
            </a:r>
            <a:r>
              <a:rPr lang="zh-CN" altLang="en-US" sz="2400" b="1" dirty="0"/>
              <a:t>“</a:t>
            </a:r>
            <a:r>
              <a:rPr lang="en-US" altLang="zh-CN" sz="2400" b="1" dirty="0"/>
              <a:t>active” attention heads</a:t>
            </a:r>
            <a:endParaRPr lang="en-US" sz="2400" b="1" dirty="0"/>
          </a:p>
        </p:txBody>
      </p:sp>
      <p:pic>
        <p:nvPicPr>
          <p:cNvPr id="8" name="Picture 7">
            <a:extLst>
              <a:ext uri="{FF2B5EF4-FFF2-40B4-BE49-F238E27FC236}">
                <a16:creationId xmlns:a16="http://schemas.microsoft.com/office/drawing/2014/main" id="{FC7BF913-8063-2CBB-62AB-6B1EA1706A66}"/>
              </a:ext>
            </a:extLst>
          </p:cNvPr>
          <p:cNvPicPr>
            <a:picLocks noChangeAspect="1"/>
          </p:cNvPicPr>
          <p:nvPr/>
        </p:nvPicPr>
        <p:blipFill>
          <a:blip r:embed="rId4"/>
          <a:stretch>
            <a:fillRect/>
          </a:stretch>
        </p:blipFill>
        <p:spPr>
          <a:xfrm>
            <a:off x="806116" y="3981561"/>
            <a:ext cx="8618103" cy="2826795"/>
          </a:xfrm>
          <a:prstGeom prst="rect">
            <a:avLst/>
          </a:prstGeom>
        </p:spPr>
      </p:pic>
      <p:sp>
        <p:nvSpPr>
          <p:cNvPr id="7" name="TextBox 6">
            <a:extLst>
              <a:ext uri="{FF2B5EF4-FFF2-40B4-BE49-F238E27FC236}">
                <a16:creationId xmlns:a16="http://schemas.microsoft.com/office/drawing/2014/main" id="{FAE2BF95-AD7A-8B64-85FC-D3B9E2A69A07}"/>
              </a:ext>
            </a:extLst>
          </p:cNvPr>
          <p:cNvSpPr txBox="1"/>
          <p:nvPr/>
        </p:nvSpPr>
        <p:spPr>
          <a:xfrm>
            <a:off x="8118534" y="2544743"/>
            <a:ext cx="3854035" cy="923330"/>
          </a:xfrm>
          <a:prstGeom prst="rect">
            <a:avLst/>
          </a:prstGeom>
          <a:solidFill>
            <a:srgbClr val="FDDA24"/>
          </a:solidFill>
        </p:spPr>
        <p:txBody>
          <a:bodyPr wrap="square" rtlCol="0">
            <a:spAutoFit/>
          </a:bodyPr>
          <a:lstStyle/>
          <a:p>
            <a:r>
              <a:rPr lang="en-US" b="1" dirty="0" err="1"/>
              <a:t>MeshGPT</a:t>
            </a:r>
            <a:r>
              <a:rPr lang="en-US" b="1" dirty="0"/>
              <a:t>: </a:t>
            </a:r>
            <a:r>
              <a:rPr lang="en-US" dirty="0"/>
              <a:t>most attention heads become ‘active’ at earlier layers and become ‘dormant’ at later layers.</a:t>
            </a:r>
            <a:endParaRPr lang="en-US" b="1" dirty="0"/>
          </a:p>
        </p:txBody>
      </p:sp>
      <p:cxnSp>
        <p:nvCxnSpPr>
          <p:cNvPr id="11" name="Straight Arrow Connector 10">
            <a:extLst>
              <a:ext uri="{FF2B5EF4-FFF2-40B4-BE49-F238E27FC236}">
                <a16:creationId xmlns:a16="http://schemas.microsoft.com/office/drawing/2014/main" id="{0BD25F00-4B40-94C5-F487-EFD41C481AB2}"/>
              </a:ext>
            </a:extLst>
          </p:cNvPr>
          <p:cNvCxnSpPr>
            <a:cxnSpLocks/>
            <a:stCxn id="7" idx="1"/>
          </p:cNvCxnSpPr>
          <p:nvPr/>
        </p:nvCxnSpPr>
        <p:spPr>
          <a:xfrm flipH="1">
            <a:off x="5535562" y="3006408"/>
            <a:ext cx="2582972" cy="1698678"/>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4" name="Straight Arrow Connector 13">
            <a:extLst>
              <a:ext uri="{FF2B5EF4-FFF2-40B4-BE49-F238E27FC236}">
                <a16:creationId xmlns:a16="http://schemas.microsoft.com/office/drawing/2014/main" id="{34A64374-C2E4-BDF2-3F1E-3ECC4EE0D02B}"/>
              </a:ext>
            </a:extLst>
          </p:cNvPr>
          <p:cNvCxnSpPr>
            <a:cxnSpLocks/>
            <a:stCxn id="7" idx="2"/>
          </p:cNvCxnSpPr>
          <p:nvPr/>
        </p:nvCxnSpPr>
        <p:spPr>
          <a:xfrm flipH="1">
            <a:off x="8768620" y="3468073"/>
            <a:ext cx="1276932" cy="1511700"/>
          </a:xfrm>
          <a:prstGeom prst="straightConnector1">
            <a:avLst/>
          </a:prstGeom>
          <a:ln>
            <a:solidFill>
              <a:srgbClr val="E57200"/>
            </a:solidFill>
            <a:tailEnd type="triangle"/>
          </a:ln>
        </p:spPr>
        <p:style>
          <a:lnRef idx="2">
            <a:schemeClr val="accent1"/>
          </a:lnRef>
          <a:fillRef idx="0">
            <a:schemeClr val="accent1"/>
          </a:fillRef>
          <a:effectRef idx="1">
            <a:schemeClr val="accent1"/>
          </a:effectRef>
          <a:fontRef idx="minor">
            <a:schemeClr val="tx1"/>
          </a:fontRef>
        </p:style>
      </p:cxnSp>
      <p:sp>
        <p:nvSpPr>
          <p:cNvPr id="25" name="TextBox 24">
            <a:extLst>
              <a:ext uri="{FF2B5EF4-FFF2-40B4-BE49-F238E27FC236}">
                <a16:creationId xmlns:a16="http://schemas.microsoft.com/office/drawing/2014/main" id="{EE12D296-4929-8387-B00A-1A4A6D604790}"/>
              </a:ext>
            </a:extLst>
          </p:cNvPr>
          <p:cNvSpPr txBox="1"/>
          <p:nvPr/>
        </p:nvSpPr>
        <p:spPr>
          <a:xfrm>
            <a:off x="9476157" y="4297547"/>
            <a:ext cx="2559431" cy="2031325"/>
          </a:xfrm>
          <a:prstGeom prst="rect">
            <a:avLst/>
          </a:prstGeom>
          <a:solidFill>
            <a:srgbClr val="FDDA24"/>
          </a:solidFill>
        </p:spPr>
        <p:txBody>
          <a:bodyPr wrap="square" rtlCol="0">
            <a:spAutoFit/>
          </a:bodyPr>
          <a:lstStyle/>
          <a:p>
            <a:pPr marL="285750" indent="-285750">
              <a:buFont typeface="Arial" panose="020B0604020202020204" pitchFamily="34" charset="0"/>
              <a:buChar char="•"/>
            </a:pPr>
            <a:r>
              <a:rPr lang="en-US" b="1" dirty="0"/>
              <a:t>We examine ‘active’ heads as they present more informative insights by attending to a variety of tokens / triangles</a:t>
            </a:r>
          </a:p>
        </p:txBody>
      </p:sp>
    </p:spTree>
    <p:extLst>
      <p:ext uri="{BB962C8B-B14F-4D97-AF65-F5344CB8AC3E}">
        <p14:creationId xmlns:p14="http://schemas.microsoft.com/office/powerpoint/2010/main" val="29718218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26FC56-8CB4-4F4B-1E19-2D4E63763776}"/>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1F22F503-639D-5983-DA92-224B215E5D4B}"/>
              </a:ext>
            </a:extLst>
          </p:cNvPr>
          <p:cNvPicPr>
            <a:picLocks noGrp="1" noRot="1" noMove="1" noResize="1" noEditPoints="1" noAdjustHandles="1" noChangeArrowheads="1" noChangeShapeType="1" noCrop="1"/>
          </p:cNvPicPr>
          <p:nvPr/>
        </p:nvPicPr>
        <p:blipFill rotWithShape="1">
          <a:blip r:embed="rId2">
            <a:alphaModFix amt="10000"/>
            <a:extLst>
              <a:ext uri="{28A0092B-C50C-407E-A947-70E740481C1C}">
                <a14:useLocalDpi xmlns:a14="http://schemas.microsoft.com/office/drawing/2010/main" val="0"/>
              </a:ext>
            </a:extLst>
          </a:blip>
          <a:srcRect r="12168" b="16493"/>
          <a:stretch>
            <a:fillRect/>
          </a:stretch>
        </p:blipFill>
        <p:spPr bwMode="auto">
          <a:xfrm>
            <a:off x="6656439" y="1690688"/>
            <a:ext cx="5535561" cy="5167312"/>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02CA7E5C-19F9-9485-AD4F-4447062B6035}"/>
              </a:ext>
            </a:extLst>
          </p:cNvPr>
          <p:cNvSpPr>
            <a:spLocks noGrp="1"/>
          </p:cNvSpPr>
          <p:nvPr>
            <p:ph type="title"/>
          </p:nvPr>
        </p:nvSpPr>
        <p:spPr>
          <a:xfrm>
            <a:off x="838200" y="180174"/>
            <a:ext cx="10515600" cy="1325563"/>
          </a:xfrm>
        </p:spPr>
        <p:txBody>
          <a:bodyPr>
            <a:normAutofit/>
          </a:bodyPr>
          <a:lstStyle/>
          <a:p>
            <a:r>
              <a:rPr lang="en-US" altLang="zh-CN" b="1" dirty="0">
                <a:solidFill>
                  <a:srgbClr val="24323E"/>
                </a:solidFill>
              </a:rPr>
              <a:t>Experimental Method</a:t>
            </a:r>
            <a:endParaRPr lang="zh-CN" altLang="en-US" b="1" dirty="0">
              <a:solidFill>
                <a:srgbClr val="24323E"/>
              </a:solidFill>
            </a:endParaRPr>
          </a:p>
        </p:txBody>
      </p:sp>
      <p:pic>
        <p:nvPicPr>
          <p:cNvPr id="5" name="Picture 4" descr="A black background with blue text&#10;&#10;AI-generated content may be incorrect.">
            <a:extLst>
              <a:ext uri="{FF2B5EF4-FFF2-40B4-BE49-F238E27FC236}">
                <a16:creationId xmlns:a16="http://schemas.microsoft.com/office/drawing/2014/main" id="{B54E2179-818D-CD66-6D3C-1CBCFE2986B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82453" y="6025142"/>
            <a:ext cx="3141061" cy="634838"/>
          </a:xfrm>
          <a:prstGeom prst="rect">
            <a:avLst/>
          </a:prstGeom>
        </p:spPr>
      </p:pic>
      <p:cxnSp>
        <p:nvCxnSpPr>
          <p:cNvPr id="6" name="Straight Connector 5">
            <a:extLst>
              <a:ext uri="{FF2B5EF4-FFF2-40B4-BE49-F238E27FC236}">
                <a16:creationId xmlns:a16="http://schemas.microsoft.com/office/drawing/2014/main" id="{0B94CEFB-47D4-9F7E-5AA9-BB0FBFDC0D43}"/>
              </a:ext>
            </a:extLst>
          </p:cNvPr>
          <p:cNvCxnSpPr/>
          <p:nvPr/>
        </p:nvCxnSpPr>
        <p:spPr>
          <a:xfrm>
            <a:off x="936346" y="1463041"/>
            <a:ext cx="804672" cy="0"/>
          </a:xfrm>
          <a:prstGeom prst="line">
            <a:avLst/>
          </a:prstGeom>
          <a:ln w="76200">
            <a:solidFill>
              <a:srgbClr val="E57200"/>
            </a:solidFill>
          </a:ln>
        </p:spPr>
        <p:style>
          <a:lnRef idx="3">
            <a:schemeClr val="dk1"/>
          </a:lnRef>
          <a:fillRef idx="0">
            <a:schemeClr val="dk1"/>
          </a:fillRef>
          <a:effectRef idx="2">
            <a:schemeClr val="dk1"/>
          </a:effectRef>
          <a:fontRef idx="minor">
            <a:schemeClr val="tx1"/>
          </a:fontRef>
        </p:style>
      </p:cxnSp>
      <p:sp>
        <p:nvSpPr>
          <p:cNvPr id="3" name="Content Placeholder 2">
            <a:extLst>
              <a:ext uri="{FF2B5EF4-FFF2-40B4-BE49-F238E27FC236}">
                <a16:creationId xmlns:a16="http://schemas.microsoft.com/office/drawing/2014/main" id="{030E5C19-3BA1-6A8B-AC08-7CC9B3D0EC5A}"/>
              </a:ext>
            </a:extLst>
          </p:cNvPr>
          <p:cNvSpPr>
            <a:spLocks noGrp="1"/>
          </p:cNvSpPr>
          <p:nvPr>
            <p:ph idx="1"/>
          </p:nvPr>
        </p:nvSpPr>
        <p:spPr>
          <a:xfrm>
            <a:off x="156411" y="2013294"/>
            <a:ext cx="11753136" cy="1231592"/>
          </a:xfrm>
          <a:solidFill>
            <a:schemeClr val="bg2"/>
          </a:solidFill>
        </p:spPr>
        <p:txBody>
          <a:bodyPr>
            <a:normAutofit/>
          </a:bodyPr>
          <a:lstStyle/>
          <a:p>
            <a:r>
              <a:rPr lang="en-US" altLang="zh-CN" sz="1800" b="1" dirty="0">
                <a:solidFill>
                  <a:srgbClr val="24323E"/>
                </a:solidFill>
              </a:rPr>
              <a:t>Selection of triangles for examination:</a:t>
            </a:r>
          </a:p>
          <a:p>
            <a:pPr lvl="1"/>
            <a:r>
              <a:rPr lang="en-US" altLang="zh-CN" sz="1800" dirty="0">
                <a:solidFill>
                  <a:srgbClr val="24323E"/>
                </a:solidFill>
              </a:rPr>
              <a:t>Cluster the 500 chosen shapes by their triangular mesh features: </a:t>
            </a:r>
            <a:r>
              <a:rPr lang="en-US" altLang="zh-CN" sz="1800" b="1" dirty="0">
                <a:solidFill>
                  <a:srgbClr val="24323E"/>
                </a:solidFill>
              </a:rPr>
              <a:t>Aspect Ratio, Area, X-axis, Y-axis, and Z-axis normal vector orientation </a:t>
            </a:r>
            <a:r>
              <a:rPr lang="en-US" altLang="zh-CN" sz="1800" dirty="0">
                <a:solidFill>
                  <a:srgbClr val="24323E"/>
                </a:solidFill>
              </a:rPr>
              <a:t>into 5 clusters for each property.</a:t>
            </a:r>
          </a:p>
          <a:p>
            <a:pPr lvl="1"/>
            <a:r>
              <a:rPr lang="en-US" altLang="zh-CN" sz="1800" dirty="0">
                <a:solidFill>
                  <a:srgbClr val="24323E"/>
                </a:solidFill>
              </a:rPr>
              <a:t>Compare which of clusters do the attended triangles fall into.</a:t>
            </a:r>
            <a:endParaRPr lang="en-US" altLang="zh-CN" sz="1800" b="1" dirty="0">
              <a:solidFill>
                <a:srgbClr val="24323E"/>
              </a:solidFill>
            </a:endParaRPr>
          </a:p>
          <a:p>
            <a:pPr lvl="1"/>
            <a:endParaRPr lang="en-US" altLang="zh-CN" sz="1800" dirty="0">
              <a:solidFill>
                <a:srgbClr val="24323E"/>
              </a:solidFill>
            </a:endParaRPr>
          </a:p>
        </p:txBody>
      </p:sp>
      <p:sp>
        <p:nvSpPr>
          <p:cNvPr id="9" name="Rectangle 8">
            <a:extLst>
              <a:ext uri="{FF2B5EF4-FFF2-40B4-BE49-F238E27FC236}">
                <a16:creationId xmlns:a16="http://schemas.microsoft.com/office/drawing/2014/main" id="{4042BC00-FC53-3C88-761B-79AAD3FAF96F}"/>
              </a:ext>
            </a:extLst>
          </p:cNvPr>
          <p:cNvSpPr/>
          <p:nvPr/>
        </p:nvSpPr>
        <p:spPr>
          <a:xfrm>
            <a:off x="156411" y="1576476"/>
            <a:ext cx="11753136" cy="436818"/>
          </a:xfrm>
          <a:prstGeom prst="rect">
            <a:avLst/>
          </a:prstGeom>
          <a:solidFill>
            <a:srgbClr val="24323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2000" b="1" dirty="0"/>
              <a:t>What ‘kind’ of triangles do the heads attend to?</a:t>
            </a:r>
            <a:endParaRPr lang="en-US" sz="2000" b="1" dirty="0"/>
          </a:p>
        </p:txBody>
      </p:sp>
      <p:pic>
        <p:nvPicPr>
          <p:cNvPr id="15" name="Picture 14">
            <a:extLst>
              <a:ext uri="{FF2B5EF4-FFF2-40B4-BE49-F238E27FC236}">
                <a16:creationId xmlns:a16="http://schemas.microsoft.com/office/drawing/2014/main" id="{B5F4CD79-9D02-9088-9BB8-D79286A87794}"/>
              </a:ext>
            </a:extLst>
          </p:cNvPr>
          <p:cNvPicPr>
            <a:picLocks noChangeAspect="1"/>
          </p:cNvPicPr>
          <p:nvPr/>
        </p:nvPicPr>
        <p:blipFill>
          <a:blip r:embed="rId4">
            <a:extLst>
              <a:ext uri="{28A0092B-C50C-407E-A947-70E740481C1C}">
                <a14:useLocalDpi xmlns:a14="http://schemas.microsoft.com/office/drawing/2010/main" val="0"/>
              </a:ext>
            </a:extLst>
          </a:blip>
          <a:srcRect t="9416" b="5252"/>
          <a:stretch>
            <a:fillRect/>
          </a:stretch>
        </p:blipFill>
        <p:spPr>
          <a:xfrm>
            <a:off x="156411" y="3478383"/>
            <a:ext cx="9666375" cy="3181597"/>
          </a:xfrm>
          <a:prstGeom prst="rect">
            <a:avLst/>
          </a:prstGeom>
        </p:spPr>
      </p:pic>
      <p:cxnSp>
        <p:nvCxnSpPr>
          <p:cNvPr id="17" name="Straight Arrow Connector 16">
            <a:extLst>
              <a:ext uri="{FF2B5EF4-FFF2-40B4-BE49-F238E27FC236}">
                <a16:creationId xmlns:a16="http://schemas.microsoft.com/office/drawing/2014/main" id="{2CC8AEF0-5832-7304-588C-4892FE2E3696}"/>
              </a:ext>
            </a:extLst>
          </p:cNvPr>
          <p:cNvCxnSpPr>
            <a:cxnSpLocks/>
          </p:cNvCxnSpPr>
          <p:nvPr/>
        </p:nvCxnSpPr>
        <p:spPr>
          <a:xfrm>
            <a:off x="2158348" y="3721388"/>
            <a:ext cx="561101" cy="549494"/>
          </a:xfrm>
          <a:prstGeom prst="straightConnector1">
            <a:avLst/>
          </a:prstGeom>
          <a:ln>
            <a:solidFill>
              <a:srgbClr val="24323E"/>
            </a:solidFill>
            <a:tailEnd type="triangle"/>
          </a:ln>
        </p:spPr>
        <p:style>
          <a:lnRef idx="2">
            <a:schemeClr val="accent2"/>
          </a:lnRef>
          <a:fillRef idx="0">
            <a:schemeClr val="accent2"/>
          </a:fillRef>
          <a:effectRef idx="1">
            <a:schemeClr val="accent2"/>
          </a:effectRef>
          <a:fontRef idx="minor">
            <a:schemeClr val="tx1"/>
          </a:fontRef>
        </p:style>
      </p:cxnSp>
      <p:sp>
        <p:nvSpPr>
          <p:cNvPr id="19" name="TextBox 18">
            <a:extLst>
              <a:ext uri="{FF2B5EF4-FFF2-40B4-BE49-F238E27FC236}">
                <a16:creationId xmlns:a16="http://schemas.microsoft.com/office/drawing/2014/main" id="{6580C669-A39A-5F09-D29C-4FEE0870DB81}"/>
              </a:ext>
            </a:extLst>
          </p:cNvPr>
          <p:cNvSpPr txBox="1"/>
          <p:nvPr/>
        </p:nvSpPr>
        <p:spPr>
          <a:xfrm>
            <a:off x="1152011" y="3429000"/>
            <a:ext cx="1502943" cy="338554"/>
          </a:xfrm>
          <a:prstGeom prst="rect">
            <a:avLst/>
          </a:prstGeom>
          <a:noFill/>
        </p:spPr>
        <p:txBody>
          <a:bodyPr wrap="square" rtlCol="0">
            <a:spAutoFit/>
          </a:bodyPr>
          <a:lstStyle/>
          <a:p>
            <a:pPr algn="ctr"/>
            <a:r>
              <a:rPr lang="en-US" sz="1600" b="1" dirty="0"/>
              <a:t>Query triangle</a:t>
            </a:r>
          </a:p>
        </p:txBody>
      </p:sp>
      <p:sp>
        <p:nvSpPr>
          <p:cNvPr id="21" name="Oval 20">
            <a:extLst>
              <a:ext uri="{FF2B5EF4-FFF2-40B4-BE49-F238E27FC236}">
                <a16:creationId xmlns:a16="http://schemas.microsoft.com/office/drawing/2014/main" id="{DE5050FF-9256-40FA-9EE4-B69A23740FFD}"/>
              </a:ext>
            </a:extLst>
          </p:cNvPr>
          <p:cNvSpPr/>
          <p:nvPr/>
        </p:nvSpPr>
        <p:spPr>
          <a:xfrm>
            <a:off x="7342787" y="4406396"/>
            <a:ext cx="409699" cy="368228"/>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2" name="Straight Arrow Connector 21">
            <a:extLst>
              <a:ext uri="{FF2B5EF4-FFF2-40B4-BE49-F238E27FC236}">
                <a16:creationId xmlns:a16="http://schemas.microsoft.com/office/drawing/2014/main" id="{CDBC2A17-C6FA-98C9-FCCE-04BAAD7D98B0}"/>
              </a:ext>
            </a:extLst>
          </p:cNvPr>
          <p:cNvCxnSpPr>
            <a:cxnSpLocks/>
            <a:stCxn id="27" idx="2"/>
            <a:endCxn id="21" idx="0"/>
          </p:cNvCxnSpPr>
          <p:nvPr/>
        </p:nvCxnSpPr>
        <p:spPr>
          <a:xfrm flipH="1">
            <a:off x="7547637" y="4081003"/>
            <a:ext cx="2281585" cy="325393"/>
          </a:xfrm>
          <a:prstGeom prst="straightConnector1">
            <a:avLst/>
          </a:prstGeom>
          <a:ln>
            <a:solidFill>
              <a:srgbClr val="24323E"/>
            </a:solidFill>
            <a:tailEnd type="triangle"/>
          </a:ln>
        </p:spPr>
        <p:style>
          <a:lnRef idx="2">
            <a:schemeClr val="accent2"/>
          </a:lnRef>
          <a:fillRef idx="0">
            <a:schemeClr val="accent2"/>
          </a:fillRef>
          <a:effectRef idx="1">
            <a:schemeClr val="accent2"/>
          </a:effectRef>
          <a:fontRef idx="minor">
            <a:schemeClr val="tx1"/>
          </a:fontRef>
        </p:style>
      </p:cxnSp>
      <p:sp>
        <p:nvSpPr>
          <p:cNvPr id="27" name="TextBox 26">
            <a:extLst>
              <a:ext uri="{FF2B5EF4-FFF2-40B4-BE49-F238E27FC236}">
                <a16:creationId xmlns:a16="http://schemas.microsoft.com/office/drawing/2014/main" id="{A2639532-BC4C-352A-0187-225AB227DD7B}"/>
              </a:ext>
            </a:extLst>
          </p:cNvPr>
          <p:cNvSpPr txBox="1"/>
          <p:nvPr/>
        </p:nvSpPr>
        <p:spPr>
          <a:xfrm>
            <a:off x="8786584" y="3496228"/>
            <a:ext cx="2085275" cy="584775"/>
          </a:xfrm>
          <a:prstGeom prst="rect">
            <a:avLst/>
          </a:prstGeom>
          <a:noFill/>
        </p:spPr>
        <p:txBody>
          <a:bodyPr wrap="square" rtlCol="0">
            <a:spAutoFit/>
          </a:bodyPr>
          <a:lstStyle/>
          <a:p>
            <a:pPr algn="ctr"/>
            <a:r>
              <a:rPr lang="en-US" sz="1600" b="1" dirty="0"/>
              <a:t>All triangles in the token sequence</a:t>
            </a:r>
          </a:p>
        </p:txBody>
      </p:sp>
      <p:sp>
        <p:nvSpPr>
          <p:cNvPr id="29" name="TextBox 28">
            <a:extLst>
              <a:ext uri="{FF2B5EF4-FFF2-40B4-BE49-F238E27FC236}">
                <a16:creationId xmlns:a16="http://schemas.microsoft.com/office/drawing/2014/main" id="{ABCF5970-348D-F930-A82F-6D0E2410FA5F}"/>
              </a:ext>
            </a:extLst>
          </p:cNvPr>
          <p:cNvSpPr txBox="1"/>
          <p:nvPr/>
        </p:nvSpPr>
        <p:spPr>
          <a:xfrm>
            <a:off x="7681465" y="6565904"/>
            <a:ext cx="1193820" cy="276999"/>
          </a:xfrm>
          <a:prstGeom prst="rect">
            <a:avLst/>
          </a:prstGeom>
          <a:noFill/>
        </p:spPr>
        <p:txBody>
          <a:bodyPr wrap="square" rtlCol="0">
            <a:spAutoFit/>
          </a:bodyPr>
          <a:lstStyle/>
          <a:p>
            <a:pPr algn="ctr"/>
            <a:r>
              <a:rPr lang="en-US" sz="1200" b="1" dirty="0"/>
              <a:t>Area Clusters</a:t>
            </a:r>
          </a:p>
        </p:txBody>
      </p:sp>
      <p:cxnSp>
        <p:nvCxnSpPr>
          <p:cNvPr id="36" name="Straight Arrow Connector 35">
            <a:extLst>
              <a:ext uri="{FF2B5EF4-FFF2-40B4-BE49-F238E27FC236}">
                <a16:creationId xmlns:a16="http://schemas.microsoft.com/office/drawing/2014/main" id="{8125C648-BED2-6418-56C6-DA2EA7CB05C6}"/>
              </a:ext>
            </a:extLst>
          </p:cNvPr>
          <p:cNvCxnSpPr>
            <a:cxnSpLocks/>
            <a:stCxn id="43" idx="1"/>
            <a:endCxn id="39" idx="6"/>
          </p:cNvCxnSpPr>
          <p:nvPr/>
        </p:nvCxnSpPr>
        <p:spPr>
          <a:xfrm flipH="1" flipV="1">
            <a:off x="9082236" y="4590510"/>
            <a:ext cx="957114" cy="150954"/>
          </a:xfrm>
          <a:prstGeom prst="straightConnector1">
            <a:avLst/>
          </a:prstGeom>
          <a:ln>
            <a:solidFill>
              <a:srgbClr val="24323E"/>
            </a:solidFill>
            <a:tailEnd type="triangle"/>
          </a:ln>
        </p:spPr>
        <p:style>
          <a:lnRef idx="2">
            <a:schemeClr val="accent2"/>
          </a:lnRef>
          <a:fillRef idx="0">
            <a:schemeClr val="accent2"/>
          </a:fillRef>
          <a:effectRef idx="1">
            <a:schemeClr val="accent2"/>
          </a:effectRef>
          <a:fontRef idx="minor">
            <a:schemeClr val="tx1"/>
          </a:fontRef>
        </p:style>
      </p:cxnSp>
      <p:sp>
        <p:nvSpPr>
          <p:cNvPr id="39" name="Oval 38">
            <a:extLst>
              <a:ext uri="{FF2B5EF4-FFF2-40B4-BE49-F238E27FC236}">
                <a16:creationId xmlns:a16="http://schemas.microsoft.com/office/drawing/2014/main" id="{3BA3ABAA-5DDD-BFCD-6AC8-BE8373AB113A}"/>
              </a:ext>
            </a:extLst>
          </p:cNvPr>
          <p:cNvSpPr/>
          <p:nvPr/>
        </p:nvSpPr>
        <p:spPr>
          <a:xfrm>
            <a:off x="8672537" y="4406396"/>
            <a:ext cx="409699" cy="368228"/>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TextBox 42">
            <a:extLst>
              <a:ext uri="{FF2B5EF4-FFF2-40B4-BE49-F238E27FC236}">
                <a16:creationId xmlns:a16="http://schemas.microsoft.com/office/drawing/2014/main" id="{27A098B9-85AB-D3BB-3259-488265D7960E}"/>
              </a:ext>
            </a:extLst>
          </p:cNvPr>
          <p:cNvSpPr txBox="1"/>
          <p:nvPr/>
        </p:nvSpPr>
        <p:spPr>
          <a:xfrm>
            <a:off x="10039350" y="4202855"/>
            <a:ext cx="1870197" cy="1077218"/>
          </a:xfrm>
          <a:prstGeom prst="rect">
            <a:avLst/>
          </a:prstGeom>
          <a:noFill/>
        </p:spPr>
        <p:txBody>
          <a:bodyPr wrap="square" rtlCol="0">
            <a:spAutoFit/>
          </a:bodyPr>
          <a:lstStyle/>
          <a:p>
            <a:pPr algn="ctr"/>
            <a:r>
              <a:rPr lang="en-US" sz="1600" b="1" dirty="0"/>
              <a:t>Attended Triangles by the currently selected attention head</a:t>
            </a:r>
          </a:p>
        </p:txBody>
      </p:sp>
      <p:sp>
        <p:nvSpPr>
          <p:cNvPr id="58" name="TextBox 57">
            <a:extLst>
              <a:ext uri="{FF2B5EF4-FFF2-40B4-BE49-F238E27FC236}">
                <a16:creationId xmlns:a16="http://schemas.microsoft.com/office/drawing/2014/main" id="{D5E3273B-5562-0D19-97DE-FE66919532F0}"/>
              </a:ext>
            </a:extLst>
          </p:cNvPr>
          <p:cNvSpPr txBox="1"/>
          <p:nvPr/>
        </p:nvSpPr>
        <p:spPr>
          <a:xfrm>
            <a:off x="2173688" y="6145036"/>
            <a:ext cx="1651567" cy="738664"/>
          </a:xfrm>
          <a:prstGeom prst="rect">
            <a:avLst/>
          </a:prstGeom>
          <a:noFill/>
        </p:spPr>
        <p:txBody>
          <a:bodyPr wrap="square" rtlCol="0">
            <a:spAutoFit/>
          </a:bodyPr>
          <a:lstStyle/>
          <a:p>
            <a:pPr algn="ctr"/>
            <a:r>
              <a:rPr lang="en-US" sz="1400" dirty="0"/>
              <a:t>5 Area clusters, from smallest area to largest area</a:t>
            </a:r>
          </a:p>
        </p:txBody>
      </p:sp>
      <p:cxnSp>
        <p:nvCxnSpPr>
          <p:cNvPr id="59" name="Straight Arrow Connector 58">
            <a:extLst>
              <a:ext uri="{FF2B5EF4-FFF2-40B4-BE49-F238E27FC236}">
                <a16:creationId xmlns:a16="http://schemas.microsoft.com/office/drawing/2014/main" id="{2E3F156D-8074-BA38-1811-3C5389B5F127}"/>
              </a:ext>
            </a:extLst>
          </p:cNvPr>
          <p:cNvCxnSpPr>
            <a:cxnSpLocks/>
          </p:cNvCxnSpPr>
          <p:nvPr/>
        </p:nvCxnSpPr>
        <p:spPr>
          <a:xfrm flipV="1">
            <a:off x="3005908" y="3865818"/>
            <a:ext cx="1337657" cy="2279218"/>
          </a:xfrm>
          <a:prstGeom prst="straightConnector1">
            <a:avLst/>
          </a:prstGeom>
          <a:ln>
            <a:solidFill>
              <a:srgbClr val="24323E"/>
            </a:solidFill>
            <a:tailEnd type="triangle"/>
          </a:ln>
        </p:spPr>
        <p:style>
          <a:lnRef idx="2">
            <a:schemeClr val="accent2"/>
          </a:lnRef>
          <a:fillRef idx="0">
            <a:schemeClr val="accent2"/>
          </a:fillRef>
          <a:effectRef idx="1">
            <a:schemeClr val="accent2"/>
          </a:effectRef>
          <a:fontRef idx="minor">
            <a:schemeClr val="tx1"/>
          </a:fontRef>
        </p:style>
      </p:cxnSp>
      <p:cxnSp>
        <p:nvCxnSpPr>
          <p:cNvPr id="62" name="Straight Arrow Connector 61">
            <a:extLst>
              <a:ext uri="{FF2B5EF4-FFF2-40B4-BE49-F238E27FC236}">
                <a16:creationId xmlns:a16="http://schemas.microsoft.com/office/drawing/2014/main" id="{376E279B-B3CE-29CE-52A8-45024075E8DC}"/>
              </a:ext>
            </a:extLst>
          </p:cNvPr>
          <p:cNvCxnSpPr>
            <a:cxnSpLocks/>
            <a:stCxn id="58" idx="0"/>
          </p:cNvCxnSpPr>
          <p:nvPr/>
        </p:nvCxnSpPr>
        <p:spPr>
          <a:xfrm flipV="1">
            <a:off x="2999472" y="4495243"/>
            <a:ext cx="1315240" cy="1649793"/>
          </a:xfrm>
          <a:prstGeom prst="straightConnector1">
            <a:avLst/>
          </a:prstGeom>
          <a:ln>
            <a:solidFill>
              <a:srgbClr val="24323E"/>
            </a:solidFill>
            <a:tailEnd type="triangle"/>
          </a:ln>
        </p:spPr>
        <p:style>
          <a:lnRef idx="2">
            <a:schemeClr val="accent2"/>
          </a:lnRef>
          <a:fillRef idx="0">
            <a:schemeClr val="accent2"/>
          </a:fillRef>
          <a:effectRef idx="1">
            <a:schemeClr val="accent2"/>
          </a:effectRef>
          <a:fontRef idx="minor">
            <a:schemeClr val="tx1"/>
          </a:fontRef>
        </p:style>
      </p:cxnSp>
      <p:cxnSp>
        <p:nvCxnSpPr>
          <p:cNvPr id="65" name="Straight Arrow Connector 64">
            <a:extLst>
              <a:ext uri="{FF2B5EF4-FFF2-40B4-BE49-F238E27FC236}">
                <a16:creationId xmlns:a16="http://schemas.microsoft.com/office/drawing/2014/main" id="{44E36D07-EAFB-EF69-3712-BF4B26DDA4FF}"/>
              </a:ext>
            </a:extLst>
          </p:cNvPr>
          <p:cNvCxnSpPr>
            <a:cxnSpLocks/>
          </p:cNvCxnSpPr>
          <p:nvPr/>
        </p:nvCxnSpPr>
        <p:spPr>
          <a:xfrm flipV="1">
            <a:off x="2999472" y="4958900"/>
            <a:ext cx="1315240" cy="1186136"/>
          </a:xfrm>
          <a:prstGeom prst="straightConnector1">
            <a:avLst/>
          </a:prstGeom>
          <a:ln>
            <a:solidFill>
              <a:srgbClr val="24323E"/>
            </a:solidFill>
            <a:tailEnd type="triangle"/>
          </a:ln>
        </p:spPr>
        <p:style>
          <a:lnRef idx="2">
            <a:schemeClr val="accent2"/>
          </a:lnRef>
          <a:fillRef idx="0">
            <a:schemeClr val="accent2"/>
          </a:fillRef>
          <a:effectRef idx="1">
            <a:schemeClr val="accent2"/>
          </a:effectRef>
          <a:fontRef idx="minor">
            <a:schemeClr val="tx1"/>
          </a:fontRef>
        </p:style>
      </p:cxnSp>
      <p:cxnSp>
        <p:nvCxnSpPr>
          <p:cNvPr id="68" name="Straight Arrow Connector 67">
            <a:extLst>
              <a:ext uri="{FF2B5EF4-FFF2-40B4-BE49-F238E27FC236}">
                <a16:creationId xmlns:a16="http://schemas.microsoft.com/office/drawing/2014/main" id="{ED8D221D-BCB5-9218-3FE6-BD10573A7256}"/>
              </a:ext>
            </a:extLst>
          </p:cNvPr>
          <p:cNvCxnSpPr>
            <a:cxnSpLocks/>
            <a:stCxn id="58" idx="0"/>
          </p:cNvCxnSpPr>
          <p:nvPr/>
        </p:nvCxnSpPr>
        <p:spPr>
          <a:xfrm flipV="1">
            <a:off x="2999472" y="5563590"/>
            <a:ext cx="1373113" cy="581446"/>
          </a:xfrm>
          <a:prstGeom prst="straightConnector1">
            <a:avLst/>
          </a:prstGeom>
          <a:ln>
            <a:solidFill>
              <a:srgbClr val="24323E"/>
            </a:solidFill>
            <a:tailEnd type="triangle"/>
          </a:ln>
        </p:spPr>
        <p:style>
          <a:lnRef idx="2">
            <a:schemeClr val="accent2"/>
          </a:lnRef>
          <a:fillRef idx="0">
            <a:schemeClr val="accent2"/>
          </a:fillRef>
          <a:effectRef idx="1">
            <a:schemeClr val="accent2"/>
          </a:effectRef>
          <a:fontRef idx="minor">
            <a:schemeClr val="tx1"/>
          </a:fontRef>
        </p:style>
      </p:cxnSp>
      <p:cxnSp>
        <p:nvCxnSpPr>
          <p:cNvPr id="71" name="Straight Arrow Connector 70">
            <a:extLst>
              <a:ext uri="{FF2B5EF4-FFF2-40B4-BE49-F238E27FC236}">
                <a16:creationId xmlns:a16="http://schemas.microsoft.com/office/drawing/2014/main" id="{BDD408F7-BA60-1EF0-73B5-3EDAB9FE80AC}"/>
              </a:ext>
            </a:extLst>
          </p:cNvPr>
          <p:cNvCxnSpPr>
            <a:cxnSpLocks/>
          </p:cNvCxnSpPr>
          <p:nvPr/>
        </p:nvCxnSpPr>
        <p:spPr>
          <a:xfrm flipV="1">
            <a:off x="3005908" y="6097979"/>
            <a:ext cx="1251396" cy="47057"/>
          </a:xfrm>
          <a:prstGeom prst="straightConnector1">
            <a:avLst/>
          </a:prstGeom>
          <a:ln>
            <a:solidFill>
              <a:srgbClr val="24323E"/>
            </a:solidFill>
            <a:tailEnd type="triangle"/>
          </a:ln>
        </p:spPr>
        <p:style>
          <a:lnRef idx="2">
            <a:schemeClr val="accent2"/>
          </a:lnRef>
          <a:fillRef idx="0">
            <a:schemeClr val="accent2"/>
          </a:fillRef>
          <a:effectRef idx="1">
            <a:schemeClr val="accent2"/>
          </a:effectRef>
          <a:fontRef idx="minor">
            <a:schemeClr val="tx1"/>
          </a:fontRef>
        </p:style>
      </p:cxnSp>
    </p:spTree>
    <p:extLst>
      <p:ext uri="{BB962C8B-B14F-4D97-AF65-F5344CB8AC3E}">
        <p14:creationId xmlns:p14="http://schemas.microsoft.com/office/powerpoint/2010/main" val="207381341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8B465D-2B37-F73E-C2A4-42A063A55B08}"/>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9726DD1F-7CF4-D034-7BB1-F917C1540DEF}"/>
              </a:ext>
            </a:extLst>
          </p:cNvPr>
          <p:cNvPicPr>
            <a:picLocks noGrp="1" noRot="1" noMove="1" noResize="1" noEditPoints="1" noAdjustHandles="1" noChangeArrowheads="1" noChangeShapeType="1" noCrop="1"/>
          </p:cNvPicPr>
          <p:nvPr/>
        </p:nvPicPr>
        <p:blipFill rotWithShape="1">
          <a:blip r:embed="rId2">
            <a:alphaModFix amt="10000"/>
            <a:extLst>
              <a:ext uri="{28A0092B-C50C-407E-A947-70E740481C1C}">
                <a14:useLocalDpi xmlns:a14="http://schemas.microsoft.com/office/drawing/2010/main" val="0"/>
              </a:ext>
            </a:extLst>
          </a:blip>
          <a:srcRect r="12168" b="16493"/>
          <a:stretch>
            <a:fillRect/>
          </a:stretch>
        </p:blipFill>
        <p:spPr bwMode="auto">
          <a:xfrm>
            <a:off x="6656439" y="1690688"/>
            <a:ext cx="5535561" cy="5167312"/>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37ADB4F6-5AFA-2DD0-0D6C-814DA0A2CC67}"/>
              </a:ext>
            </a:extLst>
          </p:cNvPr>
          <p:cNvSpPr>
            <a:spLocks noGrp="1"/>
          </p:cNvSpPr>
          <p:nvPr>
            <p:ph type="title"/>
          </p:nvPr>
        </p:nvSpPr>
        <p:spPr>
          <a:xfrm>
            <a:off x="838200" y="180174"/>
            <a:ext cx="10515600" cy="1325563"/>
          </a:xfrm>
        </p:spPr>
        <p:txBody>
          <a:bodyPr>
            <a:normAutofit/>
          </a:bodyPr>
          <a:lstStyle/>
          <a:p>
            <a:r>
              <a:rPr lang="en-US" altLang="zh-CN" b="1" dirty="0">
                <a:solidFill>
                  <a:srgbClr val="24323E"/>
                </a:solidFill>
              </a:rPr>
              <a:t>Current Findings (WIP)</a:t>
            </a:r>
            <a:endParaRPr lang="zh-CN" altLang="en-US" b="1" dirty="0">
              <a:solidFill>
                <a:srgbClr val="24323E"/>
              </a:solidFill>
            </a:endParaRPr>
          </a:p>
        </p:txBody>
      </p:sp>
      <p:pic>
        <p:nvPicPr>
          <p:cNvPr id="5" name="Picture 4" descr="A black background with blue text&#10;&#10;AI-generated content may be incorrect.">
            <a:extLst>
              <a:ext uri="{FF2B5EF4-FFF2-40B4-BE49-F238E27FC236}">
                <a16:creationId xmlns:a16="http://schemas.microsoft.com/office/drawing/2014/main" id="{1E37B91A-FDE4-33D9-65AE-FA83D006822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82453" y="6025142"/>
            <a:ext cx="3141061" cy="634838"/>
          </a:xfrm>
          <a:prstGeom prst="rect">
            <a:avLst/>
          </a:prstGeom>
        </p:spPr>
      </p:pic>
      <p:cxnSp>
        <p:nvCxnSpPr>
          <p:cNvPr id="6" name="Straight Connector 5">
            <a:extLst>
              <a:ext uri="{FF2B5EF4-FFF2-40B4-BE49-F238E27FC236}">
                <a16:creationId xmlns:a16="http://schemas.microsoft.com/office/drawing/2014/main" id="{2E6091F2-1770-0839-91E0-149BBD7936E5}"/>
              </a:ext>
            </a:extLst>
          </p:cNvPr>
          <p:cNvCxnSpPr/>
          <p:nvPr/>
        </p:nvCxnSpPr>
        <p:spPr>
          <a:xfrm>
            <a:off x="936346" y="1463041"/>
            <a:ext cx="804672" cy="0"/>
          </a:xfrm>
          <a:prstGeom prst="line">
            <a:avLst/>
          </a:prstGeom>
          <a:ln w="76200">
            <a:solidFill>
              <a:srgbClr val="E57200"/>
            </a:solidFill>
          </a:ln>
        </p:spPr>
        <p:style>
          <a:lnRef idx="3">
            <a:schemeClr val="dk1"/>
          </a:lnRef>
          <a:fillRef idx="0">
            <a:schemeClr val="dk1"/>
          </a:fillRef>
          <a:effectRef idx="2">
            <a:schemeClr val="dk1"/>
          </a:effectRef>
          <a:fontRef idx="minor">
            <a:schemeClr val="tx1"/>
          </a:fontRef>
        </p:style>
      </p:cxnSp>
      <p:sp>
        <p:nvSpPr>
          <p:cNvPr id="8" name="Rectangle 7">
            <a:extLst>
              <a:ext uri="{FF2B5EF4-FFF2-40B4-BE49-F238E27FC236}">
                <a16:creationId xmlns:a16="http://schemas.microsoft.com/office/drawing/2014/main" id="{ADBB7610-A517-AA38-35ED-4A0EBC88BC8D}"/>
              </a:ext>
            </a:extLst>
          </p:cNvPr>
          <p:cNvSpPr/>
          <p:nvPr/>
        </p:nvSpPr>
        <p:spPr>
          <a:xfrm>
            <a:off x="838200" y="1616492"/>
            <a:ext cx="10515600" cy="396581"/>
          </a:xfrm>
          <a:prstGeom prst="rect">
            <a:avLst/>
          </a:prstGeom>
          <a:solidFill>
            <a:srgbClr val="24323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b="1" dirty="0"/>
              <a:t>TLDR</a:t>
            </a:r>
          </a:p>
        </p:txBody>
      </p:sp>
      <p:sp>
        <p:nvSpPr>
          <p:cNvPr id="3" name="Content Placeholder 2">
            <a:extLst>
              <a:ext uri="{FF2B5EF4-FFF2-40B4-BE49-F238E27FC236}">
                <a16:creationId xmlns:a16="http://schemas.microsoft.com/office/drawing/2014/main" id="{21DBE935-3759-8235-3043-AD356F5FD8D8}"/>
              </a:ext>
            </a:extLst>
          </p:cNvPr>
          <p:cNvSpPr>
            <a:spLocks noGrp="1"/>
          </p:cNvSpPr>
          <p:nvPr>
            <p:ph idx="1"/>
          </p:nvPr>
        </p:nvSpPr>
        <p:spPr>
          <a:xfrm>
            <a:off x="838200" y="2013073"/>
            <a:ext cx="10515600" cy="3381886"/>
          </a:xfrm>
          <a:solidFill>
            <a:schemeClr val="bg2"/>
          </a:solidFill>
        </p:spPr>
        <p:txBody>
          <a:bodyPr>
            <a:normAutofit lnSpcReduction="10000"/>
          </a:bodyPr>
          <a:lstStyle/>
          <a:p>
            <a:r>
              <a:rPr lang="en-US" altLang="zh-CN" sz="2400" dirty="0">
                <a:solidFill>
                  <a:srgbClr val="24323E"/>
                </a:solidFill>
              </a:rPr>
              <a:t>Across the four models, individual attention heads show </a:t>
            </a:r>
            <a:r>
              <a:rPr lang="en-US" altLang="zh-CN" sz="2400" b="1" dirty="0">
                <a:solidFill>
                  <a:srgbClr val="E57200"/>
                </a:solidFill>
              </a:rPr>
              <a:t>tendencies to prefer specific shapes</a:t>
            </a:r>
            <a:r>
              <a:rPr lang="en-US" altLang="zh-CN" sz="2400" dirty="0">
                <a:solidFill>
                  <a:srgbClr val="24323E"/>
                </a:solidFill>
              </a:rPr>
              <a:t> of triangles. (differing by the model, head, and transformer layer)</a:t>
            </a:r>
          </a:p>
          <a:p>
            <a:r>
              <a:rPr lang="en-US" altLang="zh-CN" sz="2400" dirty="0">
                <a:solidFill>
                  <a:srgbClr val="24323E"/>
                </a:solidFill>
              </a:rPr>
              <a:t>I.e. certain heads strongly favor </a:t>
            </a:r>
            <a:r>
              <a:rPr lang="en-US" altLang="zh-CN" sz="2400" b="1" dirty="0">
                <a:solidFill>
                  <a:srgbClr val="E57200"/>
                </a:solidFill>
              </a:rPr>
              <a:t>large area triangles</a:t>
            </a:r>
            <a:r>
              <a:rPr lang="en-US" altLang="zh-CN" sz="2400" dirty="0">
                <a:solidFill>
                  <a:srgbClr val="24323E"/>
                </a:solidFill>
              </a:rPr>
              <a:t> and some other favor </a:t>
            </a:r>
            <a:r>
              <a:rPr lang="en-US" altLang="zh-CN" sz="2400" b="1" dirty="0">
                <a:solidFill>
                  <a:srgbClr val="E57200"/>
                </a:solidFill>
              </a:rPr>
              <a:t>thin and elongated </a:t>
            </a:r>
            <a:r>
              <a:rPr lang="en-US" altLang="zh-CN" sz="2400" dirty="0">
                <a:solidFill>
                  <a:srgbClr val="24323E"/>
                </a:solidFill>
              </a:rPr>
              <a:t>shaped triangles.</a:t>
            </a:r>
          </a:p>
          <a:p>
            <a:r>
              <a:rPr lang="en-US" altLang="zh-CN" sz="2400" dirty="0">
                <a:solidFill>
                  <a:srgbClr val="24323E"/>
                </a:solidFill>
              </a:rPr>
              <a:t>These shape preferences have been shown to be </a:t>
            </a:r>
            <a:r>
              <a:rPr lang="en-US" altLang="zh-CN" sz="2400" b="1" dirty="0">
                <a:solidFill>
                  <a:srgbClr val="E57200"/>
                </a:solidFill>
              </a:rPr>
              <a:t>consistent at different query positions </a:t>
            </a:r>
            <a:r>
              <a:rPr lang="en-US" altLang="zh-CN" sz="2400" dirty="0">
                <a:solidFill>
                  <a:srgbClr val="24323E"/>
                </a:solidFill>
              </a:rPr>
              <a:t>across the entire generated mesh token sequence. </a:t>
            </a:r>
          </a:p>
          <a:p>
            <a:r>
              <a:rPr lang="en-US" altLang="zh-CN" sz="2400" dirty="0">
                <a:solidFill>
                  <a:srgbClr val="24323E"/>
                </a:solidFill>
              </a:rPr>
              <a:t>These behaviors are </a:t>
            </a:r>
            <a:r>
              <a:rPr lang="en-US" altLang="zh-CN" sz="2400" b="1" dirty="0">
                <a:solidFill>
                  <a:srgbClr val="E57200"/>
                </a:solidFill>
              </a:rPr>
              <a:t>inconsistent across different transformer layers </a:t>
            </a:r>
            <a:r>
              <a:rPr lang="en-US" altLang="zh-CN" sz="2400" dirty="0">
                <a:solidFill>
                  <a:srgbClr val="24323E"/>
                </a:solidFill>
              </a:rPr>
              <a:t>(we classify into early, middle, and late layers) </a:t>
            </a:r>
          </a:p>
        </p:txBody>
      </p:sp>
    </p:spTree>
    <p:extLst>
      <p:ext uri="{BB962C8B-B14F-4D97-AF65-F5344CB8AC3E}">
        <p14:creationId xmlns:p14="http://schemas.microsoft.com/office/powerpoint/2010/main" val="166706248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41417C-B12A-5DB9-E9FE-A0103585BBE9}"/>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685FF235-5B59-02D6-9B30-D6454119806E}"/>
              </a:ext>
            </a:extLst>
          </p:cNvPr>
          <p:cNvPicPr>
            <a:picLocks noGrp="1" noRot="1" noMove="1" noResize="1" noEditPoints="1" noAdjustHandles="1" noChangeArrowheads="1" noChangeShapeType="1" noCrop="1"/>
          </p:cNvPicPr>
          <p:nvPr/>
        </p:nvPicPr>
        <p:blipFill rotWithShape="1">
          <a:blip r:embed="rId2">
            <a:alphaModFix amt="10000"/>
            <a:extLst>
              <a:ext uri="{28A0092B-C50C-407E-A947-70E740481C1C}">
                <a14:useLocalDpi xmlns:a14="http://schemas.microsoft.com/office/drawing/2010/main" val="0"/>
              </a:ext>
            </a:extLst>
          </a:blip>
          <a:srcRect r="12168" b="16493"/>
          <a:stretch>
            <a:fillRect/>
          </a:stretch>
        </p:blipFill>
        <p:spPr bwMode="auto">
          <a:xfrm>
            <a:off x="6656439" y="1690688"/>
            <a:ext cx="5535561" cy="5167312"/>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descr="A black background with blue text&#10;&#10;AI-generated content may be incorrect.">
            <a:extLst>
              <a:ext uri="{FF2B5EF4-FFF2-40B4-BE49-F238E27FC236}">
                <a16:creationId xmlns:a16="http://schemas.microsoft.com/office/drawing/2014/main" id="{5C1EF52B-84C9-C79B-71D1-AE033BB2001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82453" y="6025142"/>
            <a:ext cx="3141061" cy="634838"/>
          </a:xfrm>
          <a:prstGeom prst="rect">
            <a:avLst/>
          </a:prstGeom>
        </p:spPr>
      </p:pic>
      <p:sp>
        <p:nvSpPr>
          <p:cNvPr id="6" name="Content Placeholder 2">
            <a:extLst>
              <a:ext uri="{FF2B5EF4-FFF2-40B4-BE49-F238E27FC236}">
                <a16:creationId xmlns:a16="http://schemas.microsoft.com/office/drawing/2014/main" id="{E3A84173-E31C-37CB-D069-10DB5F650994}"/>
              </a:ext>
            </a:extLst>
          </p:cNvPr>
          <p:cNvSpPr>
            <a:spLocks noGrp="1"/>
          </p:cNvSpPr>
          <p:nvPr>
            <p:ph idx="1"/>
          </p:nvPr>
        </p:nvSpPr>
        <p:spPr>
          <a:xfrm>
            <a:off x="146965" y="2873521"/>
            <a:ext cx="1652527" cy="724702"/>
          </a:xfrm>
          <a:solidFill>
            <a:schemeClr val="bg2"/>
          </a:solidFill>
        </p:spPr>
        <p:txBody>
          <a:bodyPr anchor="ctr">
            <a:normAutofit fontScale="92500" lnSpcReduction="20000"/>
          </a:bodyPr>
          <a:lstStyle/>
          <a:p>
            <a:pPr marL="0" indent="0" algn="ctr">
              <a:buNone/>
            </a:pPr>
            <a:r>
              <a:rPr lang="en-US" altLang="zh-CN" sz="1400" i="1" dirty="0">
                <a:solidFill>
                  <a:srgbClr val="24323E"/>
                </a:solidFill>
              </a:rPr>
              <a:t>Head 0 strongly favors </a:t>
            </a:r>
            <a:r>
              <a:rPr lang="en-US" altLang="zh-CN" sz="1400" b="1" i="1" dirty="0">
                <a:solidFill>
                  <a:srgbClr val="24323E"/>
                </a:solidFill>
              </a:rPr>
              <a:t>Thin &amp; Elongated</a:t>
            </a:r>
            <a:r>
              <a:rPr lang="en-US" altLang="zh-CN" sz="1400" i="1" dirty="0">
                <a:solidFill>
                  <a:srgbClr val="24323E"/>
                </a:solidFill>
              </a:rPr>
              <a:t> Triangles at Layer 3</a:t>
            </a:r>
          </a:p>
        </p:txBody>
      </p:sp>
      <p:pic>
        <p:nvPicPr>
          <p:cNvPr id="8" name="Picture 7">
            <a:extLst>
              <a:ext uri="{FF2B5EF4-FFF2-40B4-BE49-F238E27FC236}">
                <a16:creationId xmlns:a16="http://schemas.microsoft.com/office/drawing/2014/main" id="{AAA3B788-6442-716D-D0D7-64536BB881D7}"/>
              </a:ext>
            </a:extLst>
          </p:cNvPr>
          <p:cNvPicPr>
            <a:picLocks noChangeAspect="1"/>
          </p:cNvPicPr>
          <p:nvPr/>
        </p:nvPicPr>
        <p:blipFill>
          <a:blip r:embed="rId4"/>
          <a:stretch>
            <a:fillRect/>
          </a:stretch>
        </p:blipFill>
        <p:spPr>
          <a:xfrm>
            <a:off x="1852984" y="1160191"/>
            <a:ext cx="8293339" cy="5697808"/>
          </a:xfrm>
          <a:prstGeom prst="rect">
            <a:avLst/>
          </a:prstGeom>
        </p:spPr>
      </p:pic>
      <p:sp>
        <p:nvSpPr>
          <p:cNvPr id="2" name="Title 1">
            <a:extLst>
              <a:ext uri="{FF2B5EF4-FFF2-40B4-BE49-F238E27FC236}">
                <a16:creationId xmlns:a16="http://schemas.microsoft.com/office/drawing/2014/main" id="{5B1AAD93-A6D2-854F-C8A1-5FF463749279}"/>
              </a:ext>
            </a:extLst>
          </p:cNvPr>
          <p:cNvSpPr>
            <a:spLocks noGrp="1"/>
          </p:cNvSpPr>
          <p:nvPr>
            <p:ph type="title"/>
          </p:nvPr>
        </p:nvSpPr>
        <p:spPr>
          <a:xfrm>
            <a:off x="838200" y="180174"/>
            <a:ext cx="10515600" cy="1325563"/>
          </a:xfrm>
        </p:spPr>
        <p:txBody>
          <a:bodyPr>
            <a:normAutofit/>
          </a:bodyPr>
          <a:lstStyle/>
          <a:p>
            <a:r>
              <a:rPr lang="en-US" altLang="zh-CN" b="1" dirty="0" err="1">
                <a:solidFill>
                  <a:srgbClr val="24323E"/>
                </a:solidFill>
              </a:rPr>
              <a:t>MeshMosaic</a:t>
            </a:r>
            <a:r>
              <a:rPr lang="en-US" altLang="zh-CN" b="1" dirty="0">
                <a:solidFill>
                  <a:srgbClr val="24323E"/>
                </a:solidFill>
              </a:rPr>
              <a:t> Findings (WIP)</a:t>
            </a:r>
            <a:endParaRPr lang="zh-CN" altLang="en-US" b="1" dirty="0">
              <a:solidFill>
                <a:srgbClr val="24323E"/>
              </a:solidFill>
            </a:endParaRPr>
          </a:p>
        </p:txBody>
      </p:sp>
      <p:sp>
        <p:nvSpPr>
          <p:cNvPr id="3" name="Content Placeholder 2">
            <a:extLst>
              <a:ext uri="{FF2B5EF4-FFF2-40B4-BE49-F238E27FC236}">
                <a16:creationId xmlns:a16="http://schemas.microsoft.com/office/drawing/2014/main" id="{1D6D7BC5-AB18-C245-5E56-6E707CF11710}"/>
              </a:ext>
            </a:extLst>
          </p:cNvPr>
          <p:cNvSpPr txBox="1">
            <a:spLocks/>
          </p:cNvSpPr>
          <p:nvPr/>
        </p:nvSpPr>
        <p:spPr>
          <a:xfrm>
            <a:off x="10392508" y="3015313"/>
            <a:ext cx="1652527" cy="1582724"/>
          </a:xfrm>
          <a:prstGeom prst="rect">
            <a:avLst/>
          </a:prstGeom>
          <a:solidFill>
            <a:schemeClr val="bg2"/>
          </a:solidFill>
        </p:spPr>
        <p:txBody>
          <a:bodyPr vert="horz" lIns="91440" tIns="45720" rIns="91440" bIns="45720" rtlCol="0">
            <a:normAutofit fontScale="850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en-US" altLang="zh-CN" sz="1800" b="1" i="1" dirty="0">
                <a:solidFill>
                  <a:srgbClr val="24323E"/>
                </a:solidFill>
              </a:rPr>
              <a:t>Attention Head Preferences</a:t>
            </a:r>
          </a:p>
          <a:p>
            <a:pPr marL="0" indent="0" algn="ctr">
              <a:buFont typeface="Arial" panose="020B0604020202020204" pitchFamily="34" charset="0"/>
              <a:buNone/>
            </a:pPr>
            <a:endParaRPr lang="en-US" altLang="zh-CN" sz="1800" i="1" dirty="0">
              <a:solidFill>
                <a:srgbClr val="24323E"/>
              </a:solidFill>
            </a:endParaRPr>
          </a:p>
          <a:p>
            <a:pPr marL="0" indent="0" algn="ctr">
              <a:buFont typeface="Arial" panose="020B0604020202020204" pitchFamily="34" charset="0"/>
              <a:buNone/>
            </a:pPr>
            <a:r>
              <a:rPr lang="en-US" altLang="zh-CN" sz="1800" i="1" dirty="0">
                <a:solidFill>
                  <a:srgbClr val="24323E"/>
                </a:solidFill>
              </a:rPr>
              <a:t>&gt;1 means favor</a:t>
            </a:r>
          </a:p>
          <a:p>
            <a:pPr marL="0" indent="0" algn="ctr">
              <a:buFont typeface="Arial" panose="020B0604020202020204" pitchFamily="34" charset="0"/>
              <a:buNone/>
            </a:pPr>
            <a:endParaRPr lang="en-US" altLang="zh-CN" sz="1800" i="1" dirty="0">
              <a:solidFill>
                <a:srgbClr val="24323E"/>
              </a:solidFill>
            </a:endParaRPr>
          </a:p>
          <a:p>
            <a:pPr marL="0" indent="0" algn="ctr">
              <a:buFont typeface="Arial" panose="020B0604020202020204" pitchFamily="34" charset="0"/>
              <a:buNone/>
            </a:pPr>
            <a:r>
              <a:rPr lang="en-US" altLang="zh-CN" sz="1800" i="1" dirty="0">
                <a:solidFill>
                  <a:srgbClr val="24323E"/>
                </a:solidFill>
              </a:rPr>
              <a:t>1&lt; means avoid</a:t>
            </a:r>
          </a:p>
        </p:txBody>
      </p:sp>
      <p:cxnSp>
        <p:nvCxnSpPr>
          <p:cNvPr id="7" name="Straight Arrow Connector 6">
            <a:extLst>
              <a:ext uri="{FF2B5EF4-FFF2-40B4-BE49-F238E27FC236}">
                <a16:creationId xmlns:a16="http://schemas.microsoft.com/office/drawing/2014/main" id="{57290977-A680-9E9C-B05A-ADEBB25E998B}"/>
              </a:ext>
            </a:extLst>
          </p:cNvPr>
          <p:cNvCxnSpPr>
            <a:cxnSpLocks/>
            <a:stCxn id="6" idx="3"/>
          </p:cNvCxnSpPr>
          <p:nvPr/>
        </p:nvCxnSpPr>
        <p:spPr>
          <a:xfrm>
            <a:off x="1799492" y="3235872"/>
            <a:ext cx="2042176" cy="308912"/>
          </a:xfrm>
          <a:prstGeom prst="straightConnector1">
            <a:avLst/>
          </a:prstGeom>
          <a:ln>
            <a:solidFill>
              <a:srgbClr val="24323E"/>
            </a:solidFill>
            <a:tailEnd type="triangle"/>
          </a:ln>
        </p:spPr>
        <p:style>
          <a:lnRef idx="2">
            <a:schemeClr val="accent2"/>
          </a:lnRef>
          <a:fillRef idx="0">
            <a:schemeClr val="accent2"/>
          </a:fillRef>
          <a:effectRef idx="1">
            <a:schemeClr val="accent2"/>
          </a:effectRef>
          <a:fontRef idx="minor">
            <a:schemeClr val="tx1"/>
          </a:fontRef>
        </p:style>
      </p:cxnSp>
      <p:sp>
        <p:nvSpPr>
          <p:cNvPr id="13" name="Content Placeholder 2">
            <a:extLst>
              <a:ext uri="{FF2B5EF4-FFF2-40B4-BE49-F238E27FC236}">
                <a16:creationId xmlns:a16="http://schemas.microsoft.com/office/drawing/2014/main" id="{CB8DDB89-CE26-4534-1913-2DB0495B3F12}"/>
              </a:ext>
            </a:extLst>
          </p:cNvPr>
          <p:cNvSpPr txBox="1">
            <a:spLocks/>
          </p:cNvSpPr>
          <p:nvPr/>
        </p:nvSpPr>
        <p:spPr>
          <a:xfrm>
            <a:off x="9701272" y="773009"/>
            <a:ext cx="2090925" cy="724702"/>
          </a:xfrm>
          <a:prstGeom prst="rect">
            <a:avLst/>
          </a:prstGeom>
          <a:solidFill>
            <a:schemeClr val="bg2"/>
          </a:solidFill>
        </p:spPr>
        <p:txBody>
          <a:bodyPr vert="horz" lIns="91440" tIns="45720" rIns="91440" bIns="45720" rtlCol="0" anchor="ctr">
            <a:normAutofit fontScale="925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en-US" altLang="zh-CN" sz="1400" i="1" dirty="0">
                <a:solidFill>
                  <a:srgbClr val="24323E"/>
                </a:solidFill>
              </a:rPr>
              <a:t>Head 2 strongly favors Triangles </a:t>
            </a:r>
            <a:r>
              <a:rPr lang="en-US" altLang="zh-CN" sz="1400" b="1" i="1" dirty="0">
                <a:solidFill>
                  <a:srgbClr val="24323E"/>
                </a:solidFill>
              </a:rPr>
              <a:t>facing the z-axis orientation</a:t>
            </a:r>
            <a:r>
              <a:rPr lang="en-US" altLang="zh-CN" sz="1400" i="1" dirty="0">
                <a:solidFill>
                  <a:srgbClr val="24323E"/>
                </a:solidFill>
              </a:rPr>
              <a:t> at Layer 1</a:t>
            </a:r>
          </a:p>
        </p:txBody>
      </p:sp>
      <p:cxnSp>
        <p:nvCxnSpPr>
          <p:cNvPr id="14" name="Straight Arrow Connector 13">
            <a:extLst>
              <a:ext uri="{FF2B5EF4-FFF2-40B4-BE49-F238E27FC236}">
                <a16:creationId xmlns:a16="http://schemas.microsoft.com/office/drawing/2014/main" id="{8B6B1BCE-DD4F-B330-6279-A110C7057299}"/>
              </a:ext>
            </a:extLst>
          </p:cNvPr>
          <p:cNvCxnSpPr>
            <a:cxnSpLocks/>
            <a:stCxn id="13" idx="1"/>
          </p:cNvCxnSpPr>
          <p:nvPr/>
        </p:nvCxnSpPr>
        <p:spPr>
          <a:xfrm flipH="1">
            <a:off x="8775865" y="1135360"/>
            <a:ext cx="925407" cy="963212"/>
          </a:xfrm>
          <a:prstGeom prst="straightConnector1">
            <a:avLst/>
          </a:prstGeom>
          <a:ln>
            <a:solidFill>
              <a:srgbClr val="24323E"/>
            </a:solidFill>
            <a:tailEnd type="triangle"/>
          </a:ln>
        </p:spPr>
        <p:style>
          <a:lnRef idx="2">
            <a:schemeClr val="accent2"/>
          </a:lnRef>
          <a:fillRef idx="0">
            <a:schemeClr val="accent2"/>
          </a:fillRef>
          <a:effectRef idx="1">
            <a:schemeClr val="accent2"/>
          </a:effectRef>
          <a:fontRef idx="minor">
            <a:schemeClr val="tx1"/>
          </a:fontRef>
        </p:style>
      </p:cxnSp>
    </p:spTree>
    <p:extLst>
      <p:ext uri="{BB962C8B-B14F-4D97-AF65-F5344CB8AC3E}">
        <p14:creationId xmlns:p14="http://schemas.microsoft.com/office/powerpoint/2010/main" val="56108318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6EEDC4-A965-14BC-67C9-B73AE91C2AF1}"/>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3912AD35-712A-6348-8C36-29598A6866FF}"/>
              </a:ext>
            </a:extLst>
          </p:cNvPr>
          <p:cNvPicPr>
            <a:picLocks noGrp="1" noRot="1" noMove="1" noResize="1" noEditPoints="1" noAdjustHandles="1" noChangeArrowheads="1" noChangeShapeType="1" noCrop="1"/>
          </p:cNvPicPr>
          <p:nvPr/>
        </p:nvPicPr>
        <p:blipFill rotWithShape="1">
          <a:blip r:embed="rId2">
            <a:alphaModFix amt="10000"/>
            <a:extLst>
              <a:ext uri="{28A0092B-C50C-407E-A947-70E740481C1C}">
                <a14:useLocalDpi xmlns:a14="http://schemas.microsoft.com/office/drawing/2010/main" val="0"/>
              </a:ext>
            </a:extLst>
          </a:blip>
          <a:srcRect r="12168" b="16493"/>
          <a:stretch>
            <a:fillRect/>
          </a:stretch>
        </p:blipFill>
        <p:spPr bwMode="auto">
          <a:xfrm>
            <a:off x="6656439" y="1690688"/>
            <a:ext cx="5535561" cy="5167312"/>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descr="A black background with blue text&#10;&#10;AI-generated content may be incorrect.">
            <a:extLst>
              <a:ext uri="{FF2B5EF4-FFF2-40B4-BE49-F238E27FC236}">
                <a16:creationId xmlns:a16="http://schemas.microsoft.com/office/drawing/2014/main" id="{A983F536-DD2C-5474-7FF0-8320E7C6B60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82453" y="6025142"/>
            <a:ext cx="3141061" cy="634838"/>
          </a:xfrm>
          <a:prstGeom prst="rect">
            <a:avLst/>
          </a:prstGeom>
        </p:spPr>
      </p:pic>
      <p:pic>
        <p:nvPicPr>
          <p:cNvPr id="3" name="Picture 2">
            <a:extLst>
              <a:ext uri="{FF2B5EF4-FFF2-40B4-BE49-F238E27FC236}">
                <a16:creationId xmlns:a16="http://schemas.microsoft.com/office/drawing/2014/main" id="{B88190B4-D3C7-E3EF-4D94-D0A0E657D556}"/>
              </a:ext>
            </a:extLst>
          </p:cNvPr>
          <p:cNvPicPr>
            <a:picLocks noChangeAspect="1"/>
          </p:cNvPicPr>
          <p:nvPr/>
        </p:nvPicPr>
        <p:blipFill>
          <a:blip r:embed="rId4"/>
          <a:stretch>
            <a:fillRect/>
          </a:stretch>
        </p:blipFill>
        <p:spPr>
          <a:xfrm>
            <a:off x="1779918" y="1150265"/>
            <a:ext cx="8307789" cy="5707736"/>
          </a:xfrm>
          <a:prstGeom prst="rect">
            <a:avLst/>
          </a:prstGeom>
        </p:spPr>
      </p:pic>
      <p:sp>
        <p:nvSpPr>
          <p:cNvPr id="2" name="Title 1">
            <a:extLst>
              <a:ext uri="{FF2B5EF4-FFF2-40B4-BE49-F238E27FC236}">
                <a16:creationId xmlns:a16="http://schemas.microsoft.com/office/drawing/2014/main" id="{A20C706A-2B7A-5445-7004-16A5185CD473}"/>
              </a:ext>
            </a:extLst>
          </p:cNvPr>
          <p:cNvSpPr>
            <a:spLocks noGrp="1"/>
          </p:cNvSpPr>
          <p:nvPr>
            <p:ph type="title"/>
          </p:nvPr>
        </p:nvSpPr>
        <p:spPr>
          <a:xfrm>
            <a:off x="838200" y="180174"/>
            <a:ext cx="10515600" cy="1325563"/>
          </a:xfrm>
        </p:spPr>
        <p:txBody>
          <a:bodyPr>
            <a:normAutofit/>
          </a:bodyPr>
          <a:lstStyle/>
          <a:p>
            <a:r>
              <a:rPr lang="en-US" altLang="zh-CN" b="1" dirty="0" err="1">
                <a:solidFill>
                  <a:srgbClr val="24323E"/>
                </a:solidFill>
              </a:rPr>
              <a:t>DeepMesh</a:t>
            </a:r>
            <a:r>
              <a:rPr lang="en-US" altLang="zh-CN" b="1" dirty="0">
                <a:solidFill>
                  <a:srgbClr val="24323E"/>
                </a:solidFill>
              </a:rPr>
              <a:t> Findings (WIP)</a:t>
            </a:r>
            <a:endParaRPr lang="zh-CN" altLang="en-US" b="1" dirty="0">
              <a:solidFill>
                <a:srgbClr val="24323E"/>
              </a:solidFill>
            </a:endParaRPr>
          </a:p>
        </p:txBody>
      </p:sp>
      <p:sp>
        <p:nvSpPr>
          <p:cNvPr id="11" name="Content Placeholder 2">
            <a:extLst>
              <a:ext uri="{FF2B5EF4-FFF2-40B4-BE49-F238E27FC236}">
                <a16:creationId xmlns:a16="http://schemas.microsoft.com/office/drawing/2014/main" id="{C3420A16-D3B8-08B2-921B-ECECD9C7447D}"/>
              </a:ext>
            </a:extLst>
          </p:cNvPr>
          <p:cNvSpPr txBox="1">
            <a:spLocks/>
          </p:cNvSpPr>
          <p:nvPr/>
        </p:nvSpPr>
        <p:spPr>
          <a:xfrm>
            <a:off x="10392508" y="3015313"/>
            <a:ext cx="1652527" cy="1582724"/>
          </a:xfrm>
          <a:prstGeom prst="rect">
            <a:avLst/>
          </a:prstGeom>
          <a:solidFill>
            <a:schemeClr val="bg2"/>
          </a:solidFill>
        </p:spPr>
        <p:txBody>
          <a:bodyPr vert="horz" lIns="91440" tIns="45720" rIns="91440" bIns="45720" rtlCol="0">
            <a:normAutofit fontScale="850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en-US" altLang="zh-CN" sz="1800" b="1" i="1" dirty="0">
                <a:solidFill>
                  <a:srgbClr val="24323E"/>
                </a:solidFill>
              </a:rPr>
              <a:t>Attention Head Preferences</a:t>
            </a:r>
          </a:p>
          <a:p>
            <a:pPr marL="0" indent="0" algn="ctr">
              <a:buFont typeface="Arial" panose="020B0604020202020204" pitchFamily="34" charset="0"/>
              <a:buNone/>
            </a:pPr>
            <a:endParaRPr lang="en-US" altLang="zh-CN" sz="1800" i="1" dirty="0">
              <a:solidFill>
                <a:srgbClr val="24323E"/>
              </a:solidFill>
            </a:endParaRPr>
          </a:p>
          <a:p>
            <a:pPr marL="0" indent="0" algn="ctr">
              <a:buFont typeface="Arial" panose="020B0604020202020204" pitchFamily="34" charset="0"/>
              <a:buNone/>
            </a:pPr>
            <a:r>
              <a:rPr lang="en-US" altLang="zh-CN" sz="1800" i="1" dirty="0">
                <a:solidFill>
                  <a:srgbClr val="24323E"/>
                </a:solidFill>
              </a:rPr>
              <a:t>&gt;1 means favor</a:t>
            </a:r>
          </a:p>
          <a:p>
            <a:pPr marL="0" indent="0" algn="ctr">
              <a:buFont typeface="Arial" panose="020B0604020202020204" pitchFamily="34" charset="0"/>
              <a:buNone/>
            </a:pPr>
            <a:endParaRPr lang="en-US" altLang="zh-CN" sz="1800" i="1" dirty="0">
              <a:solidFill>
                <a:srgbClr val="24323E"/>
              </a:solidFill>
            </a:endParaRPr>
          </a:p>
          <a:p>
            <a:pPr marL="0" indent="0" algn="ctr">
              <a:buFont typeface="Arial" panose="020B0604020202020204" pitchFamily="34" charset="0"/>
              <a:buNone/>
            </a:pPr>
            <a:r>
              <a:rPr lang="en-US" altLang="zh-CN" sz="1800" i="1" dirty="0">
                <a:solidFill>
                  <a:srgbClr val="24323E"/>
                </a:solidFill>
              </a:rPr>
              <a:t>1&lt; means avoid</a:t>
            </a:r>
          </a:p>
        </p:txBody>
      </p:sp>
      <p:sp>
        <p:nvSpPr>
          <p:cNvPr id="6" name="Content Placeholder 2">
            <a:extLst>
              <a:ext uri="{FF2B5EF4-FFF2-40B4-BE49-F238E27FC236}">
                <a16:creationId xmlns:a16="http://schemas.microsoft.com/office/drawing/2014/main" id="{AD127ABB-FC2A-D482-8AA8-F7142DB119F9}"/>
              </a:ext>
            </a:extLst>
          </p:cNvPr>
          <p:cNvSpPr txBox="1">
            <a:spLocks/>
          </p:cNvSpPr>
          <p:nvPr/>
        </p:nvSpPr>
        <p:spPr>
          <a:xfrm>
            <a:off x="210518" y="2824688"/>
            <a:ext cx="1652527" cy="724702"/>
          </a:xfrm>
          <a:prstGeom prst="rect">
            <a:avLst/>
          </a:prstGeom>
          <a:solidFill>
            <a:schemeClr val="bg2"/>
          </a:solidFill>
        </p:spPr>
        <p:txBody>
          <a:bodyPr vert="horz" lIns="91440" tIns="45720" rIns="91440" bIns="45720" rtlCol="0" anchor="ctr">
            <a:normAutofit fontScale="92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en-US" altLang="zh-CN" sz="1400" i="1">
                <a:solidFill>
                  <a:srgbClr val="24323E"/>
                </a:solidFill>
              </a:rPr>
              <a:t>Head 0 strongly favors </a:t>
            </a:r>
            <a:r>
              <a:rPr lang="en-US" altLang="zh-CN" sz="1400" b="1" i="1">
                <a:solidFill>
                  <a:srgbClr val="24323E"/>
                </a:solidFill>
              </a:rPr>
              <a:t>Thin &amp; Elongated</a:t>
            </a:r>
            <a:r>
              <a:rPr lang="en-US" altLang="zh-CN" sz="1400" i="1">
                <a:solidFill>
                  <a:srgbClr val="24323E"/>
                </a:solidFill>
              </a:rPr>
              <a:t> Triangles at Layer 3</a:t>
            </a:r>
            <a:endParaRPr lang="en-US" altLang="zh-CN" sz="1400" i="1" dirty="0">
              <a:solidFill>
                <a:srgbClr val="24323E"/>
              </a:solidFill>
            </a:endParaRPr>
          </a:p>
        </p:txBody>
      </p:sp>
      <p:cxnSp>
        <p:nvCxnSpPr>
          <p:cNvPr id="7" name="Straight Arrow Connector 6">
            <a:extLst>
              <a:ext uri="{FF2B5EF4-FFF2-40B4-BE49-F238E27FC236}">
                <a16:creationId xmlns:a16="http://schemas.microsoft.com/office/drawing/2014/main" id="{E2F4C2B7-A6F2-7DB2-A5EC-19A2C61957F6}"/>
              </a:ext>
            </a:extLst>
          </p:cNvPr>
          <p:cNvCxnSpPr>
            <a:cxnSpLocks/>
            <a:stCxn id="6" idx="3"/>
          </p:cNvCxnSpPr>
          <p:nvPr/>
        </p:nvCxnSpPr>
        <p:spPr>
          <a:xfrm>
            <a:off x="1863045" y="3187039"/>
            <a:ext cx="2042176" cy="308912"/>
          </a:xfrm>
          <a:prstGeom prst="straightConnector1">
            <a:avLst/>
          </a:prstGeom>
          <a:ln>
            <a:solidFill>
              <a:srgbClr val="24323E"/>
            </a:solidFill>
            <a:tailEnd type="triangle"/>
          </a:ln>
        </p:spPr>
        <p:style>
          <a:lnRef idx="2">
            <a:schemeClr val="accent2"/>
          </a:lnRef>
          <a:fillRef idx="0">
            <a:schemeClr val="accent2"/>
          </a:fillRef>
          <a:effectRef idx="1">
            <a:schemeClr val="accent2"/>
          </a:effectRef>
          <a:fontRef idx="minor">
            <a:schemeClr val="tx1"/>
          </a:fontRef>
        </p:style>
      </p:cxnSp>
      <p:sp>
        <p:nvSpPr>
          <p:cNvPr id="13" name="Content Placeholder 2">
            <a:extLst>
              <a:ext uri="{FF2B5EF4-FFF2-40B4-BE49-F238E27FC236}">
                <a16:creationId xmlns:a16="http://schemas.microsoft.com/office/drawing/2014/main" id="{02E5F52A-BFBC-F31D-5F25-3087A0043ADA}"/>
              </a:ext>
            </a:extLst>
          </p:cNvPr>
          <p:cNvSpPr txBox="1">
            <a:spLocks/>
          </p:cNvSpPr>
          <p:nvPr/>
        </p:nvSpPr>
        <p:spPr>
          <a:xfrm>
            <a:off x="127391" y="4983033"/>
            <a:ext cx="1652527" cy="724702"/>
          </a:xfrm>
          <a:prstGeom prst="rect">
            <a:avLst/>
          </a:prstGeom>
          <a:solidFill>
            <a:schemeClr val="bg2"/>
          </a:solidFill>
        </p:spPr>
        <p:txBody>
          <a:bodyPr vert="horz" lIns="91440" tIns="45720" rIns="91440" bIns="45720" rtlCol="0" anchor="ctr">
            <a:normAutofit fontScale="92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en-US" altLang="zh-CN" sz="1400" i="1" dirty="0">
                <a:solidFill>
                  <a:srgbClr val="24323E"/>
                </a:solidFill>
              </a:rPr>
              <a:t>Head 1 strongly favors </a:t>
            </a:r>
            <a:r>
              <a:rPr lang="en-US" altLang="zh-CN" sz="1400" b="1" i="1" dirty="0">
                <a:solidFill>
                  <a:srgbClr val="24323E"/>
                </a:solidFill>
              </a:rPr>
              <a:t>Thin &amp; Elongated</a:t>
            </a:r>
            <a:r>
              <a:rPr lang="en-US" altLang="zh-CN" sz="1400" i="1" dirty="0">
                <a:solidFill>
                  <a:srgbClr val="24323E"/>
                </a:solidFill>
              </a:rPr>
              <a:t> Triangles at Layer 19</a:t>
            </a:r>
          </a:p>
        </p:txBody>
      </p:sp>
      <p:cxnSp>
        <p:nvCxnSpPr>
          <p:cNvPr id="14" name="Straight Arrow Connector 13">
            <a:extLst>
              <a:ext uri="{FF2B5EF4-FFF2-40B4-BE49-F238E27FC236}">
                <a16:creationId xmlns:a16="http://schemas.microsoft.com/office/drawing/2014/main" id="{6B39C54F-B8A3-729B-C582-C271B331B72C}"/>
              </a:ext>
            </a:extLst>
          </p:cNvPr>
          <p:cNvCxnSpPr>
            <a:cxnSpLocks/>
            <a:stCxn id="13" idx="3"/>
          </p:cNvCxnSpPr>
          <p:nvPr/>
        </p:nvCxnSpPr>
        <p:spPr>
          <a:xfrm>
            <a:off x="1779918" y="5345384"/>
            <a:ext cx="1996435" cy="0"/>
          </a:xfrm>
          <a:prstGeom prst="straightConnector1">
            <a:avLst/>
          </a:prstGeom>
          <a:ln>
            <a:solidFill>
              <a:srgbClr val="24323E"/>
            </a:solidFill>
            <a:tailEnd type="triangle"/>
          </a:ln>
        </p:spPr>
        <p:style>
          <a:lnRef idx="2">
            <a:schemeClr val="accent2"/>
          </a:lnRef>
          <a:fillRef idx="0">
            <a:schemeClr val="accent2"/>
          </a:fillRef>
          <a:effectRef idx="1">
            <a:schemeClr val="accent2"/>
          </a:effectRef>
          <a:fontRef idx="minor">
            <a:schemeClr val="tx1"/>
          </a:fontRef>
        </p:style>
      </p:cxnSp>
    </p:spTree>
    <p:extLst>
      <p:ext uri="{BB962C8B-B14F-4D97-AF65-F5344CB8AC3E}">
        <p14:creationId xmlns:p14="http://schemas.microsoft.com/office/powerpoint/2010/main" val="366588731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6CB062-C5C1-72B2-60B9-F5C1C0EB7FEF}"/>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5947C414-3B1D-08AD-58F0-00941E1265BA}"/>
              </a:ext>
            </a:extLst>
          </p:cNvPr>
          <p:cNvPicPr>
            <a:picLocks noGrp="1" noRot="1" noMove="1" noResize="1" noEditPoints="1" noAdjustHandles="1" noChangeArrowheads="1" noChangeShapeType="1" noCrop="1"/>
          </p:cNvPicPr>
          <p:nvPr/>
        </p:nvPicPr>
        <p:blipFill rotWithShape="1">
          <a:blip r:embed="rId3">
            <a:alphaModFix amt="10000"/>
            <a:extLst>
              <a:ext uri="{28A0092B-C50C-407E-A947-70E740481C1C}">
                <a14:useLocalDpi xmlns:a14="http://schemas.microsoft.com/office/drawing/2010/main" val="0"/>
              </a:ext>
            </a:extLst>
          </a:blip>
          <a:srcRect r="12168" b="16493"/>
          <a:stretch>
            <a:fillRect/>
          </a:stretch>
        </p:blipFill>
        <p:spPr bwMode="auto">
          <a:xfrm>
            <a:off x="6656439" y="1690688"/>
            <a:ext cx="5535561" cy="5167312"/>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descr="A black background with blue text&#10;&#10;AI-generated content may be incorrect.">
            <a:extLst>
              <a:ext uri="{FF2B5EF4-FFF2-40B4-BE49-F238E27FC236}">
                <a16:creationId xmlns:a16="http://schemas.microsoft.com/office/drawing/2014/main" id="{91BCA433-947C-9A45-AFE5-57CAFCCC28F2}"/>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82453" y="6025142"/>
            <a:ext cx="3141061" cy="634838"/>
          </a:xfrm>
          <a:prstGeom prst="rect">
            <a:avLst/>
          </a:prstGeom>
        </p:spPr>
      </p:pic>
      <p:pic>
        <p:nvPicPr>
          <p:cNvPr id="8" name="Picture 7">
            <a:extLst>
              <a:ext uri="{FF2B5EF4-FFF2-40B4-BE49-F238E27FC236}">
                <a16:creationId xmlns:a16="http://schemas.microsoft.com/office/drawing/2014/main" id="{390587D4-CDB5-69ED-3890-C0D03AF8AA2C}"/>
              </a:ext>
            </a:extLst>
          </p:cNvPr>
          <p:cNvPicPr>
            <a:picLocks noChangeAspect="1"/>
          </p:cNvPicPr>
          <p:nvPr/>
        </p:nvPicPr>
        <p:blipFill>
          <a:blip r:embed="rId5"/>
          <a:stretch>
            <a:fillRect/>
          </a:stretch>
        </p:blipFill>
        <p:spPr>
          <a:xfrm>
            <a:off x="2413649" y="1207478"/>
            <a:ext cx="7294724" cy="5638800"/>
          </a:xfrm>
          <a:prstGeom prst="rect">
            <a:avLst/>
          </a:prstGeom>
        </p:spPr>
      </p:pic>
      <p:sp>
        <p:nvSpPr>
          <p:cNvPr id="10" name="Title 1">
            <a:extLst>
              <a:ext uri="{FF2B5EF4-FFF2-40B4-BE49-F238E27FC236}">
                <a16:creationId xmlns:a16="http://schemas.microsoft.com/office/drawing/2014/main" id="{E44E0040-8C75-7015-AF0A-32030D5B88AA}"/>
              </a:ext>
            </a:extLst>
          </p:cNvPr>
          <p:cNvSpPr>
            <a:spLocks noGrp="1"/>
          </p:cNvSpPr>
          <p:nvPr>
            <p:ph type="title"/>
          </p:nvPr>
        </p:nvSpPr>
        <p:spPr>
          <a:xfrm>
            <a:off x="838200" y="180174"/>
            <a:ext cx="10515600" cy="1325563"/>
          </a:xfrm>
        </p:spPr>
        <p:txBody>
          <a:bodyPr>
            <a:normAutofit/>
          </a:bodyPr>
          <a:lstStyle/>
          <a:p>
            <a:r>
              <a:rPr lang="en-US" altLang="zh-CN" b="1" dirty="0" err="1">
                <a:solidFill>
                  <a:srgbClr val="24323E"/>
                </a:solidFill>
              </a:rPr>
              <a:t>MeshGPT</a:t>
            </a:r>
            <a:r>
              <a:rPr lang="en-US" altLang="zh-CN" b="1" dirty="0">
                <a:solidFill>
                  <a:srgbClr val="24323E"/>
                </a:solidFill>
              </a:rPr>
              <a:t> Findings(WIP)</a:t>
            </a:r>
            <a:endParaRPr lang="zh-CN" altLang="en-US" b="1" dirty="0">
              <a:solidFill>
                <a:srgbClr val="24323E"/>
              </a:solidFill>
            </a:endParaRPr>
          </a:p>
        </p:txBody>
      </p:sp>
      <p:sp>
        <p:nvSpPr>
          <p:cNvPr id="12" name="Content Placeholder 2">
            <a:extLst>
              <a:ext uri="{FF2B5EF4-FFF2-40B4-BE49-F238E27FC236}">
                <a16:creationId xmlns:a16="http://schemas.microsoft.com/office/drawing/2014/main" id="{FB2FA6C1-253D-98D6-8BB2-FFF4D74C04CB}"/>
              </a:ext>
            </a:extLst>
          </p:cNvPr>
          <p:cNvSpPr txBox="1">
            <a:spLocks/>
          </p:cNvSpPr>
          <p:nvPr/>
        </p:nvSpPr>
        <p:spPr>
          <a:xfrm>
            <a:off x="10392508" y="3015313"/>
            <a:ext cx="1652527" cy="1582724"/>
          </a:xfrm>
          <a:prstGeom prst="rect">
            <a:avLst/>
          </a:prstGeom>
          <a:solidFill>
            <a:schemeClr val="bg2"/>
          </a:solidFill>
        </p:spPr>
        <p:txBody>
          <a:bodyPr vert="horz" lIns="91440" tIns="45720" rIns="91440" bIns="45720" rtlCol="0">
            <a:normAutofit fontScale="850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en-US" altLang="zh-CN" sz="1800" b="1" i="1" dirty="0">
                <a:solidFill>
                  <a:srgbClr val="24323E"/>
                </a:solidFill>
              </a:rPr>
              <a:t>Attention Head Preferences</a:t>
            </a:r>
          </a:p>
          <a:p>
            <a:pPr marL="0" indent="0" algn="ctr">
              <a:buFont typeface="Arial" panose="020B0604020202020204" pitchFamily="34" charset="0"/>
              <a:buNone/>
            </a:pPr>
            <a:endParaRPr lang="en-US" altLang="zh-CN" sz="1800" i="1" dirty="0">
              <a:solidFill>
                <a:srgbClr val="24323E"/>
              </a:solidFill>
            </a:endParaRPr>
          </a:p>
          <a:p>
            <a:pPr marL="0" indent="0" algn="ctr">
              <a:buFont typeface="Arial" panose="020B0604020202020204" pitchFamily="34" charset="0"/>
              <a:buNone/>
            </a:pPr>
            <a:r>
              <a:rPr lang="en-US" altLang="zh-CN" sz="1800" i="1" dirty="0">
                <a:solidFill>
                  <a:srgbClr val="24323E"/>
                </a:solidFill>
              </a:rPr>
              <a:t>&gt;1 means favor</a:t>
            </a:r>
          </a:p>
          <a:p>
            <a:pPr marL="0" indent="0" algn="ctr">
              <a:buFont typeface="Arial" panose="020B0604020202020204" pitchFamily="34" charset="0"/>
              <a:buNone/>
            </a:pPr>
            <a:endParaRPr lang="en-US" altLang="zh-CN" sz="1800" i="1" dirty="0">
              <a:solidFill>
                <a:srgbClr val="24323E"/>
              </a:solidFill>
            </a:endParaRPr>
          </a:p>
          <a:p>
            <a:pPr marL="0" indent="0" algn="ctr">
              <a:buFont typeface="Arial" panose="020B0604020202020204" pitchFamily="34" charset="0"/>
              <a:buNone/>
            </a:pPr>
            <a:r>
              <a:rPr lang="en-US" altLang="zh-CN" sz="1800" i="1" dirty="0">
                <a:solidFill>
                  <a:srgbClr val="24323E"/>
                </a:solidFill>
              </a:rPr>
              <a:t>1&lt; means avoid</a:t>
            </a:r>
          </a:p>
        </p:txBody>
      </p:sp>
      <p:sp>
        <p:nvSpPr>
          <p:cNvPr id="3" name="Content Placeholder 2">
            <a:extLst>
              <a:ext uri="{FF2B5EF4-FFF2-40B4-BE49-F238E27FC236}">
                <a16:creationId xmlns:a16="http://schemas.microsoft.com/office/drawing/2014/main" id="{83C28DFA-4920-ED93-BB2E-982FCFEE8AE3}"/>
              </a:ext>
            </a:extLst>
          </p:cNvPr>
          <p:cNvSpPr txBox="1">
            <a:spLocks/>
          </p:cNvSpPr>
          <p:nvPr/>
        </p:nvSpPr>
        <p:spPr>
          <a:xfrm>
            <a:off x="223350" y="3706435"/>
            <a:ext cx="1652527" cy="724702"/>
          </a:xfrm>
          <a:prstGeom prst="rect">
            <a:avLst/>
          </a:prstGeom>
          <a:solidFill>
            <a:schemeClr val="bg2"/>
          </a:solidFill>
        </p:spPr>
        <p:txBody>
          <a:bodyPr vert="horz" lIns="91440" tIns="45720" rIns="91440" bIns="45720" rtlCol="0" anchor="ctr">
            <a:normAutofit fontScale="92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en-US" altLang="zh-CN" sz="1400" i="1" dirty="0">
                <a:solidFill>
                  <a:srgbClr val="24323E"/>
                </a:solidFill>
              </a:rPr>
              <a:t>Head 12 strongly favors </a:t>
            </a:r>
            <a:r>
              <a:rPr lang="en-US" altLang="zh-CN" sz="1400" b="1" i="1" dirty="0">
                <a:solidFill>
                  <a:srgbClr val="24323E"/>
                </a:solidFill>
              </a:rPr>
              <a:t>Thin &amp; Elongated</a:t>
            </a:r>
            <a:r>
              <a:rPr lang="en-US" altLang="zh-CN" sz="1400" i="1" dirty="0">
                <a:solidFill>
                  <a:srgbClr val="24323E"/>
                </a:solidFill>
              </a:rPr>
              <a:t> Triangles at Layer 3</a:t>
            </a:r>
          </a:p>
        </p:txBody>
      </p:sp>
      <p:cxnSp>
        <p:nvCxnSpPr>
          <p:cNvPr id="6" name="Straight Arrow Connector 5">
            <a:extLst>
              <a:ext uri="{FF2B5EF4-FFF2-40B4-BE49-F238E27FC236}">
                <a16:creationId xmlns:a16="http://schemas.microsoft.com/office/drawing/2014/main" id="{09789916-19B8-AB29-E05F-4F0E4D15E8D3}"/>
              </a:ext>
            </a:extLst>
          </p:cNvPr>
          <p:cNvCxnSpPr>
            <a:cxnSpLocks/>
            <a:stCxn id="3" idx="3"/>
          </p:cNvCxnSpPr>
          <p:nvPr/>
        </p:nvCxnSpPr>
        <p:spPr>
          <a:xfrm flipV="1">
            <a:off x="1875877" y="3354779"/>
            <a:ext cx="1942040" cy="714007"/>
          </a:xfrm>
          <a:prstGeom prst="straightConnector1">
            <a:avLst/>
          </a:prstGeom>
          <a:ln>
            <a:solidFill>
              <a:srgbClr val="24323E"/>
            </a:solidFill>
            <a:tailEnd type="triangle"/>
          </a:ln>
        </p:spPr>
        <p:style>
          <a:lnRef idx="2">
            <a:schemeClr val="accent2"/>
          </a:lnRef>
          <a:fillRef idx="0">
            <a:schemeClr val="accent2"/>
          </a:fillRef>
          <a:effectRef idx="1">
            <a:schemeClr val="accent2"/>
          </a:effectRef>
          <a:fontRef idx="minor">
            <a:schemeClr val="tx1"/>
          </a:fontRef>
        </p:style>
      </p:cxnSp>
      <p:cxnSp>
        <p:nvCxnSpPr>
          <p:cNvPr id="11" name="Straight Arrow Connector 10">
            <a:extLst>
              <a:ext uri="{FF2B5EF4-FFF2-40B4-BE49-F238E27FC236}">
                <a16:creationId xmlns:a16="http://schemas.microsoft.com/office/drawing/2014/main" id="{44319338-A4C3-0D7D-F275-9635DD5D91C5}"/>
              </a:ext>
            </a:extLst>
          </p:cNvPr>
          <p:cNvCxnSpPr>
            <a:cxnSpLocks/>
            <a:stCxn id="3" idx="3"/>
          </p:cNvCxnSpPr>
          <p:nvPr/>
        </p:nvCxnSpPr>
        <p:spPr>
          <a:xfrm flipV="1">
            <a:off x="1875877" y="3462093"/>
            <a:ext cx="2512055" cy="606693"/>
          </a:xfrm>
          <a:prstGeom prst="straightConnector1">
            <a:avLst/>
          </a:prstGeom>
          <a:ln>
            <a:solidFill>
              <a:srgbClr val="24323E"/>
            </a:solidFill>
            <a:tailEnd type="triangle"/>
          </a:ln>
        </p:spPr>
        <p:style>
          <a:lnRef idx="2">
            <a:schemeClr val="accent2"/>
          </a:lnRef>
          <a:fillRef idx="0">
            <a:schemeClr val="accent2"/>
          </a:fillRef>
          <a:effectRef idx="1">
            <a:schemeClr val="accent2"/>
          </a:effectRef>
          <a:fontRef idx="minor">
            <a:schemeClr val="tx1"/>
          </a:fontRef>
        </p:style>
      </p:cxnSp>
    </p:spTree>
    <p:extLst>
      <p:ext uri="{BB962C8B-B14F-4D97-AF65-F5344CB8AC3E}">
        <p14:creationId xmlns:p14="http://schemas.microsoft.com/office/powerpoint/2010/main" val="417857476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3DC1D3-F46F-4EC0-E9E0-FD29D162FE32}"/>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B7A239F4-5118-E49D-2103-FC750377D8B8}"/>
              </a:ext>
            </a:extLst>
          </p:cNvPr>
          <p:cNvPicPr>
            <a:picLocks noGrp="1" noRot="1" noMove="1" noResize="1" noEditPoints="1" noAdjustHandles="1" noChangeArrowheads="1" noChangeShapeType="1" noCrop="1"/>
          </p:cNvPicPr>
          <p:nvPr/>
        </p:nvPicPr>
        <p:blipFill rotWithShape="1">
          <a:blip r:embed="rId2">
            <a:alphaModFix amt="10000"/>
            <a:extLst>
              <a:ext uri="{28A0092B-C50C-407E-A947-70E740481C1C}">
                <a14:useLocalDpi xmlns:a14="http://schemas.microsoft.com/office/drawing/2010/main" val="0"/>
              </a:ext>
            </a:extLst>
          </a:blip>
          <a:srcRect r="12168" b="16493"/>
          <a:stretch>
            <a:fillRect/>
          </a:stretch>
        </p:blipFill>
        <p:spPr bwMode="auto">
          <a:xfrm>
            <a:off x="6656439" y="1690688"/>
            <a:ext cx="5535561" cy="5167312"/>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descr="A black background with blue text&#10;&#10;AI-generated content may be incorrect.">
            <a:extLst>
              <a:ext uri="{FF2B5EF4-FFF2-40B4-BE49-F238E27FC236}">
                <a16:creationId xmlns:a16="http://schemas.microsoft.com/office/drawing/2014/main" id="{4F1B78F7-542D-D2AD-70F7-A1C15ABEDA0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82453" y="6025142"/>
            <a:ext cx="3141061" cy="634838"/>
          </a:xfrm>
          <a:prstGeom prst="rect">
            <a:avLst/>
          </a:prstGeom>
        </p:spPr>
      </p:pic>
      <p:pic>
        <p:nvPicPr>
          <p:cNvPr id="3" name="Picture 2">
            <a:extLst>
              <a:ext uri="{FF2B5EF4-FFF2-40B4-BE49-F238E27FC236}">
                <a16:creationId xmlns:a16="http://schemas.microsoft.com/office/drawing/2014/main" id="{2E67F8F0-FF03-74A2-461E-F4B1D65E8418}"/>
              </a:ext>
            </a:extLst>
          </p:cNvPr>
          <p:cNvPicPr>
            <a:picLocks noChangeAspect="1"/>
          </p:cNvPicPr>
          <p:nvPr/>
        </p:nvPicPr>
        <p:blipFill>
          <a:blip r:embed="rId4"/>
          <a:stretch>
            <a:fillRect/>
          </a:stretch>
        </p:blipFill>
        <p:spPr>
          <a:xfrm>
            <a:off x="2708029" y="1156390"/>
            <a:ext cx="6213233" cy="5701610"/>
          </a:xfrm>
          <a:prstGeom prst="rect">
            <a:avLst/>
          </a:prstGeom>
        </p:spPr>
      </p:pic>
      <p:sp>
        <p:nvSpPr>
          <p:cNvPr id="10" name="Title 1">
            <a:extLst>
              <a:ext uri="{FF2B5EF4-FFF2-40B4-BE49-F238E27FC236}">
                <a16:creationId xmlns:a16="http://schemas.microsoft.com/office/drawing/2014/main" id="{A32AEAB8-0299-F06A-2BA5-BE59B7A82DF4}"/>
              </a:ext>
            </a:extLst>
          </p:cNvPr>
          <p:cNvSpPr>
            <a:spLocks noGrp="1"/>
          </p:cNvSpPr>
          <p:nvPr>
            <p:ph type="title"/>
          </p:nvPr>
        </p:nvSpPr>
        <p:spPr>
          <a:xfrm>
            <a:off x="838200" y="180174"/>
            <a:ext cx="10515600" cy="1325563"/>
          </a:xfrm>
        </p:spPr>
        <p:txBody>
          <a:bodyPr>
            <a:normAutofit/>
          </a:bodyPr>
          <a:lstStyle/>
          <a:p>
            <a:r>
              <a:rPr lang="en-US" altLang="zh-CN" b="1" dirty="0" err="1">
                <a:solidFill>
                  <a:srgbClr val="24323E"/>
                </a:solidFill>
              </a:rPr>
              <a:t>MeshXL</a:t>
            </a:r>
            <a:r>
              <a:rPr lang="en-US" altLang="zh-CN" b="1" dirty="0">
                <a:solidFill>
                  <a:srgbClr val="24323E"/>
                </a:solidFill>
              </a:rPr>
              <a:t> Findings (WIP)</a:t>
            </a:r>
            <a:endParaRPr lang="zh-CN" altLang="en-US" b="1" dirty="0">
              <a:solidFill>
                <a:srgbClr val="24323E"/>
              </a:solidFill>
            </a:endParaRPr>
          </a:p>
        </p:txBody>
      </p:sp>
      <p:sp>
        <p:nvSpPr>
          <p:cNvPr id="12" name="Content Placeholder 2">
            <a:extLst>
              <a:ext uri="{FF2B5EF4-FFF2-40B4-BE49-F238E27FC236}">
                <a16:creationId xmlns:a16="http://schemas.microsoft.com/office/drawing/2014/main" id="{F093A4B3-6B58-E45D-48F8-5BB1CD0B8958}"/>
              </a:ext>
            </a:extLst>
          </p:cNvPr>
          <p:cNvSpPr txBox="1">
            <a:spLocks/>
          </p:cNvSpPr>
          <p:nvPr/>
        </p:nvSpPr>
        <p:spPr>
          <a:xfrm>
            <a:off x="10392508" y="3015313"/>
            <a:ext cx="1652527" cy="1582724"/>
          </a:xfrm>
          <a:prstGeom prst="rect">
            <a:avLst/>
          </a:prstGeom>
          <a:solidFill>
            <a:schemeClr val="bg2"/>
          </a:solidFill>
        </p:spPr>
        <p:txBody>
          <a:bodyPr vert="horz" lIns="91440" tIns="45720" rIns="91440" bIns="45720" rtlCol="0">
            <a:normAutofit fontScale="850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en-US" altLang="zh-CN" sz="1800" b="1" i="1" dirty="0">
                <a:solidFill>
                  <a:srgbClr val="24323E"/>
                </a:solidFill>
              </a:rPr>
              <a:t>Attention Head Preferences</a:t>
            </a:r>
          </a:p>
          <a:p>
            <a:pPr marL="0" indent="0" algn="ctr">
              <a:buFont typeface="Arial" panose="020B0604020202020204" pitchFamily="34" charset="0"/>
              <a:buNone/>
            </a:pPr>
            <a:endParaRPr lang="en-US" altLang="zh-CN" sz="1800" i="1" dirty="0">
              <a:solidFill>
                <a:srgbClr val="24323E"/>
              </a:solidFill>
            </a:endParaRPr>
          </a:p>
          <a:p>
            <a:pPr marL="0" indent="0" algn="ctr">
              <a:buFont typeface="Arial" panose="020B0604020202020204" pitchFamily="34" charset="0"/>
              <a:buNone/>
            </a:pPr>
            <a:r>
              <a:rPr lang="en-US" altLang="zh-CN" sz="1800" i="1" dirty="0">
                <a:solidFill>
                  <a:srgbClr val="24323E"/>
                </a:solidFill>
              </a:rPr>
              <a:t>&gt;1 means favor</a:t>
            </a:r>
          </a:p>
          <a:p>
            <a:pPr marL="0" indent="0" algn="ctr">
              <a:buFont typeface="Arial" panose="020B0604020202020204" pitchFamily="34" charset="0"/>
              <a:buNone/>
            </a:pPr>
            <a:endParaRPr lang="en-US" altLang="zh-CN" sz="1800" i="1" dirty="0">
              <a:solidFill>
                <a:srgbClr val="24323E"/>
              </a:solidFill>
            </a:endParaRPr>
          </a:p>
          <a:p>
            <a:pPr marL="0" indent="0" algn="ctr">
              <a:buFont typeface="Arial" panose="020B0604020202020204" pitchFamily="34" charset="0"/>
              <a:buNone/>
            </a:pPr>
            <a:r>
              <a:rPr lang="en-US" altLang="zh-CN" sz="1800" i="1" dirty="0">
                <a:solidFill>
                  <a:srgbClr val="24323E"/>
                </a:solidFill>
              </a:rPr>
              <a:t>1&lt; means avoid</a:t>
            </a:r>
          </a:p>
        </p:txBody>
      </p:sp>
      <p:sp>
        <p:nvSpPr>
          <p:cNvPr id="2" name="Content Placeholder 2">
            <a:extLst>
              <a:ext uri="{FF2B5EF4-FFF2-40B4-BE49-F238E27FC236}">
                <a16:creationId xmlns:a16="http://schemas.microsoft.com/office/drawing/2014/main" id="{FB439890-E2D0-4BA0-A233-067D96CCC298}"/>
              </a:ext>
            </a:extLst>
          </p:cNvPr>
          <p:cNvSpPr txBox="1">
            <a:spLocks/>
          </p:cNvSpPr>
          <p:nvPr/>
        </p:nvSpPr>
        <p:spPr>
          <a:xfrm>
            <a:off x="223350" y="3706435"/>
            <a:ext cx="1652527" cy="724702"/>
          </a:xfrm>
          <a:prstGeom prst="rect">
            <a:avLst/>
          </a:prstGeom>
          <a:solidFill>
            <a:schemeClr val="bg2"/>
          </a:solidFill>
        </p:spPr>
        <p:txBody>
          <a:bodyPr vert="horz" lIns="91440" tIns="45720" rIns="91440" bIns="45720" rtlCol="0" anchor="ct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en-US" altLang="zh-CN" sz="1400" i="1" dirty="0">
                <a:solidFill>
                  <a:srgbClr val="24323E"/>
                </a:solidFill>
              </a:rPr>
              <a:t>Head 13 </a:t>
            </a:r>
            <a:r>
              <a:rPr lang="en-US" altLang="zh-CN" sz="1400" b="1" i="1" dirty="0">
                <a:solidFill>
                  <a:srgbClr val="24323E"/>
                </a:solidFill>
              </a:rPr>
              <a:t>Smaller Area </a:t>
            </a:r>
            <a:r>
              <a:rPr lang="en-US" altLang="zh-CN" sz="1400" i="1" dirty="0">
                <a:solidFill>
                  <a:srgbClr val="24323E"/>
                </a:solidFill>
              </a:rPr>
              <a:t>Triangles at Layer 12</a:t>
            </a:r>
          </a:p>
        </p:txBody>
      </p:sp>
      <p:cxnSp>
        <p:nvCxnSpPr>
          <p:cNvPr id="6" name="Straight Arrow Connector 5">
            <a:extLst>
              <a:ext uri="{FF2B5EF4-FFF2-40B4-BE49-F238E27FC236}">
                <a16:creationId xmlns:a16="http://schemas.microsoft.com/office/drawing/2014/main" id="{856DA272-90D9-BBCC-3552-B750E4310D9B}"/>
              </a:ext>
            </a:extLst>
          </p:cNvPr>
          <p:cNvCxnSpPr>
            <a:cxnSpLocks/>
            <a:stCxn id="2" idx="3"/>
          </p:cNvCxnSpPr>
          <p:nvPr/>
        </p:nvCxnSpPr>
        <p:spPr>
          <a:xfrm flipV="1">
            <a:off x="1875877" y="3194462"/>
            <a:ext cx="2957380" cy="874324"/>
          </a:xfrm>
          <a:prstGeom prst="straightConnector1">
            <a:avLst/>
          </a:prstGeom>
          <a:ln>
            <a:solidFill>
              <a:srgbClr val="24323E"/>
            </a:solidFill>
            <a:tailEnd type="triangle"/>
          </a:ln>
        </p:spPr>
        <p:style>
          <a:lnRef idx="2">
            <a:schemeClr val="accent2"/>
          </a:lnRef>
          <a:fillRef idx="0">
            <a:schemeClr val="accent2"/>
          </a:fillRef>
          <a:effectRef idx="1">
            <a:schemeClr val="accent2"/>
          </a:effectRef>
          <a:fontRef idx="minor">
            <a:schemeClr val="tx1"/>
          </a:fontRef>
        </p:style>
      </p:cxnSp>
      <p:sp>
        <p:nvSpPr>
          <p:cNvPr id="11" name="Content Placeholder 2">
            <a:extLst>
              <a:ext uri="{FF2B5EF4-FFF2-40B4-BE49-F238E27FC236}">
                <a16:creationId xmlns:a16="http://schemas.microsoft.com/office/drawing/2014/main" id="{8CC36BBB-F943-4D2D-8058-08A8B003D6E9}"/>
              </a:ext>
            </a:extLst>
          </p:cNvPr>
          <p:cNvSpPr txBox="1">
            <a:spLocks/>
          </p:cNvSpPr>
          <p:nvPr/>
        </p:nvSpPr>
        <p:spPr>
          <a:xfrm>
            <a:off x="970175" y="4684613"/>
            <a:ext cx="1652527" cy="724702"/>
          </a:xfrm>
          <a:prstGeom prst="rect">
            <a:avLst/>
          </a:prstGeom>
          <a:solidFill>
            <a:schemeClr val="bg2"/>
          </a:solidFill>
        </p:spPr>
        <p:txBody>
          <a:bodyPr vert="horz" lIns="91440" tIns="45720" rIns="91440" bIns="45720" rtlCol="0" anchor="ctr">
            <a:normAutofit fontScale="925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en-US" altLang="zh-CN" sz="1400" i="1" dirty="0">
                <a:solidFill>
                  <a:srgbClr val="24323E"/>
                </a:solidFill>
              </a:rPr>
              <a:t>Head 4, 8, 14 </a:t>
            </a:r>
            <a:r>
              <a:rPr lang="en-US" altLang="zh-CN" sz="1400" b="1" i="1" dirty="0">
                <a:solidFill>
                  <a:srgbClr val="24323E"/>
                </a:solidFill>
              </a:rPr>
              <a:t>Larger Area </a:t>
            </a:r>
            <a:r>
              <a:rPr lang="en-US" altLang="zh-CN" sz="1400" i="1" dirty="0">
                <a:solidFill>
                  <a:srgbClr val="24323E"/>
                </a:solidFill>
              </a:rPr>
              <a:t>Triangles at Layer 12</a:t>
            </a:r>
          </a:p>
        </p:txBody>
      </p:sp>
      <p:cxnSp>
        <p:nvCxnSpPr>
          <p:cNvPr id="13" name="Straight Arrow Connector 12">
            <a:extLst>
              <a:ext uri="{FF2B5EF4-FFF2-40B4-BE49-F238E27FC236}">
                <a16:creationId xmlns:a16="http://schemas.microsoft.com/office/drawing/2014/main" id="{19BA3F69-12BF-79BE-87C5-A7F9E7DFEB15}"/>
              </a:ext>
            </a:extLst>
          </p:cNvPr>
          <p:cNvCxnSpPr>
            <a:cxnSpLocks/>
            <a:stCxn id="11" idx="3"/>
          </p:cNvCxnSpPr>
          <p:nvPr/>
        </p:nvCxnSpPr>
        <p:spPr>
          <a:xfrm flipV="1">
            <a:off x="2622702" y="4684613"/>
            <a:ext cx="3473298" cy="362351"/>
          </a:xfrm>
          <a:prstGeom prst="straightConnector1">
            <a:avLst/>
          </a:prstGeom>
          <a:ln>
            <a:solidFill>
              <a:srgbClr val="24323E"/>
            </a:solidFill>
            <a:tailEnd type="triangle"/>
          </a:ln>
        </p:spPr>
        <p:style>
          <a:lnRef idx="2">
            <a:schemeClr val="accent2"/>
          </a:lnRef>
          <a:fillRef idx="0">
            <a:schemeClr val="accent2"/>
          </a:fillRef>
          <a:effectRef idx="1">
            <a:schemeClr val="accent2"/>
          </a:effectRef>
          <a:fontRef idx="minor">
            <a:schemeClr val="tx1"/>
          </a:fontRef>
        </p:style>
      </p:cxnSp>
      <p:cxnSp>
        <p:nvCxnSpPr>
          <p:cNvPr id="16" name="Straight Arrow Connector 15">
            <a:extLst>
              <a:ext uri="{FF2B5EF4-FFF2-40B4-BE49-F238E27FC236}">
                <a16:creationId xmlns:a16="http://schemas.microsoft.com/office/drawing/2014/main" id="{312BB52B-680A-DC98-732A-4DD5EED59225}"/>
              </a:ext>
            </a:extLst>
          </p:cNvPr>
          <p:cNvCxnSpPr>
            <a:cxnSpLocks/>
            <a:stCxn id="11" idx="3"/>
          </p:cNvCxnSpPr>
          <p:nvPr/>
        </p:nvCxnSpPr>
        <p:spPr>
          <a:xfrm flipV="1">
            <a:off x="2622702" y="4928260"/>
            <a:ext cx="3427776" cy="118704"/>
          </a:xfrm>
          <a:prstGeom prst="straightConnector1">
            <a:avLst/>
          </a:prstGeom>
          <a:ln>
            <a:solidFill>
              <a:srgbClr val="24323E"/>
            </a:solidFill>
            <a:tailEnd type="triangle"/>
          </a:ln>
        </p:spPr>
        <p:style>
          <a:lnRef idx="2">
            <a:schemeClr val="accent2"/>
          </a:lnRef>
          <a:fillRef idx="0">
            <a:schemeClr val="accent2"/>
          </a:fillRef>
          <a:effectRef idx="1">
            <a:schemeClr val="accent2"/>
          </a:effectRef>
          <a:fontRef idx="minor">
            <a:schemeClr val="tx1"/>
          </a:fontRef>
        </p:style>
      </p:cxnSp>
      <p:cxnSp>
        <p:nvCxnSpPr>
          <p:cNvPr id="19" name="Straight Arrow Connector 18">
            <a:extLst>
              <a:ext uri="{FF2B5EF4-FFF2-40B4-BE49-F238E27FC236}">
                <a16:creationId xmlns:a16="http://schemas.microsoft.com/office/drawing/2014/main" id="{38FC4A82-DD26-0A47-BBD8-724AEAA6B8B4}"/>
              </a:ext>
            </a:extLst>
          </p:cNvPr>
          <p:cNvCxnSpPr>
            <a:cxnSpLocks/>
            <a:stCxn id="11" idx="3"/>
          </p:cNvCxnSpPr>
          <p:nvPr/>
        </p:nvCxnSpPr>
        <p:spPr>
          <a:xfrm>
            <a:off x="2622702" y="5046964"/>
            <a:ext cx="3427776" cy="253476"/>
          </a:xfrm>
          <a:prstGeom prst="straightConnector1">
            <a:avLst/>
          </a:prstGeom>
          <a:ln>
            <a:solidFill>
              <a:srgbClr val="24323E"/>
            </a:solidFill>
            <a:tailEnd type="triangle"/>
          </a:ln>
        </p:spPr>
        <p:style>
          <a:lnRef idx="2">
            <a:schemeClr val="accent2"/>
          </a:lnRef>
          <a:fillRef idx="0">
            <a:schemeClr val="accent2"/>
          </a:fillRef>
          <a:effectRef idx="1">
            <a:schemeClr val="accent2"/>
          </a:effectRef>
          <a:fontRef idx="minor">
            <a:schemeClr val="tx1"/>
          </a:fontRef>
        </p:style>
      </p:cxnSp>
      <p:sp>
        <p:nvSpPr>
          <p:cNvPr id="23" name="Content Placeholder 2">
            <a:extLst>
              <a:ext uri="{FF2B5EF4-FFF2-40B4-BE49-F238E27FC236}">
                <a16:creationId xmlns:a16="http://schemas.microsoft.com/office/drawing/2014/main" id="{04399A3B-E58B-E388-A266-EAC83997D92B}"/>
              </a:ext>
            </a:extLst>
          </p:cNvPr>
          <p:cNvSpPr txBox="1">
            <a:spLocks/>
          </p:cNvSpPr>
          <p:nvPr/>
        </p:nvSpPr>
        <p:spPr>
          <a:xfrm>
            <a:off x="9227127" y="2008122"/>
            <a:ext cx="1431989" cy="724702"/>
          </a:xfrm>
          <a:prstGeom prst="rect">
            <a:avLst/>
          </a:prstGeom>
          <a:solidFill>
            <a:schemeClr val="bg2"/>
          </a:solidFill>
        </p:spPr>
        <p:txBody>
          <a:bodyPr vert="horz" lIns="91440" tIns="45720" rIns="91440" bIns="45720" rtlCol="0" anchor="ct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en-US" altLang="zh-CN" sz="1400" i="1" dirty="0">
                <a:solidFill>
                  <a:srgbClr val="24323E"/>
                </a:solidFill>
              </a:rPr>
              <a:t>Varying facing orientation tendencies </a:t>
            </a:r>
          </a:p>
        </p:txBody>
      </p:sp>
      <p:cxnSp>
        <p:nvCxnSpPr>
          <p:cNvPr id="24" name="Straight Arrow Connector 23">
            <a:extLst>
              <a:ext uri="{FF2B5EF4-FFF2-40B4-BE49-F238E27FC236}">
                <a16:creationId xmlns:a16="http://schemas.microsoft.com/office/drawing/2014/main" id="{5AB66EA5-2730-88BE-6B70-B0E8C967C232}"/>
              </a:ext>
            </a:extLst>
          </p:cNvPr>
          <p:cNvCxnSpPr>
            <a:cxnSpLocks/>
            <a:stCxn id="23" idx="1"/>
          </p:cNvCxnSpPr>
          <p:nvPr/>
        </p:nvCxnSpPr>
        <p:spPr>
          <a:xfrm flipH="1">
            <a:off x="8342416" y="2370473"/>
            <a:ext cx="884711" cy="467730"/>
          </a:xfrm>
          <a:prstGeom prst="straightConnector1">
            <a:avLst/>
          </a:prstGeom>
          <a:ln>
            <a:solidFill>
              <a:srgbClr val="24323E"/>
            </a:solidFill>
            <a:tailEnd type="triangle"/>
          </a:ln>
        </p:spPr>
        <p:style>
          <a:lnRef idx="2">
            <a:schemeClr val="accent2"/>
          </a:lnRef>
          <a:fillRef idx="0">
            <a:schemeClr val="accent2"/>
          </a:fillRef>
          <a:effectRef idx="1">
            <a:schemeClr val="accent2"/>
          </a:effectRef>
          <a:fontRef idx="minor">
            <a:schemeClr val="tx1"/>
          </a:fontRef>
        </p:style>
      </p:cxnSp>
      <p:cxnSp>
        <p:nvCxnSpPr>
          <p:cNvPr id="27" name="Straight Arrow Connector 26">
            <a:extLst>
              <a:ext uri="{FF2B5EF4-FFF2-40B4-BE49-F238E27FC236}">
                <a16:creationId xmlns:a16="http://schemas.microsoft.com/office/drawing/2014/main" id="{4B0C3D1C-C07E-7FDF-3158-7CF2EC54CCF7}"/>
              </a:ext>
            </a:extLst>
          </p:cNvPr>
          <p:cNvCxnSpPr>
            <a:cxnSpLocks/>
            <a:stCxn id="23" idx="1"/>
          </p:cNvCxnSpPr>
          <p:nvPr/>
        </p:nvCxnSpPr>
        <p:spPr>
          <a:xfrm flipH="1">
            <a:off x="8342416" y="2370473"/>
            <a:ext cx="884711" cy="1058527"/>
          </a:xfrm>
          <a:prstGeom prst="straightConnector1">
            <a:avLst/>
          </a:prstGeom>
          <a:ln>
            <a:solidFill>
              <a:srgbClr val="24323E"/>
            </a:solidFill>
            <a:tailEnd type="triangle"/>
          </a:ln>
        </p:spPr>
        <p:style>
          <a:lnRef idx="2">
            <a:schemeClr val="accent2"/>
          </a:lnRef>
          <a:fillRef idx="0">
            <a:schemeClr val="accent2"/>
          </a:fillRef>
          <a:effectRef idx="1">
            <a:schemeClr val="accent2"/>
          </a:effectRef>
          <a:fontRef idx="minor">
            <a:schemeClr val="tx1"/>
          </a:fontRef>
        </p:style>
      </p:cxnSp>
    </p:spTree>
    <p:extLst>
      <p:ext uri="{BB962C8B-B14F-4D97-AF65-F5344CB8AC3E}">
        <p14:creationId xmlns:p14="http://schemas.microsoft.com/office/powerpoint/2010/main" val="62047083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EEDDB8-6B36-7AEF-2729-59BDE1F31471}"/>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05BFDFBA-0DCC-EE28-75A6-162196C42376}"/>
              </a:ext>
            </a:extLst>
          </p:cNvPr>
          <p:cNvPicPr>
            <a:picLocks noGrp="1" noRot="1" noMove="1" noResize="1" noEditPoints="1" noAdjustHandles="1" noChangeArrowheads="1" noChangeShapeType="1" noCrop="1"/>
          </p:cNvPicPr>
          <p:nvPr/>
        </p:nvPicPr>
        <p:blipFill rotWithShape="1">
          <a:blip r:embed="rId2">
            <a:alphaModFix amt="10000"/>
            <a:extLst>
              <a:ext uri="{28A0092B-C50C-407E-A947-70E740481C1C}">
                <a14:useLocalDpi xmlns:a14="http://schemas.microsoft.com/office/drawing/2010/main" val="0"/>
              </a:ext>
            </a:extLst>
          </a:blip>
          <a:srcRect r="12168" b="16493"/>
          <a:stretch>
            <a:fillRect/>
          </a:stretch>
        </p:blipFill>
        <p:spPr bwMode="auto">
          <a:xfrm>
            <a:off x="6656439" y="1690688"/>
            <a:ext cx="5535561" cy="5167312"/>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8C7BC06C-8868-5E81-86DD-479B9D796EAA}"/>
              </a:ext>
            </a:extLst>
          </p:cNvPr>
          <p:cNvSpPr>
            <a:spLocks noGrp="1"/>
          </p:cNvSpPr>
          <p:nvPr>
            <p:ph type="title"/>
          </p:nvPr>
        </p:nvSpPr>
        <p:spPr>
          <a:xfrm>
            <a:off x="838200" y="180174"/>
            <a:ext cx="10515600" cy="1325563"/>
          </a:xfrm>
        </p:spPr>
        <p:txBody>
          <a:bodyPr>
            <a:normAutofit/>
          </a:bodyPr>
          <a:lstStyle/>
          <a:p>
            <a:r>
              <a:rPr lang="en-US" altLang="zh-CN" b="1" dirty="0">
                <a:solidFill>
                  <a:srgbClr val="24323E"/>
                </a:solidFill>
              </a:rPr>
              <a:t>Extending the work</a:t>
            </a:r>
            <a:endParaRPr lang="zh-CN" altLang="en-US" b="1" dirty="0">
              <a:solidFill>
                <a:srgbClr val="24323E"/>
              </a:solidFill>
            </a:endParaRPr>
          </a:p>
        </p:txBody>
      </p:sp>
      <p:pic>
        <p:nvPicPr>
          <p:cNvPr id="5" name="Picture 4" descr="A black background with blue text&#10;&#10;AI-generated content may be incorrect.">
            <a:extLst>
              <a:ext uri="{FF2B5EF4-FFF2-40B4-BE49-F238E27FC236}">
                <a16:creationId xmlns:a16="http://schemas.microsoft.com/office/drawing/2014/main" id="{3D46A292-67BB-1B51-0D7F-1FF9F818227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82453" y="6025142"/>
            <a:ext cx="3141061" cy="634838"/>
          </a:xfrm>
          <a:prstGeom prst="rect">
            <a:avLst/>
          </a:prstGeom>
        </p:spPr>
      </p:pic>
      <p:cxnSp>
        <p:nvCxnSpPr>
          <p:cNvPr id="6" name="Straight Connector 5">
            <a:extLst>
              <a:ext uri="{FF2B5EF4-FFF2-40B4-BE49-F238E27FC236}">
                <a16:creationId xmlns:a16="http://schemas.microsoft.com/office/drawing/2014/main" id="{B1E0B3E3-8697-1A23-0A41-1BF981133226}"/>
              </a:ext>
            </a:extLst>
          </p:cNvPr>
          <p:cNvCxnSpPr/>
          <p:nvPr/>
        </p:nvCxnSpPr>
        <p:spPr>
          <a:xfrm>
            <a:off x="936346" y="1463041"/>
            <a:ext cx="804672" cy="0"/>
          </a:xfrm>
          <a:prstGeom prst="line">
            <a:avLst/>
          </a:prstGeom>
          <a:ln w="76200">
            <a:solidFill>
              <a:srgbClr val="E57200"/>
            </a:solidFill>
          </a:ln>
        </p:spPr>
        <p:style>
          <a:lnRef idx="3">
            <a:schemeClr val="dk1"/>
          </a:lnRef>
          <a:fillRef idx="0">
            <a:schemeClr val="dk1"/>
          </a:fillRef>
          <a:effectRef idx="2">
            <a:schemeClr val="dk1"/>
          </a:effectRef>
          <a:fontRef idx="minor">
            <a:schemeClr val="tx1"/>
          </a:fontRef>
        </p:style>
      </p:cxnSp>
      <p:sp>
        <p:nvSpPr>
          <p:cNvPr id="3" name="Content Placeholder 2">
            <a:extLst>
              <a:ext uri="{FF2B5EF4-FFF2-40B4-BE49-F238E27FC236}">
                <a16:creationId xmlns:a16="http://schemas.microsoft.com/office/drawing/2014/main" id="{0F3210CA-8B3C-8C05-F2C9-D9F1853E2266}"/>
              </a:ext>
            </a:extLst>
          </p:cNvPr>
          <p:cNvSpPr>
            <a:spLocks noGrp="1"/>
          </p:cNvSpPr>
          <p:nvPr>
            <p:ph idx="1"/>
          </p:nvPr>
        </p:nvSpPr>
        <p:spPr>
          <a:xfrm>
            <a:off x="376754" y="2117558"/>
            <a:ext cx="11438492" cy="3907583"/>
          </a:xfrm>
          <a:solidFill>
            <a:schemeClr val="bg2"/>
          </a:solidFill>
        </p:spPr>
        <p:txBody>
          <a:bodyPr>
            <a:normAutofit lnSpcReduction="10000"/>
          </a:bodyPr>
          <a:lstStyle/>
          <a:p>
            <a:pPr marL="457200" indent="-457200">
              <a:buAutoNum type="arabicPeriod"/>
            </a:pPr>
            <a:r>
              <a:rPr lang="en-US" altLang="zh-CN" sz="2400" b="1" dirty="0">
                <a:solidFill>
                  <a:srgbClr val="24323E"/>
                </a:solidFill>
              </a:rPr>
              <a:t>Fine-tune 3D generators to generate artist quality mesh </a:t>
            </a:r>
          </a:p>
          <a:p>
            <a:pPr lvl="1"/>
            <a:r>
              <a:rPr lang="en-US" altLang="zh-CN" sz="2000" dirty="0">
                <a:solidFill>
                  <a:srgbClr val="24323E"/>
                </a:solidFill>
              </a:rPr>
              <a:t>Amplify certain head behavior, injecting a prior/bias to certain heads to force them to produce consistent attention preference.</a:t>
            </a:r>
          </a:p>
          <a:p>
            <a:pPr marL="457200" indent="-457200">
              <a:buAutoNum type="arabicPeriod"/>
            </a:pPr>
            <a:r>
              <a:rPr lang="en-US" altLang="zh-CN" sz="2400" b="1" dirty="0">
                <a:solidFill>
                  <a:srgbClr val="24323E"/>
                </a:solidFill>
              </a:rPr>
              <a:t>Hard-coding programmable rules on attention heads</a:t>
            </a:r>
          </a:p>
          <a:p>
            <a:pPr lvl="1"/>
            <a:r>
              <a:rPr lang="en-US" altLang="zh-CN" sz="2000" dirty="0">
                <a:solidFill>
                  <a:srgbClr val="24323E"/>
                </a:solidFill>
              </a:rPr>
              <a:t>For heads that demonstrate consistent preference, hard-code their behavior into rules/policies to reduce computational expensiveness or potentially leading to better generation quality.</a:t>
            </a:r>
          </a:p>
          <a:p>
            <a:pPr marL="457200" indent="-457200">
              <a:buFont typeface="Arial" panose="020B0604020202020204" pitchFamily="34" charset="0"/>
              <a:buAutoNum type="arabicPeriod"/>
            </a:pPr>
            <a:r>
              <a:rPr lang="en-US" altLang="zh-CN" sz="2400" b="1" dirty="0">
                <a:solidFill>
                  <a:srgbClr val="24323E"/>
                </a:solidFill>
              </a:rPr>
              <a:t>The why question</a:t>
            </a:r>
          </a:p>
          <a:p>
            <a:pPr lvl="1"/>
            <a:r>
              <a:rPr lang="en-US" altLang="zh-CN" sz="2000" dirty="0">
                <a:solidFill>
                  <a:srgbClr val="24323E"/>
                </a:solidFill>
              </a:rPr>
              <a:t>Why does the model choose to attend to such features? </a:t>
            </a:r>
          </a:p>
          <a:p>
            <a:pPr marL="0" indent="0">
              <a:buNone/>
            </a:pPr>
            <a:r>
              <a:rPr lang="en-US" altLang="zh-CN" sz="2400" b="1" dirty="0">
                <a:solidFill>
                  <a:srgbClr val="24323E"/>
                </a:solidFill>
              </a:rPr>
              <a:t>Challenges</a:t>
            </a:r>
          </a:p>
          <a:p>
            <a:pPr lvl="1"/>
            <a:r>
              <a:rPr lang="en-US" altLang="zh-CN" sz="2000" dirty="0">
                <a:solidFill>
                  <a:srgbClr val="24323E"/>
                </a:solidFill>
              </a:rPr>
              <a:t>Retraining/fine-tuning can be computationally expensive</a:t>
            </a:r>
          </a:p>
          <a:p>
            <a:pPr lvl="1"/>
            <a:r>
              <a:rPr lang="en-US" altLang="zh-CN" sz="2000" dirty="0">
                <a:solidFill>
                  <a:srgbClr val="24323E"/>
                </a:solidFill>
              </a:rPr>
              <a:t>Uncertainty about which methods would be beneficial</a:t>
            </a:r>
          </a:p>
          <a:p>
            <a:pPr lvl="1"/>
            <a:endParaRPr lang="en-US" altLang="zh-CN" sz="1800" dirty="0">
              <a:solidFill>
                <a:srgbClr val="24323E"/>
              </a:solidFill>
            </a:endParaRPr>
          </a:p>
        </p:txBody>
      </p:sp>
      <p:sp>
        <p:nvSpPr>
          <p:cNvPr id="8" name="Rectangle 7">
            <a:extLst>
              <a:ext uri="{FF2B5EF4-FFF2-40B4-BE49-F238E27FC236}">
                <a16:creationId xmlns:a16="http://schemas.microsoft.com/office/drawing/2014/main" id="{6F3BD8DF-F44A-9734-CC3F-D00BB68F8C0F}"/>
              </a:ext>
            </a:extLst>
          </p:cNvPr>
          <p:cNvSpPr/>
          <p:nvPr/>
        </p:nvSpPr>
        <p:spPr>
          <a:xfrm>
            <a:off x="376754" y="1647993"/>
            <a:ext cx="11438492" cy="469565"/>
          </a:xfrm>
          <a:prstGeom prst="rect">
            <a:avLst/>
          </a:prstGeom>
          <a:solidFill>
            <a:srgbClr val="24323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b="1" dirty="0"/>
              <a:t>What’s next after this investigation? (Current Ideas)</a:t>
            </a:r>
          </a:p>
        </p:txBody>
      </p:sp>
    </p:spTree>
    <p:extLst>
      <p:ext uri="{BB962C8B-B14F-4D97-AF65-F5344CB8AC3E}">
        <p14:creationId xmlns:p14="http://schemas.microsoft.com/office/powerpoint/2010/main" val="93758612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541">
          <a:extLst>
            <a:ext uri="{FF2B5EF4-FFF2-40B4-BE49-F238E27FC236}">
              <a16:creationId xmlns:a16="http://schemas.microsoft.com/office/drawing/2014/main" id="{87DF1EA5-30C8-19F0-63C1-E4D5BAE7A937}"/>
            </a:ext>
          </a:extLst>
        </p:cNvPr>
        <p:cNvGrpSpPr/>
        <p:nvPr/>
      </p:nvGrpSpPr>
      <p:grpSpPr>
        <a:xfrm>
          <a:off x="0" y="0"/>
          <a:ext cx="0" cy="0"/>
          <a:chOff x="0" y="0"/>
          <a:chExt cx="0" cy="0"/>
        </a:xfrm>
      </p:grpSpPr>
      <p:pic>
        <p:nvPicPr>
          <p:cNvPr id="1542" name="Google Shape;1542;p47">
            <a:extLst>
              <a:ext uri="{FF2B5EF4-FFF2-40B4-BE49-F238E27FC236}">
                <a16:creationId xmlns:a16="http://schemas.microsoft.com/office/drawing/2014/main" id="{5DECE54F-BA50-4857-C38E-5C746BAAA7B9}"/>
              </a:ext>
            </a:extLst>
          </p:cNvPr>
          <p:cNvPicPr preferRelativeResize="0"/>
          <p:nvPr/>
        </p:nvPicPr>
        <p:blipFill rotWithShape="1">
          <a:blip r:embed="rId3">
            <a:alphaModFix/>
          </a:blip>
          <a:srcRect l="39782" t="50769"/>
          <a:stretch/>
        </p:blipFill>
        <p:spPr>
          <a:xfrm>
            <a:off x="1" y="32163"/>
            <a:ext cx="4542503" cy="3646184"/>
          </a:xfrm>
          <a:prstGeom prst="rect">
            <a:avLst/>
          </a:prstGeom>
          <a:noFill/>
          <a:ln>
            <a:noFill/>
          </a:ln>
        </p:spPr>
      </p:pic>
      <p:sp>
        <p:nvSpPr>
          <p:cNvPr id="1543" name="Google Shape;1543;p47">
            <a:extLst>
              <a:ext uri="{FF2B5EF4-FFF2-40B4-BE49-F238E27FC236}">
                <a16:creationId xmlns:a16="http://schemas.microsoft.com/office/drawing/2014/main" id="{A5C157EB-0C4D-8192-19B0-51AC09169CFF}"/>
              </a:ext>
            </a:extLst>
          </p:cNvPr>
          <p:cNvSpPr txBox="1">
            <a:spLocks noGrp="1"/>
          </p:cNvSpPr>
          <p:nvPr>
            <p:ph type="body" idx="1"/>
          </p:nvPr>
        </p:nvSpPr>
        <p:spPr>
          <a:xfrm>
            <a:off x="837744" y="3678346"/>
            <a:ext cx="5996505" cy="2346797"/>
          </a:xfrm>
          <a:prstGeom prst="rect">
            <a:avLst/>
          </a:prstGeom>
          <a:noFill/>
          <a:ln>
            <a:noFill/>
          </a:ln>
        </p:spPr>
        <p:txBody>
          <a:bodyPr spcFirstLastPara="1" vert="horz" wrap="square" lIns="91433" tIns="45700" rIns="91433" bIns="45700" rtlCol="0" anchor="t" anchorCtr="0">
            <a:normAutofit fontScale="92500" lnSpcReduction="10000"/>
          </a:bodyPr>
          <a:lstStyle/>
          <a:p>
            <a:pPr marL="342900" indent="-342900">
              <a:spcBef>
                <a:spcPts val="0"/>
              </a:spcBef>
              <a:buClr>
                <a:schemeClr val="dk2"/>
              </a:buClr>
              <a:buSzPts val="1800"/>
              <a:buFont typeface="Arial" panose="020B0604020202020204" pitchFamily="34" charset="0"/>
              <a:buChar char="•"/>
            </a:pPr>
            <a:r>
              <a:rPr lang="en-US" dirty="0">
                <a:solidFill>
                  <a:srgbClr val="24323E"/>
                </a:solidFill>
              </a:rPr>
              <a:t>4</a:t>
            </a:r>
            <a:r>
              <a:rPr lang="en-US" baseline="30000" dirty="0">
                <a:solidFill>
                  <a:srgbClr val="24323E"/>
                </a:solidFill>
              </a:rPr>
              <a:t>th</a:t>
            </a:r>
            <a:r>
              <a:rPr lang="en-US" dirty="0">
                <a:solidFill>
                  <a:srgbClr val="24323E"/>
                </a:solidFill>
              </a:rPr>
              <a:t> year UVA undergrad </a:t>
            </a:r>
          </a:p>
          <a:p>
            <a:pPr>
              <a:spcBef>
                <a:spcPts val="0"/>
              </a:spcBef>
              <a:buClr>
                <a:schemeClr val="dk2"/>
              </a:buClr>
              <a:buSzPts val="1800"/>
            </a:pPr>
            <a:endParaRPr lang="en-US" dirty="0">
              <a:solidFill>
                <a:srgbClr val="24323E"/>
              </a:solidFill>
            </a:endParaRPr>
          </a:p>
          <a:p>
            <a:pPr marL="342900" indent="-342900">
              <a:spcBef>
                <a:spcPts val="0"/>
              </a:spcBef>
              <a:buClr>
                <a:schemeClr val="dk2"/>
              </a:buClr>
              <a:buSzPts val="1800"/>
              <a:buFont typeface="Arial" panose="020B0604020202020204" pitchFamily="34" charset="0"/>
              <a:buChar char="•"/>
            </a:pPr>
            <a:r>
              <a:rPr lang="en-US" dirty="0">
                <a:solidFill>
                  <a:srgbClr val="24323E"/>
                </a:solidFill>
              </a:rPr>
              <a:t>B.S. in Data Science Major (ML concentration)</a:t>
            </a:r>
          </a:p>
          <a:p>
            <a:pPr marL="342900" indent="-342900">
              <a:spcBef>
                <a:spcPts val="0"/>
              </a:spcBef>
              <a:buClr>
                <a:schemeClr val="dk2"/>
              </a:buClr>
              <a:buSzPts val="1800"/>
              <a:buFont typeface="Arial" panose="020B0604020202020204" pitchFamily="34" charset="0"/>
              <a:buChar char="•"/>
            </a:pPr>
            <a:endParaRPr lang="en-US" dirty="0">
              <a:solidFill>
                <a:srgbClr val="24323E"/>
              </a:solidFill>
            </a:endParaRPr>
          </a:p>
          <a:p>
            <a:pPr marL="342900" indent="-342900">
              <a:spcBef>
                <a:spcPts val="0"/>
              </a:spcBef>
              <a:buClr>
                <a:schemeClr val="dk2"/>
              </a:buClr>
              <a:buSzPts val="1800"/>
              <a:buFont typeface="Arial" panose="020B0604020202020204" pitchFamily="34" charset="0"/>
              <a:buChar char="•"/>
            </a:pPr>
            <a:r>
              <a:rPr lang="en-US" dirty="0">
                <a:solidFill>
                  <a:srgbClr val="24323E"/>
                </a:solidFill>
              </a:rPr>
              <a:t>Pursuing Grad School Opportunities</a:t>
            </a:r>
          </a:p>
          <a:p>
            <a:pPr>
              <a:spcBef>
                <a:spcPts val="0"/>
              </a:spcBef>
              <a:buClr>
                <a:schemeClr val="dk2"/>
              </a:buClr>
              <a:buSzPts val="1800"/>
            </a:pPr>
            <a:endParaRPr lang="en-US" dirty="0">
              <a:solidFill>
                <a:srgbClr val="24323E"/>
              </a:solidFill>
            </a:endParaRPr>
          </a:p>
          <a:p>
            <a:pPr marL="342900" indent="-342900">
              <a:spcBef>
                <a:spcPts val="0"/>
              </a:spcBef>
              <a:buClr>
                <a:schemeClr val="dk2"/>
              </a:buClr>
              <a:buSzPts val="1800"/>
              <a:buFont typeface="Arial" panose="020B0604020202020204" pitchFamily="34" charset="0"/>
              <a:buChar char="•"/>
            </a:pPr>
            <a:r>
              <a:rPr lang="en-US" dirty="0">
                <a:solidFill>
                  <a:srgbClr val="24323E"/>
                </a:solidFill>
              </a:rPr>
              <a:t>Email: </a:t>
            </a:r>
            <a:r>
              <a:rPr lang="en-US" dirty="0">
                <a:solidFill>
                  <a:srgbClr val="24323E"/>
                </a:solidFill>
                <a:hlinkClick r:id="rId4"/>
              </a:rPr>
              <a:t>wkt7ne@virginia.edu</a:t>
            </a:r>
            <a:r>
              <a:rPr lang="en-US" dirty="0">
                <a:solidFill>
                  <a:srgbClr val="24323E"/>
                </a:solidFill>
              </a:rPr>
              <a:t> </a:t>
            </a:r>
          </a:p>
        </p:txBody>
      </p:sp>
      <p:pic>
        <p:nvPicPr>
          <p:cNvPr id="1544" name="Google Shape;1544;p47">
            <a:extLst>
              <a:ext uri="{FF2B5EF4-FFF2-40B4-BE49-F238E27FC236}">
                <a16:creationId xmlns:a16="http://schemas.microsoft.com/office/drawing/2014/main" id="{32787C43-4B32-A8B4-3CF5-02AA5C738C76}"/>
              </a:ext>
            </a:extLst>
          </p:cNvPr>
          <p:cNvPicPr preferRelativeResize="0"/>
          <p:nvPr/>
        </p:nvPicPr>
        <p:blipFill rotWithShape="1">
          <a:blip r:embed="rId5">
            <a:alphaModFix/>
          </a:blip>
          <a:srcRect t="1" r="36505" b="42239"/>
          <a:stretch/>
        </p:blipFill>
        <p:spPr>
          <a:xfrm>
            <a:off x="7443021" y="2616469"/>
            <a:ext cx="4748980" cy="4241531"/>
          </a:xfrm>
          <a:prstGeom prst="rect">
            <a:avLst/>
          </a:prstGeom>
          <a:noFill/>
          <a:ln>
            <a:noFill/>
          </a:ln>
        </p:spPr>
      </p:pic>
      <p:pic>
        <p:nvPicPr>
          <p:cNvPr id="1545" name="Google Shape;1545;p47" descr="A black background with blue text&#10;&#10;AI-generated content may be incorrect.">
            <a:extLst>
              <a:ext uri="{FF2B5EF4-FFF2-40B4-BE49-F238E27FC236}">
                <a16:creationId xmlns:a16="http://schemas.microsoft.com/office/drawing/2014/main" id="{0E6F67D2-4BEC-5731-CD5E-4EAB81F4D1D5}"/>
              </a:ext>
            </a:extLst>
          </p:cNvPr>
          <p:cNvPicPr preferRelativeResize="0"/>
          <p:nvPr/>
        </p:nvPicPr>
        <p:blipFill rotWithShape="1">
          <a:blip r:embed="rId6">
            <a:alphaModFix/>
          </a:blip>
          <a:srcRect/>
          <a:stretch/>
        </p:blipFill>
        <p:spPr>
          <a:xfrm>
            <a:off x="282454" y="6025143"/>
            <a:ext cx="3141061" cy="634839"/>
          </a:xfrm>
          <a:prstGeom prst="rect">
            <a:avLst/>
          </a:prstGeom>
          <a:noFill/>
          <a:ln>
            <a:noFill/>
          </a:ln>
        </p:spPr>
      </p:pic>
      <p:sp>
        <p:nvSpPr>
          <p:cNvPr id="1546" name="Google Shape;1546;p47">
            <a:extLst>
              <a:ext uri="{FF2B5EF4-FFF2-40B4-BE49-F238E27FC236}">
                <a16:creationId xmlns:a16="http://schemas.microsoft.com/office/drawing/2014/main" id="{DBE9295D-0CA4-A390-7FBF-E83AD0630ADD}"/>
              </a:ext>
            </a:extLst>
          </p:cNvPr>
          <p:cNvSpPr txBox="1">
            <a:spLocks noGrp="1"/>
          </p:cNvSpPr>
          <p:nvPr>
            <p:ph type="title"/>
          </p:nvPr>
        </p:nvSpPr>
        <p:spPr>
          <a:xfrm>
            <a:off x="825042" y="825610"/>
            <a:ext cx="7434923" cy="2852737"/>
          </a:xfrm>
          <a:prstGeom prst="rect">
            <a:avLst/>
          </a:prstGeom>
          <a:noFill/>
          <a:ln>
            <a:noFill/>
          </a:ln>
        </p:spPr>
        <p:txBody>
          <a:bodyPr spcFirstLastPara="1" vert="horz" wrap="square" lIns="91433" tIns="45700" rIns="91433" bIns="45700" rtlCol="0" anchor="b" anchorCtr="0">
            <a:normAutofit/>
          </a:bodyPr>
          <a:lstStyle/>
          <a:p>
            <a:pPr>
              <a:spcBef>
                <a:spcPts val="0"/>
              </a:spcBef>
              <a:buClr>
                <a:srgbClr val="24323E"/>
              </a:buClr>
              <a:buSzPts val="4100"/>
            </a:pPr>
            <a:r>
              <a:rPr lang="en-US" altLang="zh-CN" sz="5467" b="1" dirty="0">
                <a:solidFill>
                  <a:srgbClr val="24323E"/>
                </a:solidFill>
              </a:rPr>
              <a:t>Contact Info &amp; background </a:t>
            </a:r>
            <a:endParaRPr dirty="0"/>
          </a:p>
        </p:txBody>
      </p:sp>
      <p:pic>
        <p:nvPicPr>
          <p:cNvPr id="3" name="Picture 2">
            <a:extLst>
              <a:ext uri="{FF2B5EF4-FFF2-40B4-BE49-F238E27FC236}">
                <a16:creationId xmlns:a16="http://schemas.microsoft.com/office/drawing/2014/main" id="{F9131745-BD23-263D-6FB7-E39B00AF8302}"/>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7494082" y="1391773"/>
            <a:ext cx="3207251" cy="4276335"/>
          </a:xfrm>
          <a:prstGeom prst="rect">
            <a:avLst/>
          </a:prstGeom>
          <a:noFill/>
          <a:ln w="57150">
            <a:solidFill>
              <a:srgbClr val="000000"/>
            </a:solidFill>
          </a:ln>
        </p:spPr>
      </p:pic>
    </p:spTree>
    <p:extLst>
      <p:ext uri="{BB962C8B-B14F-4D97-AF65-F5344CB8AC3E}">
        <p14:creationId xmlns:p14="http://schemas.microsoft.com/office/powerpoint/2010/main" val="320685955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541">
          <a:extLst>
            <a:ext uri="{FF2B5EF4-FFF2-40B4-BE49-F238E27FC236}">
              <a16:creationId xmlns:a16="http://schemas.microsoft.com/office/drawing/2014/main" id="{87DF1EA5-30C8-19F0-63C1-E4D5BAE7A937}"/>
            </a:ext>
          </a:extLst>
        </p:cNvPr>
        <p:cNvGrpSpPr/>
        <p:nvPr/>
      </p:nvGrpSpPr>
      <p:grpSpPr>
        <a:xfrm>
          <a:off x="0" y="0"/>
          <a:ext cx="0" cy="0"/>
          <a:chOff x="0" y="0"/>
          <a:chExt cx="0" cy="0"/>
        </a:xfrm>
      </p:grpSpPr>
      <p:pic>
        <p:nvPicPr>
          <p:cNvPr id="1542" name="Google Shape;1542;p47">
            <a:extLst>
              <a:ext uri="{FF2B5EF4-FFF2-40B4-BE49-F238E27FC236}">
                <a16:creationId xmlns:a16="http://schemas.microsoft.com/office/drawing/2014/main" id="{5DECE54F-BA50-4857-C38E-5C746BAAA7B9}"/>
              </a:ext>
            </a:extLst>
          </p:cNvPr>
          <p:cNvPicPr preferRelativeResize="0"/>
          <p:nvPr/>
        </p:nvPicPr>
        <p:blipFill rotWithShape="1">
          <a:blip r:embed="rId3">
            <a:alphaModFix/>
          </a:blip>
          <a:srcRect l="39782" t="50769"/>
          <a:stretch/>
        </p:blipFill>
        <p:spPr>
          <a:xfrm>
            <a:off x="1" y="32163"/>
            <a:ext cx="4542503" cy="3646184"/>
          </a:xfrm>
          <a:prstGeom prst="rect">
            <a:avLst/>
          </a:prstGeom>
          <a:noFill/>
          <a:ln>
            <a:noFill/>
          </a:ln>
        </p:spPr>
      </p:pic>
      <p:sp>
        <p:nvSpPr>
          <p:cNvPr id="1543" name="Google Shape;1543;p47">
            <a:extLst>
              <a:ext uri="{FF2B5EF4-FFF2-40B4-BE49-F238E27FC236}">
                <a16:creationId xmlns:a16="http://schemas.microsoft.com/office/drawing/2014/main" id="{A5C157EB-0C4D-8192-19B0-51AC09169CFF}"/>
              </a:ext>
            </a:extLst>
          </p:cNvPr>
          <p:cNvSpPr txBox="1">
            <a:spLocks noGrp="1"/>
          </p:cNvSpPr>
          <p:nvPr>
            <p:ph type="body" idx="1"/>
          </p:nvPr>
        </p:nvSpPr>
        <p:spPr>
          <a:xfrm>
            <a:off x="844551" y="4579809"/>
            <a:ext cx="7105651" cy="1500187"/>
          </a:xfrm>
          <a:prstGeom prst="rect">
            <a:avLst/>
          </a:prstGeom>
          <a:noFill/>
          <a:ln>
            <a:noFill/>
          </a:ln>
        </p:spPr>
        <p:txBody>
          <a:bodyPr spcFirstLastPara="1" vert="horz" wrap="square" lIns="91433" tIns="45700" rIns="91433" bIns="45700" rtlCol="0" anchor="t" anchorCtr="0">
            <a:normAutofit/>
          </a:bodyPr>
          <a:lstStyle/>
          <a:p>
            <a:pPr>
              <a:spcBef>
                <a:spcPts val="0"/>
              </a:spcBef>
              <a:buClr>
                <a:schemeClr val="dk2"/>
              </a:buClr>
              <a:buSzPts val="1800"/>
            </a:pPr>
            <a:endParaRPr dirty="0"/>
          </a:p>
        </p:txBody>
      </p:sp>
      <p:pic>
        <p:nvPicPr>
          <p:cNvPr id="1544" name="Google Shape;1544;p47">
            <a:extLst>
              <a:ext uri="{FF2B5EF4-FFF2-40B4-BE49-F238E27FC236}">
                <a16:creationId xmlns:a16="http://schemas.microsoft.com/office/drawing/2014/main" id="{32787C43-4B32-A8B4-3CF5-02AA5C738C76}"/>
              </a:ext>
            </a:extLst>
          </p:cNvPr>
          <p:cNvPicPr preferRelativeResize="0"/>
          <p:nvPr/>
        </p:nvPicPr>
        <p:blipFill rotWithShape="1">
          <a:blip r:embed="rId4">
            <a:alphaModFix/>
          </a:blip>
          <a:srcRect t="1" r="36505" b="42239"/>
          <a:stretch/>
        </p:blipFill>
        <p:spPr>
          <a:xfrm>
            <a:off x="7443021" y="2616469"/>
            <a:ext cx="4748980" cy="4241531"/>
          </a:xfrm>
          <a:prstGeom prst="rect">
            <a:avLst/>
          </a:prstGeom>
          <a:noFill/>
          <a:ln>
            <a:noFill/>
          </a:ln>
        </p:spPr>
      </p:pic>
      <p:pic>
        <p:nvPicPr>
          <p:cNvPr id="1545" name="Google Shape;1545;p47" descr="A black background with blue text&#10;&#10;AI-generated content may be incorrect.">
            <a:extLst>
              <a:ext uri="{FF2B5EF4-FFF2-40B4-BE49-F238E27FC236}">
                <a16:creationId xmlns:a16="http://schemas.microsoft.com/office/drawing/2014/main" id="{0E6F67D2-4BEC-5731-CD5E-4EAB81F4D1D5}"/>
              </a:ext>
            </a:extLst>
          </p:cNvPr>
          <p:cNvPicPr preferRelativeResize="0"/>
          <p:nvPr/>
        </p:nvPicPr>
        <p:blipFill rotWithShape="1">
          <a:blip r:embed="rId5">
            <a:alphaModFix/>
          </a:blip>
          <a:srcRect/>
          <a:stretch/>
        </p:blipFill>
        <p:spPr>
          <a:xfrm>
            <a:off x="282454" y="6025143"/>
            <a:ext cx="3141061" cy="634839"/>
          </a:xfrm>
          <a:prstGeom prst="rect">
            <a:avLst/>
          </a:prstGeom>
          <a:noFill/>
          <a:ln>
            <a:noFill/>
          </a:ln>
        </p:spPr>
      </p:pic>
      <p:sp>
        <p:nvSpPr>
          <p:cNvPr id="1546" name="Google Shape;1546;p47">
            <a:extLst>
              <a:ext uri="{FF2B5EF4-FFF2-40B4-BE49-F238E27FC236}">
                <a16:creationId xmlns:a16="http://schemas.microsoft.com/office/drawing/2014/main" id="{DBE9295D-0CA4-A390-7FBF-E83AD0630ADD}"/>
              </a:ext>
            </a:extLst>
          </p:cNvPr>
          <p:cNvSpPr txBox="1">
            <a:spLocks noGrp="1"/>
          </p:cNvSpPr>
          <p:nvPr>
            <p:ph type="title"/>
          </p:nvPr>
        </p:nvSpPr>
        <p:spPr>
          <a:xfrm>
            <a:off x="831849" y="1727073"/>
            <a:ext cx="7434923" cy="2852737"/>
          </a:xfrm>
          <a:prstGeom prst="rect">
            <a:avLst/>
          </a:prstGeom>
          <a:noFill/>
          <a:ln>
            <a:noFill/>
          </a:ln>
        </p:spPr>
        <p:txBody>
          <a:bodyPr spcFirstLastPara="1" vert="horz" wrap="square" lIns="91433" tIns="45700" rIns="91433" bIns="45700" rtlCol="0" anchor="b" anchorCtr="0">
            <a:normAutofit/>
          </a:bodyPr>
          <a:lstStyle/>
          <a:p>
            <a:pPr>
              <a:spcBef>
                <a:spcPts val="0"/>
              </a:spcBef>
              <a:buClr>
                <a:srgbClr val="24323E"/>
              </a:buClr>
              <a:buSzPts val="4100"/>
            </a:pPr>
            <a:r>
              <a:rPr lang="en-US" sz="5467" b="1" dirty="0">
                <a:solidFill>
                  <a:srgbClr val="24323E"/>
                </a:solidFill>
              </a:rPr>
              <a:t>Thank you</a:t>
            </a:r>
            <a:endParaRPr dirty="0"/>
          </a:p>
        </p:txBody>
      </p:sp>
    </p:spTree>
    <p:extLst>
      <p:ext uri="{BB962C8B-B14F-4D97-AF65-F5344CB8AC3E}">
        <p14:creationId xmlns:p14="http://schemas.microsoft.com/office/powerpoint/2010/main" val="884468645"/>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等线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Theme</Template>
  <TotalTime>30464</TotalTime>
  <Words>931</Words>
  <Application>Microsoft Office PowerPoint</Application>
  <PresentationFormat>Widescreen</PresentationFormat>
  <Paragraphs>114</Paragraphs>
  <Slides>15</Slides>
  <Notes>6</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15</vt:i4>
      </vt:variant>
    </vt:vector>
  </HeadingPairs>
  <TitlesOfParts>
    <vt:vector size="21" baseType="lpstr">
      <vt:lpstr>等线</vt:lpstr>
      <vt:lpstr>Aptos</vt:lpstr>
      <vt:lpstr>Aptos Display</vt:lpstr>
      <vt:lpstr>Arial</vt:lpstr>
      <vt:lpstr>Franklin Gothic Book</vt:lpstr>
      <vt:lpstr>Office Theme</vt:lpstr>
      <vt:lpstr>Spatial AI Lab: Interpretation of 3D Autoregressive Transformers</vt:lpstr>
      <vt:lpstr>Research Proposal</vt:lpstr>
      <vt:lpstr>Research Proposal</vt:lpstr>
      <vt:lpstr>Experimental Method</vt:lpstr>
      <vt:lpstr>Experimental Method </vt:lpstr>
      <vt:lpstr>Experimental Method</vt:lpstr>
      <vt:lpstr>Experimental Method</vt:lpstr>
      <vt:lpstr>Current Findings (WIP)</vt:lpstr>
      <vt:lpstr>MeshMosaic Findings (WIP)</vt:lpstr>
      <vt:lpstr>DeepMesh Findings (WIP)</vt:lpstr>
      <vt:lpstr>MeshGPT Findings(WIP)</vt:lpstr>
      <vt:lpstr>MeshXL Findings (WIP)</vt:lpstr>
      <vt:lpstr>Extending the work</vt:lpstr>
      <vt:lpstr>Contact Info &amp; background </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Ethan Cao</dc:creator>
  <cp:lastModifiedBy>Ethan Cao</cp:lastModifiedBy>
  <cp:revision>61</cp:revision>
  <dcterms:created xsi:type="dcterms:W3CDTF">2025-08-28T03:00:50Z</dcterms:created>
  <dcterms:modified xsi:type="dcterms:W3CDTF">2026-10-13T01:36:40Z</dcterms:modified>
</cp:coreProperties>
</file>