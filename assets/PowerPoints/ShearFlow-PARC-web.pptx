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5"/>
  </p:notesMasterIdLst>
  <p:sldIdLst>
    <p:sldId id="258" r:id="rId2"/>
    <p:sldId id="259" r:id="rId3"/>
    <p:sldId id="262" r:id="rId4"/>
    <p:sldId id="263" r:id="rId5"/>
    <p:sldId id="267" r:id="rId6"/>
    <p:sldId id="265" r:id="rId7"/>
    <p:sldId id="264" r:id="rId8"/>
    <p:sldId id="324" r:id="rId9"/>
    <p:sldId id="266" r:id="rId10"/>
    <p:sldId id="268" r:id="rId11"/>
    <p:sldId id="269" r:id="rId12"/>
    <p:sldId id="271" r:id="rId13"/>
    <p:sldId id="273" r:id="rId14"/>
    <p:sldId id="274" r:id="rId15"/>
    <p:sldId id="276" r:id="rId16"/>
    <p:sldId id="309" r:id="rId17"/>
    <p:sldId id="277" r:id="rId18"/>
    <p:sldId id="303" r:id="rId19"/>
    <p:sldId id="285" r:id="rId20"/>
    <p:sldId id="286" r:id="rId21"/>
    <p:sldId id="287" r:id="rId22"/>
    <p:sldId id="289" r:id="rId23"/>
    <p:sldId id="288" r:id="rId24"/>
    <p:sldId id="350" r:id="rId25"/>
    <p:sldId id="308" r:id="rId26"/>
    <p:sldId id="349" r:id="rId27"/>
    <p:sldId id="290" r:id="rId28"/>
    <p:sldId id="339" r:id="rId29"/>
    <p:sldId id="334" r:id="rId30"/>
    <p:sldId id="333" r:id="rId31"/>
    <p:sldId id="335" r:id="rId32"/>
    <p:sldId id="336" r:id="rId33"/>
    <p:sldId id="338" r:id="rId34"/>
    <p:sldId id="337" r:id="rId35"/>
    <p:sldId id="356" r:id="rId36"/>
    <p:sldId id="347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8" r:id="rId45"/>
    <p:sldId id="355" r:id="rId46"/>
    <p:sldId id="325" r:id="rId47"/>
    <p:sldId id="351" r:id="rId48"/>
    <p:sldId id="352" r:id="rId49"/>
    <p:sldId id="353" r:id="rId50"/>
    <p:sldId id="354" r:id="rId51"/>
    <p:sldId id="296" r:id="rId52"/>
    <p:sldId id="357" r:id="rId53"/>
    <p:sldId id="297" r:id="rId54"/>
    <p:sldId id="300" r:id="rId55"/>
    <p:sldId id="318" r:id="rId56"/>
    <p:sldId id="319" r:id="rId57"/>
    <p:sldId id="327" r:id="rId58"/>
    <p:sldId id="314" r:id="rId59"/>
    <p:sldId id="315" r:id="rId60"/>
    <p:sldId id="316" r:id="rId61"/>
    <p:sldId id="317" r:id="rId62"/>
    <p:sldId id="322" r:id="rId63"/>
    <p:sldId id="323" r:id="rId64"/>
    <p:sldId id="328" r:id="rId65"/>
    <p:sldId id="329" r:id="rId66"/>
    <p:sldId id="330" r:id="rId67"/>
    <p:sldId id="331" r:id="rId68"/>
    <p:sldId id="332" r:id="rId69"/>
    <p:sldId id="310" r:id="rId70"/>
    <p:sldId id="312" r:id="rId71"/>
    <p:sldId id="311" r:id="rId72"/>
    <p:sldId id="313" r:id="rId73"/>
    <p:sldId id="321" r:id="rId74"/>
    <p:sldId id="294" r:id="rId75"/>
    <p:sldId id="326" r:id="rId76"/>
    <p:sldId id="292" r:id="rId77"/>
    <p:sldId id="293" r:id="rId78"/>
    <p:sldId id="304" r:id="rId79"/>
    <p:sldId id="305" r:id="rId80"/>
    <p:sldId id="320" r:id="rId81"/>
    <p:sldId id="295" r:id="rId82"/>
    <p:sldId id="307" r:id="rId83"/>
    <p:sldId id="306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84360" autoAdjust="0"/>
  </p:normalViewPr>
  <p:slideViewPr>
    <p:cSldViewPr snapToGrid="0">
      <p:cViewPr varScale="1">
        <p:scale>
          <a:sx n="78" d="100"/>
          <a:sy n="78" d="100"/>
        </p:scale>
        <p:origin x="716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2C1EF-962E-4B86-BF0B-8754DCA6A378}" type="datetimeFigureOut"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74B94-7277-4D70-A322-707759EA91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0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9CE2-9E55-40FC-B621-9D40A7D35D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50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17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15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243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8893-67E9-84AF-39BD-763B48FE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12790-9667-78A1-A784-3C1ADC7B6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97367-D334-4C68-EA55-A5B7C5B60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CA233-A639-34E8-10EF-C61D144D0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394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91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E058-87B1-AFA4-2E37-40ADD800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D280A-A011-2B78-16EF-E060BC9A9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EB306-BEE3-8FE1-7619-32F2CE2D3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02B23-31F5-D35F-A6DF-C3332B602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637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CN" dirty="0"/>
              <a:t>Aspect ratio changed in </a:t>
            </a:r>
            <a:r>
              <a:rPr lang="en-US" altLang="zh-CN" dirty="0" err="1"/>
              <a:t>downsampling</a:t>
            </a:r>
            <a:r>
              <a:rPr lang="en-US" altLang="zh-CN" dirty="0"/>
              <a:t> </a:t>
            </a:r>
          </a:p>
          <a:p>
            <a:pPr marL="171450" indent="-171450">
              <a:buFontTx/>
              <a:buChar char="-"/>
            </a:pPr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en-US" altLang="zh-CN" dirty="0"/>
              <a:t>Velocity field may be impacted by the </a:t>
            </a:r>
            <a:r>
              <a:rPr lang="en-US" altLang="zh-CN" dirty="0" err="1"/>
              <a:t>downsampling</a:t>
            </a:r>
            <a:r>
              <a:rPr lang="en-US" altLang="zh-CN" dirty="0"/>
              <a:t> </a:t>
            </a:r>
          </a:p>
          <a:p>
            <a:pPr marL="171450" indent="-171450">
              <a:buFontTx/>
              <a:buChar char="-"/>
            </a:pPr>
            <a:endParaRPr lang="en-US" altLang="zh-CN" dirty="0"/>
          </a:p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344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CN" dirty="0"/>
              <a:t>Ideally lower temporal skips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Reduce batch </a:t>
            </a:r>
            <a:r>
              <a:rPr lang="en-US" altLang="zh-CN" dirty="0" err="1"/>
              <a:t>rize</a:t>
            </a:r>
            <a:r>
              <a:rPr lang="en-US" altLang="zh-CN" dirty="0"/>
              <a:t> of factor of 4 or 8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Increase temporal resolution</a:t>
            </a:r>
          </a:p>
          <a:p>
            <a:pPr marL="628650" lvl="1" indent="-171450">
              <a:buFontTx/>
              <a:buChar char="-"/>
            </a:pPr>
            <a:r>
              <a:rPr lang="en-US" altLang="zh-CN" dirty="0"/>
              <a:t>Similar computation </a:t>
            </a:r>
          </a:p>
          <a:p>
            <a:pPr marL="628650" lvl="1" indent="-171450">
              <a:buFontTx/>
              <a:buChar char="-"/>
            </a:pPr>
            <a:r>
              <a:rPr lang="en-US" altLang="zh-CN" dirty="0"/>
              <a:t>But better outcomes</a:t>
            </a:r>
          </a:p>
          <a:p>
            <a:pPr marL="457200" lvl="1" indent="0">
              <a:buFontTx/>
              <a:buNone/>
            </a:pPr>
            <a:r>
              <a:rPr lang="en-US" altLang="zh-CN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086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433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9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671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C8A0B-2CAB-5BF0-1C6A-1E993AB1A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B2441-9C3E-0ADC-B6F7-6927CA230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4965A-62A8-FC48-7B92-84EDD749E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9F17B-EB03-3482-24B7-46B26493A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694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334AA-E971-1B76-9BB5-F5DA7C1A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42376-BD00-47E0-D9D1-022BED8B3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2114E-986B-A502-AC4E-111893B86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5E40C-ED3E-165C-4CFF-FA539E628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408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4D6F4-36E0-CF5E-E65A-28DA90C1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30FD5-3ABE-750B-DE64-074DE24BE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39F1B-4799-D115-C5AD-AFF73080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DA44E-3F90-F2A9-41FE-237B83CE4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949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712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87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2391-629E-7D44-09F2-665A30D1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151B6-4A26-217E-7923-FE685F8BB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87E92-EE2D-9B7C-7F24-1A8C75D2B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2A259-F946-C820-331A-9548AF3CD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29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FD08-C5B8-EBC8-5417-16757670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0C437-BCCB-8977-3BDB-5FFD66A09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47A47-3FBD-4C26-A670-77401A8CD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EDE8F-DFF7-DF2D-6990-47010E2CA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044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764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2D26B-EDD9-9FFF-763C-B2102A14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DAAA2-3953-17C8-AF7D-F5EBF6340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5B818-B6BF-4B9F-7697-B14865C31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batch size – lower than 60 to 5 to 2</a:t>
            </a:r>
          </a:p>
          <a:p>
            <a:endParaRPr lang="en-US" dirty="0"/>
          </a:p>
          <a:p>
            <a:r>
              <a:rPr lang="en-US" dirty="0"/>
              <a:t>- Could explain why loss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EAECB-F1B8-21EA-FA78-BD1EDF2AF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9CE2-9E55-40FC-B621-9D40A7D35D3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140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8450-A70F-55D9-952E-6E4DD3B8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2767F-2D82-FC14-24D2-EEC8C8662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706AD-8D9E-5E21-1F75-7C3F28AE4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Euler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7351-ED85-2256-6A05-FA5CDB0F9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035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9275-2CB3-2BC0-F9A9-0D5A1DD4C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DBB60-BF46-49B4-4294-32739A00A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55076-7A4F-B9E5-E330-80EA768F2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Euler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DC7EE-CFF8-93AC-A270-87E6BFFE6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164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D55BC-EFA5-C76B-288B-9223D227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FDAA0-375A-9CBD-93C2-6CA3EAC76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ACB82-89B7-F921-B683-5259F11AD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Euler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5EBD8-DC70-7662-17AE-66F1A5BD0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0002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11C2-6427-3EE6-48C5-D1CC32A1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6001E-DBC3-B40C-4410-593D78CE1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E3E2F-BCEE-7B6A-128A-F998AC18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Euler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C07AF-28E8-D780-900D-DA45ABFB1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4355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D19CF-33B8-1442-DEB4-0E496DA5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EC2EA-4235-D1AE-AD68-6C21F091A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3AE5A-7420-09ED-4595-8C1E0815B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Euler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BB419-4604-C765-A70A-242B0ED40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5828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28A2-57BB-42F5-F5D7-6A51AC16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5017E-46CD-84F9-63BF-9EF328312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65437-F042-759E-443B-189E56096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Euler</a:t>
            </a:r>
          </a:p>
          <a:p>
            <a:endParaRPr lang="en-US" altLang="zh-CN" dirty="0"/>
          </a:p>
          <a:p>
            <a:r>
              <a:rPr lang="en-US" altLang="zh-CN" dirty="0"/>
              <a:t>Learning rate – experiment for </a:t>
            </a:r>
            <a:r>
              <a:rPr lang="en-US" altLang="zh-CN" dirty="0" err="1"/>
              <a:t>shearflow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Don’t use the word ‘model’ is wrong, but rather wrong configuration</a:t>
            </a:r>
          </a:p>
          <a:p>
            <a:endParaRPr lang="en-US" altLang="zh-CN" dirty="0"/>
          </a:p>
          <a:p>
            <a:r>
              <a:rPr lang="en-US" altLang="zh-CN" dirty="0"/>
              <a:t>Pressure – normalize to 0 to 1</a:t>
            </a:r>
          </a:p>
          <a:p>
            <a:endParaRPr lang="en-US" altLang="zh-CN" dirty="0"/>
          </a:p>
          <a:p>
            <a:r>
              <a:rPr lang="en-US" altLang="zh-CN" dirty="0"/>
              <a:t>Make experiments less than 30 min for 500 epochs – aim for rollout not breaking (tracer)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A6B6A-1340-11B8-D598-5519D59A4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938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RK4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221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RK4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224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RK4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9446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RK4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283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Normalization for tracer and pressure – range: 0 to 1 or -1 to 1</a:t>
            </a:r>
          </a:p>
          <a:p>
            <a:endParaRPr lang="en-US" altLang="zh-CN" dirty="0"/>
          </a:p>
          <a:p>
            <a:r>
              <a:rPr lang="en-US" altLang="zh-CN" dirty="0"/>
              <a:t>Highlight the sample that is used for inference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1619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min max for pressure doesn’t look right, there could be another file that dominates the larger range of the pressure field, the range should be ranging from 0 to 1 or -1 to 1. Pressure scale out of scale needs to be address.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74B94-7277-4D70-A322-707759EA91EA}" type="slidenum">
              <a:rPr lang="en-US" altLang="zh-CN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68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gif"/><Relationship Id="rId13" Type="http://schemas.openxmlformats.org/officeDocument/2006/relationships/image" Target="../media/image21.gif"/><Relationship Id="rId18" Type="http://schemas.openxmlformats.org/officeDocument/2006/relationships/image" Target="../media/image4.png"/><Relationship Id="rId3" Type="http://schemas.openxmlformats.org/officeDocument/2006/relationships/image" Target="../media/image11.gif"/><Relationship Id="rId7" Type="http://schemas.openxmlformats.org/officeDocument/2006/relationships/image" Target="../media/image15.gif"/><Relationship Id="rId12" Type="http://schemas.openxmlformats.org/officeDocument/2006/relationships/image" Target="../media/image20.gif"/><Relationship Id="rId17" Type="http://schemas.openxmlformats.org/officeDocument/2006/relationships/image" Target="../media/image25.gif"/><Relationship Id="rId2" Type="http://schemas.openxmlformats.org/officeDocument/2006/relationships/image" Target="../media/image10.gif"/><Relationship Id="rId16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gif"/><Relationship Id="rId11" Type="http://schemas.openxmlformats.org/officeDocument/2006/relationships/image" Target="../media/image19.gif"/><Relationship Id="rId5" Type="http://schemas.openxmlformats.org/officeDocument/2006/relationships/image" Target="../media/image13.gif"/><Relationship Id="rId15" Type="http://schemas.openxmlformats.org/officeDocument/2006/relationships/image" Target="../media/image23.gif"/><Relationship Id="rId10" Type="http://schemas.openxmlformats.org/officeDocument/2006/relationships/image" Target="../media/image18.gif"/><Relationship Id="rId4" Type="http://schemas.openxmlformats.org/officeDocument/2006/relationships/image" Target="../media/image12.gif"/><Relationship Id="rId9" Type="http://schemas.openxmlformats.org/officeDocument/2006/relationships/image" Target="../media/image17.gif"/><Relationship Id="rId14" Type="http://schemas.openxmlformats.org/officeDocument/2006/relationships/image" Target="../media/image22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4.gif"/><Relationship Id="rId4" Type="http://schemas.openxmlformats.org/officeDocument/2006/relationships/image" Target="../media/image33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8.gif"/><Relationship Id="rId4" Type="http://schemas.openxmlformats.org/officeDocument/2006/relationships/image" Target="../media/image37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gif"/><Relationship Id="rId5" Type="http://schemas.openxmlformats.org/officeDocument/2006/relationships/image" Target="../media/image45.gif"/><Relationship Id="rId4" Type="http://schemas.openxmlformats.org/officeDocument/2006/relationships/image" Target="../media/image44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gif"/><Relationship Id="rId5" Type="http://schemas.openxmlformats.org/officeDocument/2006/relationships/image" Target="../media/image49.gif"/><Relationship Id="rId4" Type="http://schemas.openxmlformats.org/officeDocument/2006/relationships/image" Target="../media/image48.gi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gif"/><Relationship Id="rId5" Type="http://schemas.openxmlformats.org/officeDocument/2006/relationships/image" Target="../media/image53.gif"/><Relationship Id="rId4" Type="http://schemas.openxmlformats.org/officeDocument/2006/relationships/image" Target="../media/image52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0.gif"/><Relationship Id="rId4" Type="http://schemas.openxmlformats.org/officeDocument/2006/relationships/image" Target="../media/image59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4.gif"/><Relationship Id="rId4" Type="http://schemas.openxmlformats.org/officeDocument/2006/relationships/image" Target="../media/image63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gif"/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8.gif"/><Relationship Id="rId4" Type="http://schemas.openxmlformats.org/officeDocument/2006/relationships/image" Target="../media/image67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gif"/><Relationship Id="rId2" Type="http://schemas.openxmlformats.org/officeDocument/2006/relationships/image" Target="../media/image69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2.gif"/><Relationship Id="rId4" Type="http://schemas.openxmlformats.org/officeDocument/2006/relationships/image" Target="../media/image71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gif"/><Relationship Id="rId2" Type="http://schemas.openxmlformats.org/officeDocument/2006/relationships/image" Target="../media/image7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6.gif"/><Relationship Id="rId4" Type="http://schemas.openxmlformats.org/officeDocument/2006/relationships/image" Target="../media/image75.gi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gi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gif"/><Relationship Id="rId5" Type="http://schemas.openxmlformats.org/officeDocument/2006/relationships/image" Target="../media/image79.gif"/><Relationship Id="rId4" Type="http://schemas.openxmlformats.org/officeDocument/2006/relationships/image" Target="../media/image78.gi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gif"/><Relationship Id="rId2" Type="http://schemas.openxmlformats.org/officeDocument/2006/relationships/image" Target="../media/image8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6.gif"/><Relationship Id="rId4" Type="http://schemas.openxmlformats.org/officeDocument/2006/relationships/image" Target="../media/image85.gi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gif"/><Relationship Id="rId2" Type="http://schemas.openxmlformats.org/officeDocument/2006/relationships/image" Target="../media/image8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0.gif"/><Relationship Id="rId4" Type="http://schemas.openxmlformats.org/officeDocument/2006/relationships/image" Target="../media/image89.gi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gif"/><Relationship Id="rId2" Type="http://schemas.openxmlformats.org/officeDocument/2006/relationships/image" Target="../media/image9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4.gif"/><Relationship Id="rId4" Type="http://schemas.openxmlformats.org/officeDocument/2006/relationships/image" Target="../media/image93.gi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gif"/><Relationship Id="rId5" Type="http://schemas.openxmlformats.org/officeDocument/2006/relationships/image" Target="../media/image97.gif"/><Relationship Id="rId4" Type="http://schemas.openxmlformats.org/officeDocument/2006/relationships/image" Target="../media/image96.gi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gif"/><Relationship Id="rId5" Type="http://schemas.openxmlformats.org/officeDocument/2006/relationships/image" Target="../media/image101.gif"/><Relationship Id="rId4" Type="http://schemas.openxmlformats.org/officeDocument/2006/relationships/image" Target="../media/image100.gi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gif"/><Relationship Id="rId5" Type="http://schemas.openxmlformats.org/officeDocument/2006/relationships/image" Target="../media/image105.gif"/><Relationship Id="rId4" Type="http://schemas.openxmlformats.org/officeDocument/2006/relationships/image" Target="../media/image104.gi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gif"/><Relationship Id="rId5" Type="http://schemas.openxmlformats.org/officeDocument/2006/relationships/image" Target="../media/image109.gif"/><Relationship Id="rId4" Type="http://schemas.openxmlformats.org/officeDocument/2006/relationships/image" Target="../media/image108.gi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gif"/><Relationship Id="rId5" Type="http://schemas.openxmlformats.org/officeDocument/2006/relationships/image" Target="../media/image115.gif"/><Relationship Id="rId4" Type="http://schemas.openxmlformats.org/officeDocument/2006/relationships/image" Target="../media/image114.gi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gif"/><Relationship Id="rId5" Type="http://schemas.openxmlformats.org/officeDocument/2006/relationships/image" Target="../media/image119.gif"/><Relationship Id="rId4" Type="http://schemas.openxmlformats.org/officeDocument/2006/relationships/image" Target="../media/image118.gi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gif"/><Relationship Id="rId5" Type="http://schemas.openxmlformats.org/officeDocument/2006/relationships/image" Target="../media/image125.gif"/><Relationship Id="rId4" Type="http://schemas.openxmlformats.org/officeDocument/2006/relationships/image" Target="../media/image124.gi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gif"/><Relationship Id="rId5" Type="http://schemas.openxmlformats.org/officeDocument/2006/relationships/image" Target="../media/image129.gif"/><Relationship Id="rId4" Type="http://schemas.openxmlformats.org/officeDocument/2006/relationships/image" Target="../media/image128.gi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gif"/><Relationship Id="rId5" Type="http://schemas.openxmlformats.org/officeDocument/2006/relationships/image" Target="../media/image133.gif"/><Relationship Id="rId4" Type="http://schemas.openxmlformats.org/officeDocument/2006/relationships/image" Target="../media/image132.gi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gif"/><Relationship Id="rId5" Type="http://schemas.openxmlformats.org/officeDocument/2006/relationships/image" Target="../media/image137.gif"/><Relationship Id="rId4" Type="http://schemas.openxmlformats.org/officeDocument/2006/relationships/image" Target="../media/image136.gi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gif"/><Relationship Id="rId5" Type="http://schemas.openxmlformats.org/officeDocument/2006/relationships/image" Target="../media/image143.gif"/><Relationship Id="rId4" Type="http://schemas.openxmlformats.org/officeDocument/2006/relationships/image" Target="../media/image142.gi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gif"/><Relationship Id="rId2" Type="http://schemas.openxmlformats.org/officeDocument/2006/relationships/image" Target="../media/image14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8.gif"/><Relationship Id="rId4" Type="http://schemas.openxmlformats.org/officeDocument/2006/relationships/image" Target="../media/image147.gi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gif"/><Relationship Id="rId5" Type="http://schemas.openxmlformats.org/officeDocument/2006/relationships/image" Target="../media/image151.gif"/><Relationship Id="rId4" Type="http://schemas.openxmlformats.org/officeDocument/2006/relationships/image" Target="../media/image150.gi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gif"/><Relationship Id="rId2" Type="http://schemas.openxmlformats.org/officeDocument/2006/relationships/image" Target="../media/image15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gif"/><Relationship Id="rId4" Type="http://schemas.openxmlformats.org/officeDocument/2006/relationships/image" Target="../media/image155.gi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1771" y="-106559"/>
            <a:ext cx="12188825" cy="4996785"/>
          </a:xfrm>
          <a:prstGeom prst="rect">
            <a:avLst/>
          </a:prstGeom>
          <a:solidFill>
            <a:srgbClr val="01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12158"/>
              </a:solidFill>
            </a:endParaRPr>
          </a:p>
        </p:txBody>
      </p:sp>
      <p:pic>
        <p:nvPicPr>
          <p:cNvPr id="10" name="Picture 9" descr="primary_full_color_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27" y="6107916"/>
            <a:ext cx="1801091" cy="445285"/>
          </a:xfrm>
          <a:prstGeom prst="rect">
            <a:avLst/>
          </a:prstGeom>
        </p:spPr>
      </p:pic>
      <p:sp>
        <p:nvSpPr>
          <p:cNvPr id="12" name="Title Placeholder 1"/>
          <p:cNvSpPr txBox="1">
            <a:spLocks/>
          </p:cNvSpPr>
          <p:nvPr/>
        </p:nvSpPr>
        <p:spPr>
          <a:xfrm>
            <a:off x="4428614" y="3563998"/>
            <a:ext cx="3334773" cy="1185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bg1"/>
                </a:solidFill>
                <a:latin typeface="FranklinGothicURWComDem"/>
                <a:ea typeface="+mj-ea"/>
                <a:cs typeface="FranklinGothicURWComDem"/>
              </a:defRPr>
            </a:lvl1pPr>
          </a:lstStyle>
          <a:p>
            <a:r>
              <a:rPr lang="en-US" dirty="0">
                <a:latin typeface="FranklinGothicURWComBoo"/>
                <a:cs typeface="FranklinGothicURWComBoo"/>
              </a:rPr>
              <a:t>08/19/2025</a:t>
            </a:r>
            <a:endParaRPr lang="en-US" sz="2800" dirty="0">
              <a:latin typeface="FranklinGothicURWComBoo"/>
              <a:cs typeface="FranklinGothicURWComBoo"/>
            </a:endParaRPr>
          </a:p>
          <a:p>
            <a:endParaRPr lang="en-US" dirty="0">
              <a:latin typeface="FranklinGothicURWComBoo"/>
              <a:cs typeface="FranklinGothicURWComBoo"/>
            </a:endParaRPr>
          </a:p>
          <a:p>
            <a:r>
              <a:rPr lang="en-US" dirty="0">
                <a:latin typeface="FranklinGothicURWComBoo"/>
                <a:cs typeface="FranklinGothicURWComBoo"/>
              </a:rPr>
              <a:t>Ethan Cao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9490" y="2055870"/>
            <a:ext cx="12204214" cy="114453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u="none" kern="2200" spc="0" baseline="0">
                <a:solidFill>
                  <a:schemeClr val="bg1"/>
                </a:solidFill>
                <a:latin typeface="FranklinGothicURWComDem"/>
                <a:ea typeface="+mj-ea"/>
                <a:cs typeface="FranklinGothicURWComDem"/>
              </a:defRPr>
            </a:lvl1pPr>
          </a:lstStyle>
          <a:p>
            <a:r>
              <a:rPr lang="en-US" sz="5400" b="1">
                <a:latin typeface="+mn-lt"/>
              </a:rPr>
              <a:t>Shear Flow Modeling</a:t>
            </a:r>
          </a:p>
        </p:txBody>
      </p:sp>
      <p:pic>
        <p:nvPicPr>
          <p:cNvPr id="14" name="Picture 13" descr="dotted_line_white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37"/>
          <a:stretch/>
        </p:blipFill>
        <p:spPr>
          <a:xfrm>
            <a:off x="1159885" y="2922070"/>
            <a:ext cx="9979155" cy="376052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C9F0A25F-F385-5F68-5799-A81EC07C6C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" y="5105401"/>
            <a:ext cx="2362200" cy="88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9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FECA4-A55B-64F6-CF29-D3EF8921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Agenda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3F0C6-E54B-3A8E-C4DE-2A185F6F5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Motivating Example</a:t>
            </a:r>
          </a:p>
          <a:p>
            <a:endParaRPr lang="en-US" dirty="0"/>
          </a:p>
          <a:p>
            <a:r>
              <a:rPr lang="en-US" dirty="0"/>
              <a:t>Modeling Objectives </a:t>
            </a:r>
          </a:p>
          <a:p>
            <a:endParaRPr lang="en-US" dirty="0"/>
          </a:p>
          <a:p>
            <a:r>
              <a:rPr lang="en-US" dirty="0"/>
              <a:t>Data Overview </a:t>
            </a:r>
          </a:p>
          <a:p>
            <a:endParaRPr lang="en-US" dirty="0"/>
          </a:p>
          <a:p>
            <a:r>
              <a:rPr lang="en-US" dirty="0"/>
              <a:t>Model Architecture &amp; Output</a:t>
            </a:r>
          </a:p>
          <a:p>
            <a:endParaRPr lang="en-US" dirty="0"/>
          </a:p>
          <a:p>
            <a:r>
              <a:rPr lang="en-US" dirty="0"/>
              <a:t>Future Steps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8D89C2CD-CDE0-7D3C-8DFB-AA00B8FB9D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0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BD02-76BB-1905-FCD1-B9FDDA3A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Motivating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E3A97-46D7-3FBA-531D-358F04630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concept of shear flow and how it motivates the use of deep learning simulation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14D94B5B-8FD7-8AE7-D3CB-69AF442968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7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4822-FC19-8574-4675-2780BE75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What is a Shear 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DE48-C9D4-EA9B-1A52-741A4322A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297" y="1440528"/>
            <a:ext cx="10515600" cy="1114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Definition:</a:t>
            </a:r>
            <a:r>
              <a:rPr lang="en-US" dirty="0">
                <a:solidFill>
                  <a:schemeClr val="tx2"/>
                </a:solidFill>
              </a:rPr>
              <a:t> adjacent fluid layers </a:t>
            </a:r>
            <a:r>
              <a:rPr lang="en-US" b="1" dirty="0">
                <a:solidFill>
                  <a:schemeClr val="accent1"/>
                </a:solidFill>
              </a:rPr>
              <a:t>moving parallel </a:t>
            </a:r>
            <a:r>
              <a:rPr lang="en-US" dirty="0">
                <a:solidFill>
                  <a:schemeClr val="tx2"/>
                </a:solidFill>
              </a:rPr>
              <a:t>to each other with </a:t>
            </a:r>
            <a:r>
              <a:rPr lang="en-US" b="1" dirty="0">
                <a:solidFill>
                  <a:schemeClr val="accent1"/>
                </a:solidFill>
              </a:rPr>
              <a:t>different speeds. </a:t>
            </a:r>
          </a:p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B15BB-7131-C5B1-02B9-85A82EE9C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196" y="2691935"/>
            <a:ext cx="4922093" cy="34652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20C59C-8A25-8FFE-7299-8DC8D011E688}"/>
              </a:ext>
            </a:extLst>
          </p:cNvPr>
          <p:cNvSpPr txBox="1"/>
          <p:nvPr/>
        </p:nvSpPr>
        <p:spPr>
          <a:xfrm>
            <a:off x="711873" y="2555433"/>
            <a:ext cx="5957904" cy="42442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chemeClr val="accent1"/>
                </a:solidFill>
              </a:rPr>
              <a:t>Scenario on the right:</a:t>
            </a:r>
            <a:endParaRPr lang="en-US" sz="28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/>
              <a:t>Flow carrying tracer downstream through advection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/>
              <a:t>Tracer spreads and blurs through diffusion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/>
              <a:t>The two fluid layers at the side of the 'white stream' moves at different velocity, hence </a:t>
            </a:r>
            <a:r>
              <a:rPr lang="en-US" sz="2800" b="1" dirty="0">
                <a:solidFill>
                  <a:schemeClr val="accent1"/>
                </a:solidFill>
              </a:rPr>
              <a:t>stretches the tracer</a:t>
            </a:r>
          </a:p>
          <a:p>
            <a:endParaRPr lang="en-US" dirty="0"/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83996E64-BA5F-FCBB-F5DA-81F9517C1D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6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5E43-9082-FAB1-C159-73F6B19B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45FB-1BF2-4A65-C58A-174ADB10B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What is a Shear 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18A9-AB80-17E9-95A6-1D8ADC6FF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6229"/>
            <a:ext cx="10515600" cy="47970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Viscosity: </a:t>
            </a:r>
            <a:r>
              <a:rPr lang="en-US" dirty="0"/>
              <a:t> measure of a fluid's </a:t>
            </a:r>
            <a:r>
              <a:rPr lang="en-US" b="1" dirty="0">
                <a:solidFill>
                  <a:schemeClr val="accent1"/>
                </a:solidFill>
              </a:rPr>
              <a:t>internal resistance to a flow</a:t>
            </a:r>
            <a:r>
              <a:rPr lang="en-US" dirty="0"/>
              <a:t>, can be thought of as thickness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rgbClr val="333333"/>
                </a:solidFill>
              </a:rPr>
              <a:t> </a:t>
            </a:r>
            <a:r>
              <a:rPr lang="en-US" sz="3200" b="1" i="1" dirty="0">
                <a:solidFill>
                  <a:srgbClr val="333333"/>
                </a:solidFill>
              </a:rPr>
              <a:t>µ</a:t>
            </a: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Shear Rate: </a:t>
            </a:r>
            <a:r>
              <a:rPr lang="en-US" dirty="0">
                <a:solidFill>
                  <a:srgbClr val="000000"/>
                </a:solidFill>
              </a:rPr>
              <a:t>The rate at which the fluid is </a:t>
            </a:r>
            <a:r>
              <a:rPr lang="en-US" b="1" dirty="0">
                <a:solidFill>
                  <a:schemeClr val="accent1"/>
                </a:solidFill>
              </a:rPr>
              <a:t>deformed</a:t>
            </a:r>
            <a:r>
              <a:rPr lang="en-US" dirty="0"/>
              <a:t> (or difference in velocity)</a:t>
            </a:r>
            <a:r>
              <a:rPr lang="en-US" dirty="0">
                <a:solidFill>
                  <a:srgbClr val="000000"/>
                </a:solidFill>
              </a:rPr>
              <a:t> due to shear stress</a:t>
            </a:r>
            <a:endParaRPr lang="en-US" dirty="0"/>
          </a:p>
          <a:p>
            <a:pPr marL="0" indent="0" algn="ctr">
              <a:buNone/>
            </a:pPr>
            <a:r>
              <a:rPr lang="en-US" sz="3200" b="1" i="1" dirty="0">
                <a:solidFill>
                  <a:srgbClr val="333333"/>
                </a:solidFill>
              </a:rPr>
              <a:t>du/</a:t>
            </a:r>
            <a:r>
              <a:rPr lang="en-US" sz="3200" b="1" i="1" dirty="0" err="1">
                <a:solidFill>
                  <a:srgbClr val="333333"/>
                </a:solidFill>
              </a:rPr>
              <a:t>dy</a:t>
            </a:r>
            <a:endParaRPr lang="en-US" sz="3000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Shear Stress: </a:t>
            </a:r>
            <a:r>
              <a:rPr lang="en-US" dirty="0"/>
              <a:t>force per unit area exerted (parallel) to a surface by a fluid, causing layers to slide past each other.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333333"/>
                </a:solidFill>
                <a:ea typeface="+mn-lt"/>
                <a:cs typeface="+mn-lt"/>
              </a:rPr>
              <a:t>𝞽 = </a:t>
            </a:r>
            <a:r>
              <a:rPr lang="en-US" sz="3200" b="1" i="1" dirty="0">
                <a:solidFill>
                  <a:srgbClr val="333333"/>
                </a:solidFill>
                <a:ea typeface="+mn-lt"/>
                <a:cs typeface="+mn-lt"/>
              </a:rPr>
              <a:t>µ x du/</a:t>
            </a:r>
            <a:r>
              <a:rPr lang="en-US" sz="3200" b="1" i="1" dirty="0" err="1">
                <a:solidFill>
                  <a:srgbClr val="333333"/>
                </a:solidFill>
                <a:ea typeface="+mn-lt"/>
                <a:cs typeface="+mn-lt"/>
              </a:rPr>
              <a:t>dy</a:t>
            </a:r>
            <a:r>
              <a:rPr lang="en-US" sz="3200" b="1" i="1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endParaRPr lang="en-US" sz="32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i="1" dirty="0">
                <a:solidFill>
                  <a:srgbClr val="333333"/>
                </a:solidFill>
                <a:ea typeface="+mn-lt"/>
                <a:cs typeface="+mn-lt"/>
              </a:rPr>
              <a:t>(Shear Stress for fluids)</a:t>
            </a:r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160640EF-638E-EC14-D4D2-A5B98F708B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9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B4A6-70D0-B1F9-C6E9-9F28735A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Couette Flow – Ideal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33958B-4D03-8593-C7BE-55187E8AE010}"/>
              </a:ext>
            </a:extLst>
          </p:cNvPr>
          <p:cNvSpPr/>
          <p:nvPr/>
        </p:nvSpPr>
        <p:spPr>
          <a:xfrm>
            <a:off x="2079901" y="2175387"/>
            <a:ext cx="7977237" cy="529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9CCB7-77FC-CCDC-1269-A1E3997F2BC4}"/>
              </a:ext>
            </a:extLst>
          </p:cNvPr>
          <p:cNvSpPr/>
          <p:nvPr/>
        </p:nvSpPr>
        <p:spPr>
          <a:xfrm>
            <a:off x="2079901" y="5198806"/>
            <a:ext cx="7969043" cy="4391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38A40F-8C8D-3150-07A5-579C11B999BB}"/>
              </a:ext>
            </a:extLst>
          </p:cNvPr>
          <p:cNvSpPr/>
          <p:nvPr/>
        </p:nvSpPr>
        <p:spPr>
          <a:xfrm>
            <a:off x="5516148" y="2685908"/>
            <a:ext cx="4011057" cy="415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71038-3FAC-9F7C-6FC0-5B0F7CAF6315}"/>
              </a:ext>
            </a:extLst>
          </p:cNvPr>
          <p:cNvSpPr/>
          <p:nvPr/>
        </p:nvSpPr>
        <p:spPr>
          <a:xfrm>
            <a:off x="4803309" y="3103779"/>
            <a:ext cx="4011057" cy="415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882AE-24EF-6DCF-6744-81633E6894DC}"/>
              </a:ext>
            </a:extLst>
          </p:cNvPr>
          <p:cNvSpPr/>
          <p:nvPr/>
        </p:nvSpPr>
        <p:spPr>
          <a:xfrm>
            <a:off x="4090470" y="3521650"/>
            <a:ext cx="4011057" cy="415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167CA-F972-DF1C-9BF3-BCF8BEA2AF00}"/>
              </a:ext>
            </a:extLst>
          </p:cNvPr>
          <p:cNvSpPr/>
          <p:nvPr/>
        </p:nvSpPr>
        <p:spPr>
          <a:xfrm>
            <a:off x="3262921" y="3939521"/>
            <a:ext cx="4011057" cy="415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C2B929-3B32-CC77-5FC2-EFB684808690}"/>
              </a:ext>
            </a:extLst>
          </p:cNvPr>
          <p:cNvSpPr/>
          <p:nvPr/>
        </p:nvSpPr>
        <p:spPr>
          <a:xfrm>
            <a:off x="2672985" y="4357392"/>
            <a:ext cx="4011057" cy="415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A9EF43-2FD7-542F-1EB0-8F9DB19B3878}"/>
              </a:ext>
            </a:extLst>
          </p:cNvPr>
          <p:cNvSpPr/>
          <p:nvPr/>
        </p:nvSpPr>
        <p:spPr>
          <a:xfrm>
            <a:off x="2083049" y="4775263"/>
            <a:ext cx="4011057" cy="415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C98199-FD62-C822-8939-9439D3CAB93F}"/>
              </a:ext>
            </a:extLst>
          </p:cNvPr>
          <p:cNvCxnSpPr/>
          <p:nvPr/>
        </p:nvCxnSpPr>
        <p:spPr>
          <a:xfrm flipV="1">
            <a:off x="6052556" y="1920187"/>
            <a:ext cx="3925810" cy="87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0FE9EDC-8222-F166-0AF0-CCB1A1B264E0}"/>
              </a:ext>
            </a:extLst>
          </p:cNvPr>
          <p:cNvSpPr txBox="1"/>
          <p:nvPr/>
        </p:nvSpPr>
        <p:spPr>
          <a:xfrm>
            <a:off x="5918929" y="1519669"/>
            <a:ext cx="4059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Upper plate moves at velocity 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ECFC63-5ADA-93FC-24C9-74CB5C5A3322}"/>
              </a:ext>
            </a:extLst>
          </p:cNvPr>
          <p:cNvSpPr txBox="1"/>
          <p:nvPr/>
        </p:nvSpPr>
        <p:spPr>
          <a:xfrm>
            <a:off x="4062805" y="5921114"/>
            <a:ext cx="36361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Bottom plate at fixed Motion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C368B4-9455-221F-F550-CC0949E19E33}"/>
              </a:ext>
            </a:extLst>
          </p:cNvPr>
          <p:cNvCxnSpPr/>
          <p:nvPr/>
        </p:nvCxnSpPr>
        <p:spPr>
          <a:xfrm>
            <a:off x="3762776" y="5873467"/>
            <a:ext cx="4030057" cy="233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FE0B2A9-5C20-5A9F-8E31-02B30E6C4573}"/>
              </a:ext>
            </a:extLst>
          </p:cNvPr>
          <p:cNvCxnSpPr>
            <a:cxnSpLocks/>
          </p:cNvCxnSpPr>
          <p:nvPr/>
        </p:nvCxnSpPr>
        <p:spPr>
          <a:xfrm>
            <a:off x="6774631" y="2898159"/>
            <a:ext cx="1409773" cy="3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BCA724A-FADD-43A3-1BE2-17BEDE738C4E}"/>
              </a:ext>
            </a:extLst>
          </p:cNvPr>
          <p:cNvSpPr txBox="1"/>
          <p:nvPr/>
        </p:nvSpPr>
        <p:spPr>
          <a:xfrm>
            <a:off x="8189998" y="2705222"/>
            <a:ext cx="8600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V max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6F7365-EC16-5C48-1DE7-DFBF93B693BB}"/>
              </a:ext>
            </a:extLst>
          </p:cNvPr>
          <p:cNvCxnSpPr>
            <a:cxnSpLocks/>
          </p:cNvCxnSpPr>
          <p:nvPr/>
        </p:nvCxnSpPr>
        <p:spPr>
          <a:xfrm>
            <a:off x="5976344" y="3309396"/>
            <a:ext cx="1409773" cy="3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80ED2C-8784-1A05-6F8E-593AD7DB66D9}"/>
              </a:ext>
            </a:extLst>
          </p:cNvPr>
          <p:cNvCxnSpPr>
            <a:cxnSpLocks/>
          </p:cNvCxnSpPr>
          <p:nvPr/>
        </p:nvCxnSpPr>
        <p:spPr>
          <a:xfrm>
            <a:off x="5395773" y="3732730"/>
            <a:ext cx="1409773" cy="3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3B987F-FF6A-2196-81BE-C57069296FC0}"/>
              </a:ext>
            </a:extLst>
          </p:cNvPr>
          <p:cNvCxnSpPr>
            <a:cxnSpLocks/>
          </p:cNvCxnSpPr>
          <p:nvPr/>
        </p:nvCxnSpPr>
        <p:spPr>
          <a:xfrm>
            <a:off x="4561201" y="4143967"/>
            <a:ext cx="1409773" cy="3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BD7753-3734-4103-D78E-972FED51FEE3}"/>
              </a:ext>
            </a:extLst>
          </p:cNvPr>
          <p:cNvCxnSpPr>
            <a:cxnSpLocks/>
          </p:cNvCxnSpPr>
          <p:nvPr/>
        </p:nvCxnSpPr>
        <p:spPr>
          <a:xfrm>
            <a:off x="4065295" y="4567299"/>
            <a:ext cx="1409773" cy="3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83FC0B-2E08-C64D-CB0D-2F7A4B2B2842}"/>
              </a:ext>
            </a:extLst>
          </p:cNvPr>
          <p:cNvCxnSpPr>
            <a:cxnSpLocks/>
          </p:cNvCxnSpPr>
          <p:nvPr/>
        </p:nvCxnSpPr>
        <p:spPr>
          <a:xfrm>
            <a:off x="3267008" y="4978536"/>
            <a:ext cx="1409773" cy="3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D6802AB-54E4-3B43-0D96-41A31B03E8D1}"/>
              </a:ext>
            </a:extLst>
          </p:cNvPr>
          <p:cNvSpPr txBox="1"/>
          <p:nvPr/>
        </p:nvSpPr>
        <p:spPr>
          <a:xfrm>
            <a:off x="4912188" y="4797697"/>
            <a:ext cx="8600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V = 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42DFE3-4304-3A7F-33B5-7848D11BEE49}"/>
              </a:ext>
            </a:extLst>
          </p:cNvPr>
          <p:cNvSpPr txBox="1"/>
          <p:nvPr/>
        </p:nvSpPr>
        <p:spPr>
          <a:xfrm>
            <a:off x="9254810" y="3413279"/>
            <a:ext cx="28391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Shear Stress applied to cause deformation of  fluid layers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5D2FBE-E655-77F5-2F52-B4740F49E9A5}"/>
              </a:ext>
            </a:extLst>
          </p:cNvPr>
          <p:cNvCxnSpPr/>
          <p:nvPr/>
        </p:nvCxnSpPr>
        <p:spPr>
          <a:xfrm>
            <a:off x="4544315" y="3101847"/>
            <a:ext cx="5505446" cy="24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F4CA1B2-4DC5-8FF1-B457-0779D4343BCA}"/>
              </a:ext>
            </a:extLst>
          </p:cNvPr>
          <p:cNvCxnSpPr>
            <a:cxnSpLocks/>
          </p:cNvCxnSpPr>
          <p:nvPr/>
        </p:nvCxnSpPr>
        <p:spPr>
          <a:xfrm>
            <a:off x="3768460" y="3517483"/>
            <a:ext cx="5505446" cy="24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329B13-26D1-35AE-2B1A-1ED46C95C2B5}"/>
              </a:ext>
            </a:extLst>
          </p:cNvPr>
          <p:cNvCxnSpPr>
            <a:cxnSpLocks/>
          </p:cNvCxnSpPr>
          <p:nvPr/>
        </p:nvCxnSpPr>
        <p:spPr>
          <a:xfrm>
            <a:off x="2937187" y="3933119"/>
            <a:ext cx="5505446" cy="24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C3C280B-55DB-E269-9126-6599B9C5717C}"/>
              </a:ext>
            </a:extLst>
          </p:cNvPr>
          <p:cNvSpPr txBox="1"/>
          <p:nvPr/>
        </p:nvSpPr>
        <p:spPr>
          <a:xfrm>
            <a:off x="6691" y="3246055"/>
            <a:ext cx="264100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Faster layers pulls slower layers forward:</a:t>
            </a:r>
            <a:endParaRPr lang="en-US"/>
          </a:p>
          <a:p>
            <a:pPr algn="ctr"/>
            <a:r>
              <a:rPr lang="en-US" b="1"/>
              <a:t>viscosity creates resistance</a:t>
            </a:r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2A4B948-32A0-D649-A2ED-EE699838FB67}"/>
              </a:ext>
            </a:extLst>
          </p:cNvPr>
          <p:cNvCxnSpPr>
            <a:cxnSpLocks/>
          </p:cNvCxnSpPr>
          <p:nvPr/>
        </p:nvCxnSpPr>
        <p:spPr>
          <a:xfrm>
            <a:off x="2286023" y="4362610"/>
            <a:ext cx="5505446" cy="24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31A748EF-C272-F60D-22C5-0C95DCBC70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3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A43C1-131E-7431-B76F-B1FE4FC2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4F278-AECB-B9A5-9BEA-279009AD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14182"/>
            <a:ext cx="10098895" cy="923330"/>
          </a:xfrm>
        </p:spPr>
        <p:txBody>
          <a:bodyPr anchor="b">
            <a:normAutofit/>
          </a:bodyPr>
          <a:lstStyle/>
          <a:p>
            <a:r>
              <a:rPr lang="en-US" b="1" dirty="0"/>
              <a:t>Real-World Shear Flow Fluid Dynamics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FD5544A-BD7D-6980-D827-1230D8BD7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535" y="1259753"/>
            <a:ext cx="6452103" cy="52798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/>
              <a:t>Crude oil pipeline: </a:t>
            </a:r>
            <a:r>
              <a:rPr lang="en-US" sz="2400" dirty="0"/>
              <a:t> </a:t>
            </a:r>
          </a:p>
          <a:p>
            <a:r>
              <a:rPr lang="en-US" sz="2400" b="1" dirty="0"/>
              <a:t>Scenario:  </a:t>
            </a:r>
            <a:r>
              <a:rPr lang="en-US" sz="2400" dirty="0"/>
              <a:t>As a fluid moves through a pipe, friction at the pipeline’s walls </a:t>
            </a:r>
            <a:r>
              <a:rPr lang="en-US" sz="2400" b="1" dirty="0"/>
              <a:t>slows</a:t>
            </a:r>
            <a:r>
              <a:rPr lang="en-US" sz="2400" dirty="0"/>
              <a:t> the flow and pressure </a:t>
            </a:r>
            <a:r>
              <a:rPr lang="en-US" sz="2400" b="1" dirty="0"/>
              <a:t>steadily drops</a:t>
            </a:r>
            <a:r>
              <a:rPr lang="en-US" sz="2400" dirty="0"/>
              <a:t>. Especially often with cold, high-viscosity fluids or rough pipes.</a:t>
            </a:r>
          </a:p>
          <a:p>
            <a:endParaRPr lang="en-US" sz="2400" dirty="0"/>
          </a:p>
          <a:p>
            <a:r>
              <a:rPr lang="en-US" sz="2400" b="1" dirty="0"/>
              <a:t>Application:</a:t>
            </a:r>
            <a:r>
              <a:rPr lang="zh-CN" altLang="en-US" sz="2400" b="1" dirty="0"/>
              <a:t> </a:t>
            </a:r>
            <a:r>
              <a:rPr lang="en-US" altLang="zh-CN" sz="2400" dirty="0"/>
              <a:t>Predicting velocity and pressure for different pipeline scenarios, evaluating effectiveness of Drag-Reducing Agents (DRAs)</a:t>
            </a:r>
          </a:p>
          <a:p>
            <a:endParaRPr lang="en-US" altLang="zh-CN" sz="2400" dirty="0"/>
          </a:p>
          <a:p>
            <a:r>
              <a:rPr lang="en-US" altLang="zh-CN" sz="2400" b="1" dirty="0"/>
              <a:t>Advantages: </a:t>
            </a:r>
            <a:r>
              <a:rPr lang="en-US" altLang="zh-CN" sz="2400" dirty="0"/>
              <a:t>fast and data-driven forecasts</a:t>
            </a:r>
            <a:endParaRPr lang="en-US" sz="2400" b="1" dirty="0"/>
          </a:p>
          <a:p>
            <a:endParaRPr lang="en-US" sz="2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360103-F692-EF5B-DA5E-46D0E366017B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971112" y="2566797"/>
            <a:ext cx="262367" cy="5846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BA68D1-A4B5-26F1-0ADF-003B0991899D}"/>
              </a:ext>
            </a:extLst>
          </p:cNvPr>
          <p:cNvSpPr txBox="1"/>
          <p:nvPr/>
        </p:nvSpPr>
        <p:spPr>
          <a:xfrm>
            <a:off x="8551636" y="1643467"/>
            <a:ext cx="3363685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High shear stress required </a:t>
            </a:r>
            <a:r>
              <a:rPr lang="en-US" altLang="zh-CN" dirty="0"/>
              <a:t>due to friction -&gt; </a:t>
            </a:r>
            <a:r>
              <a:rPr lang="en-US" altLang="zh-CN" b="1" dirty="0"/>
              <a:t>more pump power </a:t>
            </a:r>
            <a:r>
              <a:rPr lang="en-US" altLang="zh-CN" dirty="0"/>
              <a:t>needed to maintain flow</a:t>
            </a:r>
            <a:endParaRPr lang="zh-CN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DA2ED0-CB50-CD17-10BB-25D8924B732A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8034637" y="4210264"/>
            <a:ext cx="88827" cy="888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984E17A-670B-54E6-E047-F1C4D4D7C551}"/>
              </a:ext>
            </a:extLst>
          </p:cNvPr>
          <p:cNvSpPr txBox="1"/>
          <p:nvPr/>
        </p:nvSpPr>
        <p:spPr>
          <a:xfrm>
            <a:off x="6789638" y="5098483"/>
            <a:ext cx="2489998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Pressure falls </a:t>
            </a:r>
            <a:r>
              <a:rPr lang="en-US" altLang="zh-CN" dirty="0"/>
              <a:t>along the pipeline with accumulating friction   </a:t>
            </a:r>
            <a:r>
              <a:rPr lang="en-US" altLang="zh-CN" b="1" dirty="0"/>
              <a:t>-&gt; less throughput </a:t>
            </a:r>
            <a:endParaRPr lang="zh-CN" altLang="en-US" b="1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3AAA0BB8-EAFB-D453-A32C-3D68FB9B3A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  <p:pic>
        <p:nvPicPr>
          <p:cNvPr id="1032" name="Picture 8" descr="Pipeline - Free industry icons">
            <a:extLst>
              <a:ext uri="{FF2B5EF4-FFF2-40B4-BE49-F238E27FC236}">
                <a16:creationId xmlns:a16="http://schemas.microsoft.com/office/drawing/2014/main" id="{C09AA35B-F8C7-A9C5-4C2D-DCF56FC0F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432" y="1543050"/>
            <a:ext cx="4753210" cy="475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5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D41E1-C863-62D6-355D-B3D5D366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7340A75-A581-BBC4-F540-843483A1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62974-903E-EFB2-72ED-82A4BA68D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1575"/>
            <a:ext cx="6272784" cy="1545336"/>
          </a:xfrm>
        </p:spPr>
        <p:txBody>
          <a:bodyPr anchor="b">
            <a:normAutofit fontScale="90000"/>
          </a:bodyPr>
          <a:lstStyle/>
          <a:p>
            <a:r>
              <a:rPr lang="en-US" b="1" dirty="0"/>
              <a:t>Real-World Shear Flow Fluid Dynamics (in General)</a:t>
            </a:r>
          </a:p>
        </p:txBody>
      </p:sp>
      <p:pic>
        <p:nvPicPr>
          <p:cNvPr id="4" name="Picture 3" descr="A river running through a forest with Huka Falls in the background&#10;&#10;AI-generated content may be incorrect.">
            <a:extLst>
              <a:ext uri="{FF2B5EF4-FFF2-40B4-BE49-F238E27FC236}">
                <a16:creationId xmlns:a16="http://schemas.microsoft.com/office/drawing/2014/main" id="{4243E99E-FB62-3959-3ABB-134032759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" b="31677"/>
          <a:stretch>
            <a:fillRect/>
          </a:stretch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F58E115-496D-F92D-671C-7096BF5E1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625598"/>
            <a:ext cx="6272784" cy="40531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/>
              <a:t>Scenarios of where Shear Flow occurs: </a:t>
            </a:r>
            <a:r>
              <a:rPr lang="en-US" sz="2400"/>
              <a:t> </a:t>
            </a:r>
          </a:p>
          <a:p>
            <a:r>
              <a:rPr lang="en-US" sz="2400" b="1"/>
              <a:t>Industrial pipelines:</a:t>
            </a:r>
            <a:r>
              <a:rPr lang="en-US" sz="2400"/>
              <a:t> Oil, gas, and water transportation through pipes</a:t>
            </a:r>
          </a:p>
          <a:p>
            <a:r>
              <a:rPr lang="en-US" sz="2400" b="1"/>
              <a:t>Boundary Layers:</a:t>
            </a:r>
            <a:r>
              <a:rPr lang="en-US" sz="2400"/>
              <a:t> Air flowing over airplane wings or car bodies</a:t>
            </a:r>
          </a:p>
          <a:p>
            <a:r>
              <a:rPr lang="en-US" sz="2400" b="1"/>
              <a:t>Natural Environments: </a:t>
            </a:r>
            <a:r>
              <a:rPr lang="en-US" sz="2400"/>
              <a:t>ocean currents, river shear zones</a:t>
            </a:r>
          </a:p>
          <a:p>
            <a:r>
              <a:rPr lang="en-US" sz="2400" b="1"/>
              <a:t>Lubrication:</a:t>
            </a:r>
            <a:r>
              <a:rPr lang="en-US" sz="2400"/>
              <a:t> Thin oil films in engines and machinery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7" name="Picture 6" descr="Pipeline transport">
            <a:extLst>
              <a:ext uri="{FF2B5EF4-FFF2-40B4-BE49-F238E27FC236}">
                <a16:creationId xmlns:a16="http://schemas.microsoft.com/office/drawing/2014/main" id="{D7ED2FC1-888E-0709-80D3-3081EE261A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52"/>
          <a:stretch>
            <a:fillRect/>
          </a:stretch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6" name="Picture 5" descr="The Physics of Why Airplane Wings Oscillate in Turbulence | WIRED">
            <a:extLst>
              <a:ext uri="{FF2B5EF4-FFF2-40B4-BE49-F238E27FC236}">
                <a16:creationId xmlns:a16="http://schemas.microsoft.com/office/drawing/2014/main" id="{86ACEBB6-2A7B-4E1F-E24C-83B6DEFC51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549"/>
          <a:stretch>
            <a:fillRect/>
          </a:stretch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5714C90A-A15D-25E5-AFBD-6A7229C234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36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9252-6F1C-842E-A920-85E186F4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Modeling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090F8-E057-0656-DDF6-FBB071103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 predict tracer, pressure, and velocity fields in the shear flow system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314F66EC-4A0E-A1EA-0761-D4BA5138B4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79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82F5-55C9-29D8-FCAA-F5B8F73A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How it motivates the project?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C4EB23-2F47-AE65-54C6-C9C1711C3C44}"/>
              </a:ext>
            </a:extLst>
          </p:cNvPr>
          <p:cNvSpPr txBox="1">
            <a:spLocks/>
          </p:cNvSpPr>
          <p:nvPr/>
        </p:nvSpPr>
        <p:spPr>
          <a:xfrm>
            <a:off x="838200" y="1725420"/>
            <a:ext cx="10968002" cy="44515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Shear flows driven by pressure exhibit tightly linked </a:t>
            </a:r>
            <a:r>
              <a:rPr lang="en-US" b="1" dirty="0">
                <a:solidFill>
                  <a:schemeClr val="accent1"/>
                </a:solidFill>
                <a:ea typeface="+mn-lt"/>
                <a:cs typeface="+mn-lt"/>
              </a:rPr>
              <a:t>advection</a:t>
            </a:r>
            <a:r>
              <a:rPr lang="en-US" dirty="0">
                <a:ea typeface="+mn-lt"/>
                <a:cs typeface="+mn-lt"/>
              </a:rPr>
              <a:t>,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n-US" b="1" dirty="0">
                <a:solidFill>
                  <a:schemeClr val="accent1"/>
                </a:solidFill>
                <a:ea typeface="+mn-lt"/>
                <a:cs typeface="+mn-lt"/>
              </a:rPr>
              <a:t>viscous diffusion</a:t>
            </a:r>
            <a:r>
              <a:rPr lang="en-US" dirty="0">
                <a:ea typeface="+mn-lt"/>
                <a:cs typeface="+mn-lt"/>
              </a:rPr>
              <a:t>, and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n-US" b="1" dirty="0">
                <a:solidFill>
                  <a:schemeClr val="accent1"/>
                </a:solidFill>
                <a:ea typeface="+mn-lt"/>
                <a:cs typeface="+mn-lt"/>
              </a:rPr>
              <a:t>pressure</a:t>
            </a:r>
            <a:r>
              <a:rPr lang="en-US" dirty="0">
                <a:ea typeface="+mn-lt"/>
                <a:cs typeface="+mn-lt"/>
              </a:rPr>
              <a:t> effects across fluid layers.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project aims to utilize </a:t>
            </a:r>
            <a:r>
              <a:rPr lang="en-US" b="1" dirty="0"/>
              <a:t>deep learning to</a:t>
            </a:r>
            <a:r>
              <a:rPr lang="en-US" dirty="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solidFill>
                  <a:schemeClr val="accent1"/>
                </a:solidFill>
              </a:rPr>
              <a:t>Predict complex fluid dynamics </a:t>
            </a:r>
            <a:r>
              <a:rPr lang="en-US" dirty="0"/>
              <a:t>in a more time-efficient, data-driven way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solidFill>
                  <a:schemeClr val="accent1"/>
                </a:solidFill>
              </a:rPr>
              <a:t>Anticipate transport and flow patterns</a:t>
            </a:r>
            <a:r>
              <a:rPr lang="en-US" dirty="0"/>
              <a:t> in biological, environmental, and industrial shear flow systems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solidFill>
                  <a:schemeClr val="accent1"/>
                </a:solidFill>
              </a:rPr>
              <a:t>Design better pipelines or industrial fluid systems</a:t>
            </a:r>
            <a:r>
              <a:rPr lang="en-US" dirty="0"/>
              <a:t> with the knowledge of shear flow behavior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0528CE44-3B11-08F2-19EE-34FFD4D9A6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5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B690-EBAB-07C4-53F1-E2E669DC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What are we predicting with PARC?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C37F-718F-05E8-2524-2A0CCACE0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10" y="1704918"/>
            <a:ext cx="10535184" cy="43163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Velocity fields: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 u(x, y, t) and v(x, y, t)</a:t>
            </a:r>
            <a:r>
              <a:rPr lang="en-US" dirty="0">
                <a:solidFill>
                  <a:srgbClr val="000000"/>
                </a:solidFill>
              </a:rPr>
              <a:t> – a </a:t>
            </a:r>
            <a:r>
              <a:rPr lang="en-US" b="1" dirty="0">
                <a:solidFill>
                  <a:srgbClr val="000000"/>
                </a:solidFill>
              </a:rPr>
              <a:t>vector field </a:t>
            </a:r>
            <a:r>
              <a:rPr lang="en-US" dirty="0">
                <a:solidFill>
                  <a:srgbClr val="000000"/>
                </a:solidFill>
              </a:rPr>
              <a:t>consisting of horizontal velocity (carries shear layers), and vertical velocity (carries blob perturbations)</a:t>
            </a:r>
            <a:endParaRPr lang="en-US" dirty="0"/>
          </a:p>
          <a:p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Tracer: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s(x, y, t)</a:t>
            </a:r>
            <a:r>
              <a:rPr lang="en-US" dirty="0">
                <a:solidFill>
                  <a:srgbClr val="000000"/>
                </a:solidFill>
              </a:rPr>
              <a:t> – a </a:t>
            </a:r>
            <a:r>
              <a:rPr lang="en-US" b="1" dirty="0">
                <a:solidFill>
                  <a:srgbClr val="000000"/>
                </a:solidFill>
              </a:rPr>
              <a:t>scalar field </a:t>
            </a:r>
            <a:r>
              <a:rPr lang="en-US" dirty="0">
                <a:solidFill>
                  <a:srgbClr val="000000"/>
                </a:solidFill>
              </a:rPr>
              <a:t>carried by the flow, indicating the location and the speed of particle diffusion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Pressure Field:</a:t>
            </a: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p(x, y, t)</a:t>
            </a:r>
            <a:r>
              <a:rPr lang="en-US" dirty="0">
                <a:solidFill>
                  <a:srgbClr val="000000"/>
                </a:solidFill>
              </a:rPr>
              <a:t> – a </a:t>
            </a:r>
            <a:r>
              <a:rPr lang="en-US" b="1" dirty="0">
                <a:solidFill>
                  <a:srgbClr val="000000"/>
                </a:solidFill>
              </a:rPr>
              <a:t>scalar field </a:t>
            </a:r>
            <a:r>
              <a:rPr lang="en-US" dirty="0">
                <a:solidFill>
                  <a:srgbClr val="000000"/>
                </a:solidFill>
              </a:rPr>
              <a:t>that enforces incompressibility and governs the shear flow system</a:t>
            </a:r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BA497A90-43DE-5BE7-37CF-149089B7F1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97050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3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061E-964C-6B3D-40B5-553BF803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Overview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08C0C-9737-51EF-4126-317E13329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Overview of the fields and conditions in the dataset provided for shear flow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FB9A1B0E-AB2C-268C-12B2-A8E3DAFAB6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97050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5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236315C-5A4E-DA4F-FBF9-311A2DD9B082}"/>
              </a:ext>
            </a:extLst>
          </p:cNvPr>
          <p:cNvSpPr txBox="1">
            <a:spLocks/>
          </p:cNvSpPr>
          <p:nvPr/>
        </p:nvSpPr>
        <p:spPr>
          <a:xfrm>
            <a:off x="842493" y="575956"/>
            <a:ext cx="10515599" cy="914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Constants in the dataset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8E062FC-DD8C-6F5F-EF3B-5D16E495DFE0}"/>
              </a:ext>
            </a:extLst>
          </p:cNvPr>
          <p:cNvSpPr txBox="1">
            <a:spLocks/>
          </p:cNvSpPr>
          <p:nvPr/>
        </p:nvSpPr>
        <p:spPr>
          <a:xfrm>
            <a:off x="565481" y="3590765"/>
            <a:ext cx="11061036" cy="24000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</a:rPr>
              <a:t>Viscosity </a:t>
            </a:r>
            <a:r>
              <a:rPr lang="en-US" sz="3200" b="1" i="1" dirty="0">
                <a:solidFill>
                  <a:schemeClr val="accent1"/>
                </a:solidFill>
                <a:ea typeface="+mn-lt"/>
                <a:cs typeface="+mn-lt"/>
              </a:rPr>
              <a:t>µ</a:t>
            </a:r>
            <a:r>
              <a:rPr lang="en-US" b="1" i="1" dirty="0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en-US" b="1" i="1" dirty="0">
                <a:ea typeface="+mn-lt"/>
                <a:cs typeface="+mn-lt"/>
              </a:rPr>
              <a:t>= 1/Reynolds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</a:rPr>
              <a:t>Diffusivity D</a:t>
            </a:r>
            <a:r>
              <a:rPr lang="en-US" b="1" dirty="0"/>
              <a:t> = </a:t>
            </a:r>
            <a:r>
              <a:rPr lang="en-US" altLang="zh-CN" b="1" i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n-US" altLang="zh-CN" b="1" i="1" dirty="0">
                <a:ea typeface="+mn-lt"/>
                <a:cs typeface="+mn-lt"/>
              </a:rPr>
              <a:t>µ</a:t>
            </a:r>
            <a:r>
              <a:rPr lang="en-US" b="1" i="1" dirty="0"/>
              <a:t> / Schmidt</a:t>
            </a:r>
          </a:p>
          <a:p>
            <a:pPr marL="0" indent="0" algn="ctr">
              <a:buNone/>
            </a:pPr>
            <a:endParaRPr lang="en-US" sz="2600" b="1" i="1" dirty="0"/>
          </a:p>
          <a:p>
            <a:pPr marL="0" indent="0" algn="ctr">
              <a:buNone/>
            </a:pPr>
            <a:r>
              <a:rPr lang="en-US" sz="2600" b="1" i="1" dirty="0"/>
              <a:t>"How does the combination of </a:t>
            </a:r>
            <a:r>
              <a:rPr lang="en-US" sz="2600" b="1" i="1" dirty="0">
                <a:solidFill>
                  <a:schemeClr val="accent1"/>
                </a:solidFill>
              </a:rPr>
              <a:t>edge cases of Re &amp; Sc</a:t>
            </a:r>
            <a:r>
              <a:rPr lang="en-US" sz="2600" b="1" i="1" dirty="0"/>
              <a:t> affect shear flow?"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1C244C3-36C1-69FF-C574-D4CF765550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07902"/>
                  </p:ext>
                </p:extLst>
              </p:nvPr>
            </p:nvGraphicFramePr>
            <p:xfrm>
              <a:off x="934477" y="1490700"/>
              <a:ext cx="10323045" cy="19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41015">
                      <a:extLst>
                        <a:ext uri="{9D8B030D-6E8A-4147-A177-3AD203B41FA5}">
                          <a16:colId xmlns:a16="http://schemas.microsoft.com/office/drawing/2014/main" val="43093357"/>
                        </a:ext>
                      </a:extLst>
                    </a:gridCol>
                    <a:gridCol w="3632645">
                      <a:extLst>
                        <a:ext uri="{9D8B030D-6E8A-4147-A177-3AD203B41FA5}">
                          <a16:colId xmlns:a16="http://schemas.microsoft.com/office/drawing/2014/main" val="4260033292"/>
                        </a:ext>
                      </a:extLst>
                    </a:gridCol>
                    <a:gridCol w="3249385">
                      <a:extLst>
                        <a:ext uri="{9D8B030D-6E8A-4147-A177-3AD203B41FA5}">
                          <a16:colId xmlns:a16="http://schemas.microsoft.com/office/drawing/2014/main" val="17087204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Parameters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Values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Description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82576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Reynolds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1×10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b="0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1×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US" altLang="zh-CN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Determines the state of the flow (smooth or turbulent)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2192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Schmidt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0.1, 0.2, 0.5, 1.0, 2.0, 5.0, 10.0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controls the </a:t>
                          </a:r>
                          <a:r>
                            <a:rPr lang="en-US" altLang="zh-CN" b="1" dirty="0"/>
                            <a:t>thickness </a:t>
                          </a:r>
                          <a:r>
                            <a:rPr lang="en-US" altLang="zh-CN" dirty="0"/>
                            <a:t>of the flow, determine how quickly tracer spreads and diffuses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0102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1C244C3-36C1-69FF-C574-D4CF765550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07902"/>
                  </p:ext>
                </p:extLst>
              </p:nvPr>
            </p:nvGraphicFramePr>
            <p:xfrm>
              <a:off x="934477" y="1490700"/>
              <a:ext cx="10323045" cy="19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41015">
                      <a:extLst>
                        <a:ext uri="{9D8B030D-6E8A-4147-A177-3AD203B41FA5}">
                          <a16:colId xmlns:a16="http://schemas.microsoft.com/office/drawing/2014/main" val="43093357"/>
                        </a:ext>
                      </a:extLst>
                    </a:gridCol>
                    <a:gridCol w="3632645">
                      <a:extLst>
                        <a:ext uri="{9D8B030D-6E8A-4147-A177-3AD203B41FA5}">
                          <a16:colId xmlns:a16="http://schemas.microsoft.com/office/drawing/2014/main" val="4260033292"/>
                        </a:ext>
                      </a:extLst>
                    </a:gridCol>
                    <a:gridCol w="3249385">
                      <a:extLst>
                        <a:ext uri="{9D8B030D-6E8A-4147-A177-3AD203B41FA5}">
                          <a16:colId xmlns:a16="http://schemas.microsoft.com/office/drawing/2014/main" val="17087204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Parameters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Values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Description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825768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Reynolds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4966" t="-61905" r="-90101" b="-1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Determines the state of the flow (smooth or turbulent)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219255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/>
                            <a:t>Schmidt</a:t>
                          </a:r>
                          <a:endParaRPr lang="zh-CN" altLang="en-U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0.1, 0.2, 0.5, 1.0, 2.0, 5.0, 10.0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controls the </a:t>
                          </a:r>
                          <a:r>
                            <a:rPr lang="en-US" altLang="zh-CN" b="1" dirty="0"/>
                            <a:t>thickness </a:t>
                          </a:r>
                          <a:r>
                            <a:rPr lang="en-US" altLang="zh-CN" dirty="0"/>
                            <a:t>of the flow, determine how quickly tracer spreads and diffuses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01020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D3F76E78-B9EA-64C8-5867-70BE949F83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8CC9-68DE-AE4B-30C1-CDE6E013C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8BB5054-F640-DC34-8C32-A092859BE90A}"/>
              </a:ext>
            </a:extLst>
          </p:cNvPr>
          <p:cNvSpPr/>
          <p:nvPr/>
        </p:nvSpPr>
        <p:spPr>
          <a:xfrm>
            <a:off x="10661848" y="3756088"/>
            <a:ext cx="1166992" cy="30822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224CCD-3EC4-5F6E-7C23-C1CA5168A441}"/>
              </a:ext>
            </a:extLst>
          </p:cNvPr>
          <p:cNvSpPr/>
          <p:nvPr/>
        </p:nvSpPr>
        <p:spPr>
          <a:xfrm>
            <a:off x="10654554" y="656407"/>
            <a:ext cx="1166992" cy="30822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5D6F56-1988-DBB3-A052-760D3F0782DA}"/>
              </a:ext>
            </a:extLst>
          </p:cNvPr>
          <p:cNvSpPr/>
          <p:nvPr/>
        </p:nvSpPr>
        <p:spPr>
          <a:xfrm>
            <a:off x="-5403" y="3765368"/>
            <a:ext cx="1166992" cy="30729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C245EE-452E-4ECC-02A8-4ABF080AF448}"/>
              </a:ext>
            </a:extLst>
          </p:cNvPr>
          <p:cNvSpPr/>
          <p:nvPr/>
        </p:nvSpPr>
        <p:spPr>
          <a:xfrm>
            <a:off x="0" y="665683"/>
            <a:ext cx="1166992" cy="30729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95535E-A241-02B4-52BB-9554549B6264}"/>
              </a:ext>
            </a:extLst>
          </p:cNvPr>
          <p:cNvSpPr txBox="1">
            <a:spLocks/>
          </p:cNvSpPr>
          <p:nvPr/>
        </p:nvSpPr>
        <p:spPr>
          <a:xfrm>
            <a:off x="217212" y="0"/>
            <a:ext cx="6871227" cy="845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Edge Cases of Reynolds and Schmidt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C3F59F-0D2A-1CE7-673E-7D7CE78B01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47" t="15955" r="14482" b="10265"/>
          <a:stretch>
            <a:fillRect/>
          </a:stretch>
        </p:blipFill>
        <p:spPr>
          <a:xfrm>
            <a:off x="6262708" y="3796277"/>
            <a:ext cx="2181191" cy="15544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B113EAE-3C87-0ABD-08EB-B2D5924781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47" t="15965" r="14482" b="10254"/>
          <a:stretch>
            <a:fillRect/>
          </a:stretch>
        </p:blipFill>
        <p:spPr>
          <a:xfrm>
            <a:off x="6301285" y="763323"/>
            <a:ext cx="2142614" cy="15544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CA600AB-99EA-85C9-98AE-A249DF51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90" t="15955" r="15080" b="14271"/>
          <a:stretch>
            <a:fillRect/>
          </a:stretch>
        </p:blipFill>
        <p:spPr>
          <a:xfrm>
            <a:off x="1372374" y="3831393"/>
            <a:ext cx="2231716" cy="15544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59A5AD-41CC-2062-CFD6-87C0CCFA92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91" t="15687" r="13938" b="14539"/>
          <a:stretch>
            <a:fillRect/>
          </a:stretch>
        </p:blipFill>
        <p:spPr>
          <a:xfrm>
            <a:off x="1370150" y="723291"/>
            <a:ext cx="2265624" cy="15544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EE1CD24-C783-6048-E98E-668D1713A7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337" t="15905" r="14082" b="13079"/>
          <a:stretch>
            <a:fillRect/>
          </a:stretch>
        </p:blipFill>
        <p:spPr>
          <a:xfrm>
            <a:off x="3369230" y="736635"/>
            <a:ext cx="2235059" cy="15544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5C10C5-496A-4463-70B2-0BE557FA73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768" t="15443" r="13834" b="12574"/>
          <a:stretch>
            <a:fillRect/>
          </a:stretch>
        </p:blipFill>
        <p:spPr>
          <a:xfrm>
            <a:off x="1370150" y="2192902"/>
            <a:ext cx="2228566" cy="1554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AB5B5C-2393-7C8A-BDA9-CC1BBA494FA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402" t="15088" r="13834" b="11821"/>
          <a:stretch>
            <a:fillRect/>
          </a:stretch>
        </p:blipFill>
        <p:spPr>
          <a:xfrm>
            <a:off x="3421007" y="2184200"/>
            <a:ext cx="2176789" cy="15544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0B54B1D-EF10-E0B4-2381-9E522A0400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327" t="15905" r="14092" b="13079"/>
          <a:stretch>
            <a:fillRect/>
          </a:stretch>
        </p:blipFill>
        <p:spPr>
          <a:xfrm>
            <a:off x="8241377" y="736635"/>
            <a:ext cx="2235060" cy="1554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A5DFDB-2E88-5F05-0BF2-146074CB976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768" t="15443" r="13834" b="12574"/>
          <a:stretch>
            <a:fillRect/>
          </a:stretch>
        </p:blipFill>
        <p:spPr>
          <a:xfrm>
            <a:off x="6272862" y="2210888"/>
            <a:ext cx="2228565" cy="15544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29F8EBB-250F-BFAF-EBF1-88725732732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949" t="15088" r="13835" b="11821"/>
          <a:stretch>
            <a:fillRect/>
          </a:stretch>
        </p:blipFill>
        <p:spPr>
          <a:xfrm>
            <a:off x="8295349" y="2231146"/>
            <a:ext cx="2217949" cy="1554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53B7F4-4461-8F65-CE22-AF7AE6BA36E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9337" t="15993" r="14082" b="12991"/>
          <a:stretch>
            <a:fillRect/>
          </a:stretch>
        </p:blipFill>
        <p:spPr>
          <a:xfrm>
            <a:off x="3335553" y="3831393"/>
            <a:ext cx="2235058" cy="15544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33C2CD-0FCF-ADFB-9819-2467156C5BD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0000" t="12123" r="13834" b="13541"/>
          <a:stretch>
            <a:fillRect/>
          </a:stretch>
        </p:blipFill>
        <p:spPr>
          <a:xfrm>
            <a:off x="1369426" y="5172043"/>
            <a:ext cx="2123677" cy="1554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78FED8-4D8E-5824-9CFB-FE6E6E14304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7949" t="15132" r="13835" b="13426"/>
          <a:stretch>
            <a:fillRect/>
          </a:stretch>
        </p:blipFill>
        <p:spPr>
          <a:xfrm>
            <a:off x="3335135" y="5202993"/>
            <a:ext cx="2269154" cy="15544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4D0C2C0-5AA4-F97D-F012-687C4008FEE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9327" t="13089" r="14092" b="10879"/>
          <a:stretch>
            <a:fillRect/>
          </a:stretch>
        </p:blipFill>
        <p:spPr>
          <a:xfrm>
            <a:off x="8443899" y="3760726"/>
            <a:ext cx="2087609" cy="1554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7C488F-F5A7-3144-F644-161075C70B5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8768" t="14914" r="13834" b="13103"/>
          <a:stretch>
            <a:fillRect/>
          </a:stretch>
        </p:blipFill>
        <p:spPr>
          <a:xfrm>
            <a:off x="6296386" y="5234979"/>
            <a:ext cx="2228565" cy="1554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B3D8BD-E88B-26A2-C35C-95753B4DB245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949" t="15132" r="13835" b="11777"/>
          <a:stretch>
            <a:fillRect/>
          </a:stretch>
        </p:blipFill>
        <p:spPr>
          <a:xfrm>
            <a:off x="8378728" y="5182278"/>
            <a:ext cx="2217949" cy="15544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C8D3B3F-B118-1BF8-ED3B-7C1BEAB13C84}"/>
              </a:ext>
            </a:extLst>
          </p:cNvPr>
          <p:cNvSpPr/>
          <p:nvPr/>
        </p:nvSpPr>
        <p:spPr>
          <a:xfrm>
            <a:off x="1163117" y="665683"/>
            <a:ext cx="4637837" cy="30996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55FDC-917C-97C5-0999-0FFC9C1221EB}"/>
              </a:ext>
            </a:extLst>
          </p:cNvPr>
          <p:cNvSpPr txBox="1"/>
          <p:nvPr/>
        </p:nvSpPr>
        <p:spPr>
          <a:xfrm>
            <a:off x="0" y="1166892"/>
            <a:ext cx="11579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High </a:t>
            </a:r>
            <a:r>
              <a:rPr lang="en-US" sz="1200" b="1" dirty="0">
                <a:solidFill>
                  <a:schemeClr val="accent1"/>
                </a:solidFill>
              </a:rPr>
              <a:t>Reynolds &amp;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High</a:t>
            </a:r>
            <a:r>
              <a:rPr lang="en-US" sz="1200" b="1" dirty="0">
                <a:solidFill>
                  <a:schemeClr val="accent1"/>
                </a:solidFill>
              </a:rPr>
              <a:t> Schmidt</a:t>
            </a:r>
            <a:r>
              <a:rPr lang="en-US" sz="12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Strong </a:t>
            </a:r>
            <a:r>
              <a:rPr lang="en-US" sz="1200" b="1" dirty="0">
                <a:solidFill>
                  <a:schemeClr val="accent1"/>
                </a:solidFill>
              </a:rPr>
              <a:t>Advection, </a:t>
            </a:r>
            <a:r>
              <a:rPr lang="en-US" sz="1200" b="1" dirty="0"/>
              <a:t>Weak </a:t>
            </a:r>
            <a:r>
              <a:rPr lang="en-US" sz="1200" b="1" dirty="0">
                <a:solidFill>
                  <a:schemeClr val="accent1"/>
                </a:solidFill>
              </a:rPr>
              <a:t>diffusion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D26720-7684-EA7E-018B-BD3EC0EE3B36}"/>
              </a:ext>
            </a:extLst>
          </p:cNvPr>
          <p:cNvSpPr txBox="1"/>
          <p:nvPr/>
        </p:nvSpPr>
        <p:spPr>
          <a:xfrm>
            <a:off x="-23728" y="4322522"/>
            <a:ext cx="11579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Low </a:t>
            </a:r>
            <a:r>
              <a:rPr lang="en-US" sz="1200" b="1" dirty="0">
                <a:solidFill>
                  <a:schemeClr val="accent1"/>
                </a:solidFill>
              </a:rPr>
              <a:t>Reynolds &amp; </a:t>
            </a:r>
            <a:r>
              <a:rPr lang="en-US" sz="1200" b="1" dirty="0"/>
              <a:t>High </a:t>
            </a:r>
            <a:r>
              <a:rPr lang="en-US" sz="1200" b="1" dirty="0">
                <a:solidFill>
                  <a:schemeClr val="accent1"/>
                </a:solidFill>
              </a:rPr>
              <a:t> Schmidt</a:t>
            </a:r>
            <a:r>
              <a:rPr lang="en-US" sz="12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Weak </a:t>
            </a:r>
            <a:r>
              <a:rPr lang="en-US" sz="1200" b="1" dirty="0">
                <a:solidFill>
                  <a:schemeClr val="accent1"/>
                </a:solidFill>
              </a:rPr>
              <a:t>Advection, </a:t>
            </a:r>
            <a:r>
              <a:rPr lang="en-US" sz="1200" b="1" dirty="0"/>
              <a:t>Weak </a:t>
            </a:r>
            <a:r>
              <a:rPr lang="en-US" sz="1200" b="1" dirty="0">
                <a:solidFill>
                  <a:schemeClr val="accent1"/>
                </a:solidFill>
              </a:rPr>
              <a:t>diffusion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D9FE69-FC1A-8B7D-1F00-F1C4174C9E8B}"/>
              </a:ext>
            </a:extLst>
          </p:cNvPr>
          <p:cNvSpPr/>
          <p:nvPr/>
        </p:nvSpPr>
        <p:spPr>
          <a:xfrm>
            <a:off x="1163117" y="3756084"/>
            <a:ext cx="4637837" cy="30822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F6F4AD-E6FE-2F00-AD53-451E464F7B71}"/>
              </a:ext>
            </a:extLst>
          </p:cNvPr>
          <p:cNvSpPr/>
          <p:nvPr/>
        </p:nvSpPr>
        <p:spPr>
          <a:xfrm>
            <a:off x="6016718" y="661045"/>
            <a:ext cx="4637837" cy="30996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3D063E-91A8-0657-300B-4333ABDEC789}"/>
              </a:ext>
            </a:extLst>
          </p:cNvPr>
          <p:cNvSpPr/>
          <p:nvPr/>
        </p:nvSpPr>
        <p:spPr>
          <a:xfrm>
            <a:off x="6016717" y="3765368"/>
            <a:ext cx="4637837" cy="30729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B9E9B5-3CB6-EF16-2423-132DBC00FA36}"/>
              </a:ext>
            </a:extLst>
          </p:cNvPr>
          <p:cNvSpPr txBox="1"/>
          <p:nvPr/>
        </p:nvSpPr>
        <p:spPr>
          <a:xfrm>
            <a:off x="10663622" y="1166892"/>
            <a:ext cx="11579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High </a:t>
            </a:r>
            <a:r>
              <a:rPr lang="en-US" sz="1200" b="1" dirty="0">
                <a:solidFill>
                  <a:schemeClr val="accent1"/>
                </a:solidFill>
              </a:rPr>
              <a:t>Reynolds &amp;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Low</a:t>
            </a:r>
            <a:r>
              <a:rPr lang="en-US" sz="1200" b="1" dirty="0">
                <a:solidFill>
                  <a:schemeClr val="accent1"/>
                </a:solidFill>
              </a:rPr>
              <a:t> Schmidt</a:t>
            </a:r>
            <a:r>
              <a:rPr lang="en-US" sz="12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Strong </a:t>
            </a:r>
            <a:r>
              <a:rPr lang="en-US" sz="1200" b="1" dirty="0">
                <a:solidFill>
                  <a:schemeClr val="accent1"/>
                </a:solidFill>
              </a:rPr>
              <a:t>Advection, </a:t>
            </a:r>
            <a:r>
              <a:rPr lang="en-US" sz="1200" b="1" dirty="0"/>
              <a:t>Strong </a:t>
            </a:r>
            <a:r>
              <a:rPr lang="en-US" sz="1200" b="1" dirty="0">
                <a:solidFill>
                  <a:schemeClr val="accent1"/>
                </a:solidFill>
              </a:rPr>
              <a:t>diffusion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C13ADC-A5E1-EF92-2096-C88A5E863170}"/>
              </a:ext>
            </a:extLst>
          </p:cNvPr>
          <p:cNvSpPr txBox="1"/>
          <p:nvPr/>
        </p:nvSpPr>
        <p:spPr>
          <a:xfrm>
            <a:off x="10640971" y="4322522"/>
            <a:ext cx="11579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Low </a:t>
            </a:r>
            <a:r>
              <a:rPr lang="en-US" sz="1200" b="1" dirty="0">
                <a:solidFill>
                  <a:schemeClr val="accent1"/>
                </a:solidFill>
              </a:rPr>
              <a:t>Reynolds &amp;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Low</a:t>
            </a:r>
            <a:r>
              <a:rPr lang="en-US" sz="1200" b="1" dirty="0">
                <a:solidFill>
                  <a:schemeClr val="accent1"/>
                </a:solidFill>
              </a:rPr>
              <a:t> Schmidt</a:t>
            </a:r>
            <a:r>
              <a:rPr lang="en-US" sz="1200" b="1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Weak </a:t>
            </a:r>
            <a:r>
              <a:rPr lang="en-US" sz="1200" b="1" dirty="0">
                <a:solidFill>
                  <a:schemeClr val="accent1"/>
                </a:solidFill>
              </a:rPr>
              <a:t>Advection, </a:t>
            </a:r>
            <a:r>
              <a:rPr lang="en-US" sz="1200" b="1" dirty="0"/>
              <a:t>Strong </a:t>
            </a:r>
            <a:r>
              <a:rPr lang="en-US" sz="1200" b="1" dirty="0">
                <a:solidFill>
                  <a:schemeClr val="accent1"/>
                </a:solidFill>
              </a:rPr>
              <a:t>diffusion</a:t>
            </a:r>
            <a:endParaRPr lang="en-US" sz="1200" dirty="0">
              <a:solidFill>
                <a:schemeClr val="accent1"/>
              </a:solidFill>
            </a:endParaRP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478C119D-2FBC-BA52-A798-4E3DDE1F2FE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4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BD6D-64F0-CC36-A201-EA46265E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11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Initial Conditions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285A22C-87CE-9C73-0FF1-1E4FAE1696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407"/>
              </p:ext>
            </p:extLst>
          </p:nvPr>
        </p:nvGraphicFramePr>
        <p:xfrm>
          <a:off x="838200" y="1119043"/>
          <a:ext cx="10515600" cy="3596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796373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931349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50691294"/>
                    </a:ext>
                  </a:extLst>
                </a:gridCol>
              </a:tblGrid>
              <a:tr h="7007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0296"/>
                  </a:ext>
                </a:extLst>
              </a:tr>
              <a:tr h="70074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/>
                        <a:t>N_shear</a:t>
                      </a:r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2, 4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Number of parallel shear 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82636"/>
                  </a:ext>
                </a:extLst>
              </a:tr>
              <a:tr h="700746">
                <a:tc>
                  <a:txBody>
                    <a:bodyPr/>
                    <a:lstStyle/>
                    <a:p>
                      <a:pPr algn="ctr"/>
                      <a:r>
                        <a:rPr lang="en-US" sz="2200" b="1" err="1"/>
                        <a:t>N_blobs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2, 3, 4, 5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Number of sinusoidal perturbations per layer, controls how many wave-like 'blobs' appear.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639789"/>
                  </a:ext>
                </a:extLst>
              </a:tr>
              <a:tr h="70074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0.25, 0.5, 1.0, 2.0, 4.0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Width of the 'blobs'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291307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7B6A0FA-1789-4755-56A3-EACC92849129}"/>
              </a:ext>
            </a:extLst>
          </p:cNvPr>
          <p:cNvSpPr txBox="1">
            <a:spLocks/>
          </p:cNvSpPr>
          <p:nvPr/>
        </p:nvSpPr>
        <p:spPr>
          <a:xfrm>
            <a:off x="838200" y="4573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2"/>
                </a:solidFill>
              </a:rPr>
              <a:t>Boundary Condition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7C676D-AB8E-9295-01D2-D558FA6269D2}"/>
              </a:ext>
            </a:extLst>
          </p:cNvPr>
          <p:cNvSpPr txBox="1">
            <a:spLocks/>
          </p:cNvSpPr>
          <p:nvPr/>
        </p:nvSpPr>
        <p:spPr>
          <a:xfrm>
            <a:off x="730135" y="5738957"/>
            <a:ext cx="10515600" cy="10007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1"/>
                </a:solidFill>
              </a:rPr>
              <a:t>Frame structure of the simulation</a:t>
            </a:r>
            <a:r>
              <a:rPr lang="en-US"/>
              <a:t> – boundaries with periodic flows moving to all sides of the frame</a:t>
            </a:r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3F808C82-294C-9168-C175-591A87E2E0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17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CDB82-8782-30A1-63C0-2822E451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A6611B5-AEE6-4A76-A4E6-2DFDC0CD6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63" y="4080345"/>
            <a:ext cx="7497424" cy="150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63BFAC0-A9EC-8A6C-571B-85EBE56A7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98" y="1192538"/>
            <a:ext cx="7497418" cy="150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9F881-507D-198F-1E5C-0DF3AF6BF17C}"/>
              </a:ext>
            </a:extLst>
          </p:cNvPr>
          <p:cNvSpPr txBox="1"/>
          <p:nvPr/>
        </p:nvSpPr>
        <p:spPr>
          <a:xfrm>
            <a:off x="3027666" y="2799131"/>
            <a:ext cx="332334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(</a:t>
            </a:r>
            <a:r>
              <a:rPr lang="en-US" b="1" dirty="0" err="1"/>
              <a:t>n_shear</a:t>
            </a:r>
            <a:r>
              <a:rPr lang="en-US" b="1" dirty="0"/>
              <a:t>=2, </a:t>
            </a:r>
            <a:r>
              <a:rPr lang="en-US" b="1" dirty="0" err="1"/>
              <a:t>n_blob</a:t>
            </a:r>
            <a:r>
              <a:rPr lang="en-US" b="1" dirty="0"/>
              <a:t>=2, w=0.25)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E5779F8-DCA1-8038-38BF-C6F02084B28D}"/>
              </a:ext>
            </a:extLst>
          </p:cNvPr>
          <p:cNvCxnSpPr>
            <a:cxnSpLocks/>
            <a:stCxn id="4" idx="1"/>
            <a:endCxn id="1026" idx="3"/>
          </p:cNvCxnSpPr>
          <p:nvPr/>
        </p:nvCxnSpPr>
        <p:spPr>
          <a:xfrm flipH="1" flipV="1">
            <a:off x="8486816" y="1947161"/>
            <a:ext cx="1122552" cy="1481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6DD015-72EA-0CD4-9D98-9FA1C53F32D5}"/>
              </a:ext>
            </a:extLst>
          </p:cNvPr>
          <p:cNvCxnSpPr>
            <a:cxnSpLocks/>
            <a:stCxn id="4" idx="1"/>
            <a:endCxn id="1028" idx="3"/>
          </p:cNvCxnSpPr>
          <p:nvPr/>
        </p:nvCxnSpPr>
        <p:spPr>
          <a:xfrm flipH="1">
            <a:off x="8480487" y="3429000"/>
            <a:ext cx="1128881" cy="1405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F1304DC-AE54-6402-8CCC-5377934F49A6}"/>
              </a:ext>
            </a:extLst>
          </p:cNvPr>
          <p:cNvSpPr txBox="1"/>
          <p:nvPr/>
        </p:nvSpPr>
        <p:spPr>
          <a:xfrm>
            <a:off x="9609368" y="3244334"/>
            <a:ext cx="1699492" cy="369332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/>
              <a:t>Blob width (W)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C4AC81-1457-56E8-0BEA-6EF91E3FCB5D}"/>
              </a:ext>
            </a:extLst>
          </p:cNvPr>
          <p:cNvSpPr/>
          <p:nvPr/>
        </p:nvSpPr>
        <p:spPr>
          <a:xfrm>
            <a:off x="7206210" y="1373375"/>
            <a:ext cx="629248" cy="1553654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AB8B5E-4EB7-679A-9E53-2D9A321E0BA6}"/>
              </a:ext>
            </a:extLst>
          </p:cNvPr>
          <p:cNvCxnSpPr>
            <a:cxnSpLocks/>
            <a:stCxn id="15" idx="1"/>
            <a:endCxn id="13" idx="7"/>
          </p:cNvCxnSpPr>
          <p:nvPr/>
        </p:nvCxnSpPr>
        <p:spPr>
          <a:xfrm flipH="1">
            <a:off x="7743307" y="836910"/>
            <a:ext cx="1083663" cy="763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FDB7E6E-5846-8F54-A7B4-AB1CA6FA5E81}"/>
              </a:ext>
            </a:extLst>
          </p:cNvPr>
          <p:cNvSpPr txBox="1"/>
          <p:nvPr/>
        </p:nvSpPr>
        <p:spPr>
          <a:xfrm>
            <a:off x="8826970" y="652244"/>
            <a:ext cx="2610510" cy="369332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/>
              <a:t>Num of Blobs (</a:t>
            </a:r>
            <a:r>
              <a:rPr lang="en-US" b="1" dirty="0" err="1"/>
              <a:t>n_blob</a:t>
            </a:r>
            <a:r>
              <a:rPr lang="en-US" b="1" dirty="0"/>
              <a:t>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CBFCB6-2D9E-DE36-BC6E-E91B65B3F87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1529542" y="3798332"/>
            <a:ext cx="525120" cy="65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D0C8B3-A456-E320-5DD0-2BE760B89A8C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2054662" y="3798332"/>
            <a:ext cx="527970" cy="65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5353E2-8EC6-E4D5-DEB8-14FAAFBCBD0C}"/>
              </a:ext>
            </a:extLst>
          </p:cNvPr>
          <p:cNvSpPr txBox="1"/>
          <p:nvPr/>
        </p:nvSpPr>
        <p:spPr>
          <a:xfrm>
            <a:off x="635340" y="3429000"/>
            <a:ext cx="2838644" cy="369332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/>
              <a:t>Num of shears (</a:t>
            </a:r>
            <a:r>
              <a:rPr lang="en-US" b="1" dirty="0" err="1"/>
              <a:t>n_shear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D8C32-5829-D2AA-DC9A-D727AA989AFC}"/>
              </a:ext>
            </a:extLst>
          </p:cNvPr>
          <p:cNvSpPr txBox="1"/>
          <p:nvPr/>
        </p:nvSpPr>
        <p:spPr>
          <a:xfrm>
            <a:off x="3027666" y="5686939"/>
            <a:ext cx="3408218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(</a:t>
            </a:r>
            <a:r>
              <a:rPr lang="en-US" b="1" dirty="0" err="1"/>
              <a:t>n_shear</a:t>
            </a:r>
            <a:r>
              <a:rPr lang="en-US" b="1" dirty="0"/>
              <a:t>=2, </a:t>
            </a:r>
            <a:r>
              <a:rPr lang="en-US" b="1" dirty="0" err="1"/>
              <a:t>n_blob</a:t>
            </a:r>
            <a:r>
              <a:rPr lang="en-US" b="1" dirty="0"/>
              <a:t>=2, w=4)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947A24-72F2-3F4F-FE4A-43EB1190AA03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1596044" y="2719125"/>
            <a:ext cx="458618" cy="709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8DA99D-ACB2-43D0-8999-5A3C731AC3F0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054662" y="2719125"/>
            <a:ext cx="527970" cy="709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itle 1">
            <a:extLst>
              <a:ext uri="{FF2B5EF4-FFF2-40B4-BE49-F238E27FC236}">
                <a16:creationId xmlns:a16="http://schemas.microsoft.com/office/drawing/2014/main" id="{2C81A72E-74D2-6E2C-DD17-D50079C9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11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Initial Conditions 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D36F8B8A-939D-8BA9-5D44-FBAAA80308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63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2A9C-9196-F50E-C9A1-91B6ECF2D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Spatial Down Sampling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EE0EEE-496E-85B6-5CB7-BBC1C49C6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169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b="1" dirty="0">
                <a:solidFill>
                  <a:schemeClr val="accent1"/>
                </a:solidFill>
              </a:rPr>
              <a:t>Reynolds = 2e-1, Schmidt = 1e4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0308D2A7-CC74-0366-ED14-ED6C8E111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1" t="20859" r="7551" b="22722"/>
          <a:stretch>
            <a:fillRect/>
          </a:stretch>
        </p:blipFill>
        <p:spPr>
          <a:xfrm>
            <a:off x="0" y="2427316"/>
            <a:ext cx="12200768" cy="3472051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FF163860-28B6-614C-E6F4-385069BB8B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4C921-CE40-3394-E336-D45ABD5E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1DE0-C30B-3841-DFF1-D8C457C9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Temporal Down Sampling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332297-2D0D-FDCE-C376-0FD8BF0C5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169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b="1" dirty="0">
                <a:solidFill>
                  <a:schemeClr val="accent1"/>
                </a:solidFill>
              </a:rPr>
              <a:t>Reynolds = 2e-1, Schmidt = 1e4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4EBD3EE4-793F-FEA3-69AD-46CB0E981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4" t="20369" r="7864" b="21211"/>
          <a:stretch>
            <a:fillRect/>
          </a:stretch>
        </p:blipFill>
        <p:spPr>
          <a:xfrm>
            <a:off x="9008" y="2337809"/>
            <a:ext cx="12173984" cy="3593592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8D628A31-CC26-E110-D782-39CF068036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40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2094-8B68-7B8C-6D9C-F6E19D60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Trajectory Overview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D9CC-F80D-2715-2E92-06ABC02F9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068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33</a:t>
            </a:r>
            <a:r>
              <a:rPr lang="en-US" dirty="0"/>
              <a:t> </a:t>
            </a:r>
            <a:r>
              <a:rPr lang="en-US" b="1" dirty="0"/>
              <a:t>data files</a:t>
            </a:r>
            <a:r>
              <a:rPr lang="en-US" dirty="0"/>
              <a:t> in total</a:t>
            </a:r>
          </a:p>
          <a:p>
            <a:endParaRPr lang="en-US" dirty="0"/>
          </a:p>
          <a:p>
            <a:r>
              <a:rPr lang="en-US" dirty="0"/>
              <a:t>10 files with 4 trajectories per file -&gt; Original </a:t>
            </a:r>
            <a:r>
              <a:rPr lang="en-US" b="1" dirty="0"/>
              <a:t>Test Samples</a:t>
            </a:r>
          </a:p>
          <a:p>
            <a:r>
              <a:rPr lang="en-US" dirty="0"/>
              <a:t>23 files with 32 trajectories per file -&gt; Original </a:t>
            </a:r>
            <a:r>
              <a:rPr lang="en-US" b="1" dirty="0"/>
              <a:t>Train Samples</a:t>
            </a:r>
          </a:p>
          <a:p>
            <a:endParaRPr lang="en-US" dirty="0"/>
          </a:p>
          <a:p>
            <a:r>
              <a:rPr lang="en-US" dirty="0"/>
              <a:t>The 10 files are duplicates of the </a:t>
            </a:r>
            <a:r>
              <a:rPr lang="en-US" b="1" dirty="0">
                <a:solidFill>
                  <a:schemeClr val="accent1"/>
                </a:solidFill>
              </a:rPr>
              <a:t>same initial/boundary conditions and constants</a:t>
            </a:r>
            <a:r>
              <a:rPr lang="en-US" dirty="0"/>
              <a:t> but with different trajectories 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D34A20C5-C6FF-AC98-2BD1-7C911A801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D7B3-21A0-B60F-51C0-92BFD460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Train-Test Split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382E9-D062-EF36-747E-255E6381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Re-split dataset based off Schmidt numbers for better optimization 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CC90E39E-120C-2A89-F9C2-778354F9A3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7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F956-26A7-CC39-9AE1-6E0C0D25E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883"/>
            <a:ext cx="10515600" cy="148359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Re-splitting the dataset </a:t>
            </a:r>
            <a:r>
              <a:rPr lang="en-US" altLang="zh-CN" dirty="0"/>
              <a:t>based </a:t>
            </a:r>
            <a:r>
              <a:rPr lang="en-US" dirty="0"/>
              <a:t>off </a:t>
            </a:r>
            <a:r>
              <a:rPr lang="en-US" b="1" dirty="0">
                <a:solidFill>
                  <a:schemeClr val="accent1"/>
                </a:solidFill>
              </a:rPr>
              <a:t>Schmidt constant</a:t>
            </a:r>
            <a:r>
              <a:rPr lang="en-US" dirty="0"/>
              <a:t> for </a:t>
            </a:r>
            <a:r>
              <a:rPr lang="en-US" b="1" dirty="0">
                <a:solidFill>
                  <a:schemeClr val="accent1"/>
                </a:solidFill>
              </a:rPr>
              <a:t>interpolation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extrapolation 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With the </a:t>
            </a:r>
            <a:r>
              <a:rPr lang="en-US" b="1" dirty="0">
                <a:solidFill>
                  <a:schemeClr val="accent1"/>
                </a:solidFill>
              </a:rPr>
              <a:t>same number of trajectories</a:t>
            </a:r>
            <a:r>
              <a:rPr lang="en-US" dirty="0">
                <a:solidFill>
                  <a:schemeClr val="accent1"/>
                </a:solidFill>
              </a:rPr>
              <a:t> + </a:t>
            </a:r>
            <a:r>
              <a:rPr lang="en-US" b="1" dirty="0">
                <a:solidFill>
                  <a:schemeClr val="accent1"/>
                </a:solidFill>
              </a:rPr>
              <a:t>unique constant and initial conditions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E692A-AA9C-28E5-D586-6FB536F7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Re-splitting the dataset </a:t>
            </a:r>
          </a:p>
        </p:txBody>
      </p:sp>
      <p:pic>
        <p:nvPicPr>
          <p:cNvPr id="9" name="Picture 8" descr="A graph with colored dots and numbers&#10;&#10;AI-generated content may be incorrect.">
            <a:extLst>
              <a:ext uri="{FF2B5EF4-FFF2-40B4-BE49-F238E27FC236}">
                <a16:creationId xmlns:a16="http://schemas.microsoft.com/office/drawing/2014/main" id="{95351E41-1A77-2BB8-4CB9-26A91758E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83" y="2593978"/>
            <a:ext cx="11659419" cy="4160883"/>
          </a:xfrm>
          <a:prstGeom prst="rect">
            <a:avLst/>
          </a:prstGeom>
        </p:spPr>
      </p:pic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F88CD727-0C0B-0D58-ADF3-E408F23BAA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5215538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94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1AB-7F38-2B7A-2E38-7B7A7DEE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2FC4-2590-E9A1-6EE8-49C44C69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79884-3C03-90D0-DF84-DC3260422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Re-designing differentiator and the data loader for better training 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F4BC687-3497-F2CE-8EB6-2AA7E06807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01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B8A7-FBFE-3682-0642-81873FD6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Model Building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87FA4-FE9E-E215-983C-FD18C002D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464"/>
            <a:ext cx="10515600" cy="48384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Adjusted Differentiator </a:t>
            </a:r>
            <a:r>
              <a:rPr lang="en-US" dirty="0"/>
              <a:t>to take in Reynolds and Schmidt constants fields and consider their time-derivatives as zeroes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Ensure model learns the </a:t>
            </a:r>
            <a:r>
              <a:rPr lang="en-US" b="1" dirty="0">
                <a:solidFill>
                  <a:schemeClr val="accent1"/>
                </a:solidFill>
              </a:rPr>
              <a:t>real physical dynamics</a:t>
            </a:r>
            <a:r>
              <a:rPr lang="en-US" dirty="0"/>
              <a:t> of shear flow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r>
              <a:rPr lang="en-US" altLang="zh-CN" b="1" dirty="0">
                <a:solidFill>
                  <a:schemeClr val="accent1"/>
                </a:solidFill>
              </a:rPr>
              <a:t>Extracted Single Trajectories </a:t>
            </a:r>
            <a:r>
              <a:rPr lang="en-US" altLang="zh-CN" dirty="0"/>
              <a:t>for faster training/validation purposes</a:t>
            </a:r>
          </a:p>
          <a:p>
            <a:endParaRPr lang="en-US" altLang="zh-CN" dirty="0"/>
          </a:p>
          <a:p>
            <a:r>
              <a:rPr lang="en-US" b="1" dirty="0">
                <a:solidFill>
                  <a:schemeClr val="accent1"/>
                </a:solidFill>
              </a:rPr>
              <a:t>Adjusted Integrator </a:t>
            </a:r>
            <a:r>
              <a:rPr lang="en-US" dirty="0"/>
              <a:t>to take in velocity fields as state variables to ensure model learns velocity evolving in time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D9E1157-93C4-06CD-CB57-2F8B57E0AB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0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5E29-CB25-0924-C13F-F28FA177D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1F50-0186-8FFD-8165-5C7B55A5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Model Building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88A6B-A4D1-7454-EDE2-191404721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464"/>
            <a:ext cx="10515600" cy="48384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Computed spatial reductions &amp; temporal skips </a:t>
            </a:r>
            <a:r>
              <a:rPr lang="en-US" dirty="0"/>
              <a:t>for faster and more time-efficient trainings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Reduced spatial size of data to 1/3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Skips 10 – 20 temporal steps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Does not undermine the training output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9AC0072B-049E-BDF6-FC8C-255B9D70DE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58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2B2B-9318-E08B-5944-D47D4EAB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4703-E919-4139-0673-2FADCE95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480"/>
            <a:ext cx="10515600" cy="1325563"/>
          </a:xfrm>
        </p:spPr>
        <p:txBody>
          <a:bodyPr/>
          <a:lstStyle/>
          <a:p>
            <a:r>
              <a:rPr lang="en-US" b="1" dirty="0"/>
              <a:t>Training Strategies #1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3CAAD-E6DB-A3F7-C070-2AEB2C7CBF91}"/>
              </a:ext>
            </a:extLst>
          </p:cNvPr>
          <p:cNvSpPr txBox="1"/>
          <p:nvPr/>
        </p:nvSpPr>
        <p:spPr>
          <a:xfrm>
            <a:off x="1617271" y="1508838"/>
            <a:ext cx="3429966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Extract </a:t>
            </a:r>
            <a:r>
              <a:rPr lang="en-US" altLang="zh-CN" b="1" dirty="0"/>
              <a:t>two files {Sc=0.5 &amp; 2.0} </a:t>
            </a:r>
            <a:r>
              <a:rPr lang="en-US" altLang="zh-CN" dirty="0"/>
              <a:t>for both </a:t>
            </a:r>
            <a:r>
              <a:rPr lang="en-US" altLang="zh-CN" dirty="0">
                <a:highlight>
                  <a:srgbClr val="FFFF00"/>
                </a:highlight>
              </a:rPr>
              <a:t>training</a:t>
            </a:r>
            <a:r>
              <a:rPr lang="en-US" altLang="zh-CN" dirty="0"/>
              <a:t> and </a:t>
            </a:r>
            <a:r>
              <a:rPr lang="en-US" altLang="zh-CN" dirty="0">
                <a:highlight>
                  <a:srgbClr val="FFFF00"/>
                </a:highlight>
              </a:rPr>
              <a:t>validation</a:t>
            </a:r>
          </a:p>
        </p:txBody>
      </p:sp>
      <p:pic>
        <p:nvPicPr>
          <p:cNvPr id="6" name="Picture 5" descr="A graph with colored dots and numbers&#10;&#10;AI-generated content may be incorrect.">
            <a:extLst>
              <a:ext uri="{FF2B5EF4-FFF2-40B4-BE49-F238E27FC236}">
                <a16:creationId xmlns:a16="http://schemas.microsoft.com/office/drawing/2014/main" id="{D142E62B-71E2-0BC5-64F2-1395A5610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90" y="2254964"/>
            <a:ext cx="11659419" cy="416088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2011D5-C703-9429-E2B5-C84618517277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402378" y="2155169"/>
            <a:ext cx="929876" cy="254766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05299C-38EC-D526-BF0B-C7A8C77DAE2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332254" y="2155169"/>
            <a:ext cx="416786" cy="254766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835DAE-DFC8-EF65-9A7A-78369BE58716}"/>
              </a:ext>
            </a:extLst>
          </p:cNvPr>
          <p:cNvSpPr txBox="1"/>
          <p:nvPr/>
        </p:nvSpPr>
        <p:spPr>
          <a:xfrm>
            <a:off x="7144763" y="1336689"/>
            <a:ext cx="3966830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Train on </a:t>
            </a:r>
            <a:r>
              <a:rPr lang="en-US" altLang="zh-CN" sz="2000" b="1" dirty="0"/>
              <a:t>full trajectories</a:t>
            </a:r>
            <a:r>
              <a:rPr lang="en-US" altLang="zh-CN" sz="2000" dirty="0"/>
              <a:t> and validate on </a:t>
            </a:r>
            <a:r>
              <a:rPr lang="en-US" altLang="zh-CN" sz="2000" b="1" dirty="0"/>
              <a:t>single trajectory </a:t>
            </a:r>
            <a:r>
              <a:rPr lang="en-US" altLang="zh-CN" sz="2000" dirty="0"/>
              <a:t>samples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8B1587-2229-71C9-61DB-95D97EADB8FC}"/>
              </a:ext>
            </a:extLst>
          </p:cNvPr>
          <p:cNvSpPr txBox="1"/>
          <p:nvPr/>
        </p:nvSpPr>
        <p:spPr>
          <a:xfrm>
            <a:off x="7144763" y="3017657"/>
            <a:ext cx="3966830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Compute validation loss at each epoch, select the model </a:t>
            </a:r>
            <a:r>
              <a:rPr lang="en-US" altLang="zh-CN" sz="2000" b="1" dirty="0">
                <a:solidFill>
                  <a:schemeClr val="accent1"/>
                </a:solidFill>
              </a:rPr>
              <a:t>with the lowest loss for final inference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5019A3-B811-D1B7-5E63-4BF45F46CCA8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402378" y="2155169"/>
            <a:ext cx="929876" cy="3193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9D1755-7099-DC5C-B042-67A031391FA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332254" y="2155169"/>
            <a:ext cx="416786" cy="3382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02C830C-91B0-8E46-9D6C-324614B6521D}"/>
              </a:ext>
            </a:extLst>
          </p:cNvPr>
          <p:cNvSpPr/>
          <p:nvPr/>
        </p:nvSpPr>
        <p:spPr>
          <a:xfrm>
            <a:off x="2235200" y="4672797"/>
            <a:ext cx="250565" cy="2582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27C649-BAD7-E2F3-DE4C-67933816A2A7}"/>
              </a:ext>
            </a:extLst>
          </p:cNvPr>
          <p:cNvSpPr/>
          <p:nvPr/>
        </p:nvSpPr>
        <p:spPr>
          <a:xfrm>
            <a:off x="2235200" y="5415219"/>
            <a:ext cx="250565" cy="2582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0AE1DD6-7120-D03A-0D8D-075FF79BC050}"/>
              </a:ext>
            </a:extLst>
          </p:cNvPr>
          <p:cNvSpPr/>
          <p:nvPr/>
        </p:nvSpPr>
        <p:spPr>
          <a:xfrm>
            <a:off x="3664968" y="4715889"/>
            <a:ext cx="250565" cy="2582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9827CB-2375-B07D-E26B-8F77643CC010}"/>
              </a:ext>
            </a:extLst>
          </p:cNvPr>
          <p:cNvSpPr/>
          <p:nvPr/>
        </p:nvSpPr>
        <p:spPr>
          <a:xfrm>
            <a:off x="3664967" y="5507892"/>
            <a:ext cx="250565" cy="2582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8C908-019E-905E-A2B2-523F016B68DC}"/>
              </a:ext>
            </a:extLst>
          </p:cNvPr>
          <p:cNvSpPr txBox="1"/>
          <p:nvPr/>
        </p:nvSpPr>
        <p:spPr>
          <a:xfrm>
            <a:off x="7144763" y="4646346"/>
            <a:ext cx="3966830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Train two models </a:t>
            </a:r>
            <a:r>
              <a:rPr lang="en-US" altLang="zh-CN" sz="2000" dirty="0"/>
              <a:t>with </a:t>
            </a:r>
            <a:r>
              <a:rPr lang="en-US" altLang="zh-CN" sz="2000" b="1" dirty="0">
                <a:solidFill>
                  <a:schemeClr val="accent1"/>
                </a:solidFill>
              </a:rPr>
              <a:t>different integrators</a:t>
            </a:r>
            <a:r>
              <a:rPr lang="en-US" altLang="zh-CN" sz="2000" dirty="0"/>
              <a:t> at the same time to evaluate performance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7E18F0D9-56AB-7D81-D7F2-25765C2AC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78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51E05-D4BB-BF37-9567-94E45B50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0155-ADE8-D99E-026F-5E476B91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3480"/>
            <a:ext cx="10515600" cy="1325563"/>
          </a:xfrm>
        </p:spPr>
        <p:txBody>
          <a:bodyPr/>
          <a:lstStyle/>
          <a:p>
            <a:r>
              <a:rPr lang="en-US" b="1" dirty="0"/>
              <a:t>Training Strategies #2 (Current)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0C584-6945-A185-8EDC-521C072AE2E7}"/>
              </a:ext>
            </a:extLst>
          </p:cNvPr>
          <p:cNvSpPr txBox="1"/>
          <p:nvPr/>
        </p:nvSpPr>
        <p:spPr>
          <a:xfrm>
            <a:off x="1617270" y="1508838"/>
            <a:ext cx="385235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Extract </a:t>
            </a:r>
            <a:r>
              <a:rPr lang="en-US" altLang="zh-CN" b="1" dirty="0"/>
              <a:t>two files {Sc=0.5 &amp; 2.0} </a:t>
            </a:r>
            <a:r>
              <a:rPr lang="en-US" altLang="zh-CN" dirty="0"/>
              <a:t>for </a:t>
            </a:r>
            <a:r>
              <a:rPr lang="en-US" altLang="zh-CN" dirty="0">
                <a:highlight>
                  <a:srgbClr val="FFFF00"/>
                </a:highlight>
              </a:rPr>
              <a:t>validation </a:t>
            </a:r>
            <a:r>
              <a:rPr lang="en-US" altLang="zh-CN" dirty="0"/>
              <a:t>and </a:t>
            </a:r>
            <a:r>
              <a:rPr lang="en-US" altLang="zh-CN" b="1" dirty="0"/>
              <a:t>all files </a:t>
            </a:r>
            <a:r>
              <a:rPr lang="en-US" altLang="zh-CN" dirty="0"/>
              <a:t>for </a:t>
            </a:r>
            <a:r>
              <a:rPr lang="en-US" altLang="zh-CN" dirty="0">
                <a:highlight>
                  <a:srgbClr val="FFFF00"/>
                </a:highlight>
              </a:rPr>
              <a:t>training</a:t>
            </a:r>
          </a:p>
        </p:txBody>
      </p:sp>
      <p:pic>
        <p:nvPicPr>
          <p:cNvPr id="6" name="Picture 5" descr="A graph with colored dots and numbers&#10;&#10;AI-generated content may be incorrect.">
            <a:extLst>
              <a:ext uri="{FF2B5EF4-FFF2-40B4-BE49-F238E27FC236}">
                <a16:creationId xmlns:a16="http://schemas.microsoft.com/office/drawing/2014/main" id="{0C0E70AF-4638-2A1D-7282-508BF0FFD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90" y="2254964"/>
            <a:ext cx="11659419" cy="416088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CF4774-185E-822F-6B7E-AC5730062519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402378" y="2155169"/>
            <a:ext cx="1141068" cy="254766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7F09C8-557D-7992-05A7-E4F3B4700A3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543446" y="2155169"/>
            <a:ext cx="205594" cy="254766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3359AFB-4408-970E-FC95-08BA858D2565}"/>
              </a:ext>
            </a:extLst>
          </p:cNvPr>
          <p:cNvSpPr txBox="1"/>
          <p:nvPr/>
        </p:nvSpPr>
        <p:spPr>
          <a:xfrm>
            <a:off x="7144763" y="1336689"/>
            <a:ext cx="3333087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Train and validate on </a:t>
            </a:r>
            <a:r>
              <a:rPr lang="en-US" altLang="zh-CN" sz="2000" b="1" dirty="0"/>
              <a:t>single trajectory</a:t>
            </a:r>
            <a:r>
              <a:rPr lang="en-US" altLang="zh-CN" sz="2000" dirty="0"/>
              <a:t> samples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A6D685-A8AE-4F6F-3F4A-BAEFE42252A2}"/>
              </a:ext>
            </a:extLst>
          </p:cNvPr>
          <p:cNvSpPr txBox="1"/>
          <p:nvPr/>
        </p:nvSpPr>
        <p:spPr>
          <a:xfrm>
            <a:off x="7144763" y="3017657"/>
            <a:ext cx="3966830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Compute validation loss at each epoch, select the model </a:t>
            </a:r>
            <a:r>
              <a:rPr lang="en-US" altLang="zh-CN" sz="2000" b="1" dirty="0">
                <a:solidFill>
                  <a:schemeClr val="accent1"/>
                </a:solidFill>
              </a:rPr>
              <a:t>with the lowest loss for final inference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40CB95-764F-E7E4-CE31-34378C027235}"/>
              </a:ext>
            </a:extLst>
          </p:cNvPr>
          <p:cNvCxnSpPr>
            <a:cxnSpLocks/>
            <a:stCxn id="5" idx="2"/>
            <a:endCxn id="27" idx="0"/>
          </p:cNvCxnSpPr>
          <p:nvPr/>
        </p:nvCxnSpPr>
        <p:spPr>
          <a:xfrm>
            <a:off x="3543446" y="2155169"/>
            <a:ext cx="796954" cy="3237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29BA2D2-4111-8940-87B7-3B0747FE0301}"/>
              </a:ext>
            </a:extLst>
          </p:cNvPr>
          <p:cNvSpPr/>
          <p:nvPr/>
        </p:nvSpPr>
        <p:spPr>
          <a:xfrm>
            <a:off x="2235200" y="4672797"/>
            <a:ext cx="250565" cy="2582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8120CF7-3B21-28FA-FE68-711581BBF744}"/>
              </a:ext>
            </a:extLst>
          </p:cNvPr>
          <p:cNvSpPr/>
          <p:nvPr/>
        </p:nvSpPr>
        <p:spPr>
          <a:xfrm>
            <a:off x="1675993" y="5392207"/>
            <a:ext cx="5328814" cy="48957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A30AB8E-2B3C-B4C1-F07F-11DE8CF2B966}"/>
              </a:ext>
            </a:extLst>
          </p:cNvPr>
          <p:cNvSpPr/>
          <p:nvPr/>
        </p:nvSpPr>
        <p:spPr>
          <a:xfrm>
            <a:off x="3664968" y="4715889"/>
            <a:ext cx="250565" cy="2582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FD883-F153-E443-AB43-CDBD1CA74C6B}"/>
              </a:ext>
            </a:extLst>
          </p:cNvPr>
          <p:cNvSpPr txBox="1"/>
          <p:nvPr/>
        </p:nvSpPr>
        <p:spPr>
          <a:xfrm>
            <a:off x="7144763" y="4646346"/>
            <a:ext cx="3966830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Train two models </a:t>
            </a:r>
            <a:r>
              <a:rPr lang="en-US" altLang="zh-CN" sz="2000" dirty="0"/>
              <a:t>with </a:t>
            </a:r>
            <a:r>
              <a:rPr lang="en-US" altLang="zh-CN" sz="2000" b="1" dirty="0">
                <a:solidFill>
                  <a:schemeClr val="accent1"/>
                </a:solidFill>
              </a:rPr>
              <a:t>different integrators</a:t>
            </a:r>
            <a:r>
              <a:rPr lang="en-US" altLang="zh-CN" sz="2000" dirty="0"/>
              <a:t> at the same time to evaluate performance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pic>
        <p:nvPicPr>
          <p:cNvPr id="12" name="Picture 11" descr="A close-up of a logo&#10;&#10;AI-generated content may be incorrect.">
            <a:extLst>
              <a:ext uri="{FF2B5EF4-FFF2-40B4-BE49-F238E27FC236}">
                <a16:creationId xmlns:a16="http://schemas.microsoft.com/office/drawing/2014/main" id="{63BE634C-2A33-A790-05D5-2353BE0EF0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83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8716-0D46-05E3-8F52-B92BA3236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37C1-345C-D16C-13E5-86A65F0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Model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B884E-96D6-2921-DBE8-782EE2F28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Outputs of the model from initial rounds of training 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1F61E8A7-C36A-43DB-A837-921F638092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52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4C1C-FDA2-E178-7819-60AFC121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Euler Model Inference </a:t>
            </a:r>
            <a:endParaRPr lang="zh-CN" alt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83056-C325-EB43-0E5B-5ED294DA5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Evaluating model outputs on Train, Test, and Validation Samples</a:t>
            </a:r>
            <a:endParaRPr lang="zh-CN" alt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191B6F18-B2A8-D082-B8A2-AF6AA8D594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20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40019-86DA-D3D3-01AD-65B8FEC0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34234A-4AF9-2FA6-201B-01A48BED0276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Snapshot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3D2C8-3019-053D-9C87-C4DFF0C24592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C15CA-EEBF-AF3B-43AF-705621F2219B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18" name="Picture 17" descr="A red and blue lines&#10;&#10;AI-generated content may be incorrect.">
            <a:extLst>
              <a:ext uri="{FF2B5EF4-FFF2-40B4-BE49-F238E27FC236}">
                <a16:creationId xmlns:a16="http://schemas.microsoft.com/office/drawing/2014/main" id="{72F1B3C2-1380-D201-5158-9664C82A4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49" y="1714500"/>
            <a:ext cx="4937760" cy="2468880"/>
          </a:xfrm>
          <a:prstGeom prst="rect">
            <a:avLst/>
          </a:prstGeom>
        </p:spPr>
      </p:pic>
      <p:pic>
        <p:nvPicPr>
          <p:cNvPr id="20" name="Picture 19" descr="A close-up of a screen&#10;&#10;AI-generated content may be incorrect.">
            <a:extLst>
              <a:ext uri="{FF2B5EF4-FFF2-40B4-BE49-F238E27FC236}">
                <a16:creationId xmlns:a16="http://schemas.microsoft.com/office/drawing/2014/main" id="{10254A67-0C8E-5A6E-34DB-7E1014CAC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564" y="1749111"/>
            <a:ext cx="4937760" cy="2468880"/>
          </a:xfrm>
          <a:prstGeom prst="rect">
            <a:avLst/>
          </a:prstGeom>
        </p:spPr>
      </p:pic>
      <p:pic>
        <p:nvPicPr>
          <p:cNvPr id="22" name="Picture 21" descr="A red and blue rectangles&#10;&#10;AI-generated content may be incorrect.">
            <a:extLst>
              <a:ext uri="{FF2B5EF4-FFF2-40B4-BE49-F238E27FC236}">
                <a16:creationId xmlns:a16="http://schemas.microsoft.com/office/drawing/2014/main" id="{EDB91F2E-944A-2AB3-2844-AB9159B04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49" y="4217991"/>
            <a:ext cx="4937760" cy="2468880"/>
          </a:xfrm>
          <a:prstGeom prst="rect">
            <a:avLst/>
          </a:prstGeom>
        </p:spPr>
      </p:pic>
      <p:pic>
        <p:nvPicPr>
          <p:cNvPr id="24" name="Picture 2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606141B-1009-89DB-D1B0-D9F11CDAB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564" y="4183380"/>
            <a:ext cx="4937760" cy="2468880"/>
          </a:xfrm>
          <a:prstGeom prst="rect">
            <a:avLst/>
          </a:prstGeom>
        </p:spPr>
      </p:pic>
      <p:pic>
        <p:nvPicPr>
          <p:cNvPr id="25" name="Picture 24" descr="A close-up of a logo&#10;&#10;AI-generated content may be incorrect.">
            <a:extLst>
              <a:ext uri="{FF2B5EF4-FFF2-40B4-BE49-F238E27FC236}">
                <a16:creationId xmlns:a16="http://schemas.microsoft.com/office/drawing/2014/main" id="{0AC1541C-59CB-84EE-1D1D-9756D12E57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54F3A1-0F5D-AE93-D6F7-86EA42D4E01D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220D6-AF8D-BF9D-6F01-7C3E26DCD13C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2EFAC-5FD3-767D-4BDD-FA4976F32F85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</a:t>
            </a:r>
            <a:r>
              <a:rPr lang="en-US" altLang="zh-CN" dirty="0"/>
              <a:t> 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16" name="Picture 15" descr="A red and blue lines&#10;&#10;AI-generated content may be incorrect.">
            <a:extLst>
              <a:ext uri="{FF2B5EF4-FFF2-40B4-BE49-F238E27FC236}">
                <a16:creationId xmlns:a16="http://schemas.microsoft.com/office/drawing/2014/main" id="{223EEABC-AAB7-91FC-3E0E-796B4A22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6" y="1899058"/>
            <a:ext cx="4937760" cy="2468880"/>
          </a:xfrm>
          <a:prstGeom prst="rect">
            <a:avLst/>
          </a:prstGeom>
        </p:spPr>
      </p:pic>
      <p:pic>
        <p:nvPicPr>
          <p:cNvPr id="18" name="Picture 17" descr="A close-up of a screen&#10;&#10;AI-generated content may be incorrect.">
            <a:extLst>
              <a:ext uri="{FF2B5EF4-FFF2-40B4-BE49-F238E27FC236}">
                <a16:creationId xmlns:a16="http://schemas.microsoft.com/office/drawing/2014/main" id="{49E671BA-6915-7F5D-9C23-727F96900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64" y="1809489"/>
            <a:ext cx="4937760" cy="2468880"/>
          </a:xfrm>
          <a:prstGeom prst="rect">
            <a:avLst/>
          </a:prstGeom>
        </p:spPr>
      </p:pic>
      <p:pic>
        <p:nvPicPr>
          <p:cNvPr id="20" name="Picture 19" descr="A red and blue rectangles&#10;&#10;AI-generated content may be incorrect.">
            <a:extLst>
              <a:ext uri="{FF2B5EF4-FFF2-40B4-BE49-F238E27FC236}">
                <a16:creationId xmlns:a16="http://schemas.microsoft.com/office/drawing/2014/main" id="{31E9470E-92C9-4180-952F-369305FC8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6" y="4038507"/>
            <a:ext cx="4937760" cy="2468880"/>
          </a:xfrm>
          <a:prstGeom prst="rect">
            <a:avLst/>
          </a:prstGeom>
        </p:spPr>
      </p:pic>
      <p:pic>
        <p:nvPicPr>
          <p:cNvPr id="22" name="Picture 2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34A3398-72CF-7F5F-CC6A-6403E2DF3D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64" y="4038507"/>
            <a:ext cx="4937760" cy="2468880"/>
          </a:xfrm>
          <a:prstGeom prst="rect">
            <a:avLst/>
          </a:prstGeom>
        </p:spPr>
      </p:pic>
      <p:pic>
        <p:nvPicPr>
          <p:cNvPr id="23" name="Picture 22" descr="A close-up of a logo&#10;&#10;AI-generated content may be incorrect.">
            <a:extLst>
              <a:ext uri="{FF2B5EF4-FFF2-40B4-BE49-F238E27FC236}">
                <a16:creationId xmlns:a16="http://schemas.microsoft.com/office/drawing/2014/main" id="{978AD71B-5A37-C522-E19B-8B1B82DE74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04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8EBE-3062-B4C5-02ED-8306C227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DD7856-F1D8-3B41-55CF-15A669E34FC6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Snap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78664-684A-19ED-F098-B6551BE2F37D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B43F3-0EB9-CCB0-7799-1DDE29F2FAC1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4BC95A0-5B0D-C489-7D31-AEB27B50F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770" y="4264158"/>
            <a:ext cx="4937760" cy="2468880"/>
          </a:xfrm>
          <a:prstGeom prst="rect">
            <a:avLst/>
          </a:prstGeom>
        </p:spPr>
      </p:pic>
      <p:pic>
        <p:nvPicPr>
          <p:cNvPr id="10" name="Picture 9" descr="A blue and red squares&#10;&#10;AI-generated content may be incorrect.">
            <a:extLst>
              <a:ext uri="{FF2B5EF4-FFF2-40B4-BE49-F238E27FC236}">
                <a16:creationId xmlns:a16="http://schemas.microsoft.com/office/drawing/2014/main" id="{1B7A9EDA-0A7E-DA4C-ABA6-EDE4E0BCF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3" y="4324991"/>
            <a:ext cx="4937760" cy="2468880"/>
          </a:xfrm>
          <a:prstGeom prst="rect">
            <a:avLst/>
          </a:prstGeom>
        </p:spPr>
      </p:pic>
      <p:pic>
        <p:nvPicPr>
          <p:cNvPr id="12" name="Picture 11" descr="A red and blue rectangular shapes&#10;&#10;AI-generated content may be incorrect.">
            <a:extLst>
              <a:ext uri="{FF2B5EF4-FFF2-40B4-BE49-F238E27FC236}">
                <a16:creationId xmlns:a16="http://schemas.microsoft.com/office/drawing/2014/main" id="{B9A872CA-728D-AE1B-794C-5FDCD04EA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33" y="1769511"/>
            <a:ext cx="4937760" cy="2468880"/>
          </a:xfrm>
          <a:prstGeom prst="rect">
            <a:avLst/>
          </a:prstGeom>
        </p:spPr>
      </p:pic>
      <p:pic>
        <p:nvPicPr>
          <p:cNvPr id="14" name="Picture 13" descr="A close-up of a red square&#10;&#10;AI-generated content may be incorrect.">
            <a:extLst>
              <a:ext uri="{FF2B5EF4-FFF2-40B4-BE49-F238E27FC236}">
                <a16:creationId xmlns:a16="http://schemas.microsoft.com/office/drawing/2014/main" id="{1F5BDF49-DCD5-35B1-847F-8D155F74E9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770" y="1769511"/>
            <a:ext cx="4937760" cy="2468880"/>
          </a:xfrm>
          <a:prstGeom prst="rect">
            <a:avLst/>
          </a:prstGeom>
        </p:spPr>
      </p:pic>
      <p:pic>
        <p:nvPicPr>
          <p:cNvPr id="15" name="Picture 14" descr="A close-up of a logo&#10;&#10;AI-generated content may be incorrect.">
            <a:extLst>
              <a:ext uri="{FF2B5EF4-FFF2-40B4-BE49-F238E27FC236}">
                <a16:creationId xmlns:a16="http://schemas.microsoft.com/office/drawing/2014/main" id="{4083F5A3-A21E-9C20-EA94-F952AB45C5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59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8C13-65EF-044D-9859-36D6B63B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B44A411-18D8-0D1A-AF32-5CAE8F0E658F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FFEC8-4F21-4712-7A0D-94AC4C70F1FB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FFE3F-6D15-ACDB-2F3C-C7B1C070E816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55FF422-EF90-2B64-5C4D-05AA85E78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49" y="4252602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squares&#10;&#10;AI-generated content may be incorrect.">
            <a:extLst>
              <a:ext uri="{FF2B5EF4-FFF2-40B4-BE49-F238E27FC236}">
                <a16:creationId xmlns:a16="http://schemas.microsoft.com/office/drawing/2014/main" id="{C2122F51-EA22-EF5E-8F86-424A161086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72" y="4183380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red square&#10;&#10;AI-generated content may be incorrect.">
            <a:extLst>
              <a:ext uri="{FF2B5EF4-FFF2-40B4-BE49-F238E27FC236}">
                <a16:creationId xmlns:a16="http://schemas.microsoft.com/office/drawing/2014/main" id="{694FD55C-E7A7-9344-4A98-5B9D6F50C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49" y="1783722"/>
            <a:ext cx="4937760" cy="2468880"/>
          </a:xfrm>
          <a:prstGeom prst="rect">
            <a:avLst/>
          </a:prstGeom>
        </p:spPr>
      </p:pic>
      <p:pic>
        <p:nvPicPr>
          <p:cNvPr id="12" name="Picture 11" descr="A red and blue rectangular shapes&#10;&#10;AI-generated content may be incorrect.">
            <a:extLst>
              <a:ext uri="{FF2B5EF4-FFF2-40B4-BE49-F238E27FC236}">
                <a16:creationId xmlns:a16="http://schemas.microsoft.com/office/drawing/2014/main" id="{EF23B197-253F-A208-13F1-C44C005E5C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72" y="1789500"/>
            <a:ext cx="4937760" cy="2468880"/>
          </a:xfrm>
          <a:prstGeom prst="rect">
            <a:avLst/>
          </a:prstGeom>
        </p:spPr>
      </p:pic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1FDED341-7BFE-E228-BDB6-B572DA769B4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49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ED1C-7149-B3EA-6E55-464A0E1C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35E0FE-6FFD-DD45-D437-EE5580071238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2"/>
                </a:solidFill>
              </a:rPr>
              <a:t>Snapshot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B352E-A168-59E6-2AEF-FB70E0D9C1D4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validation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2464BC-8D33-AF2F-75BC-88F807110473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red and blue lines&#10;&#10;AI-generated content may be incorrect.">
            <a:extLst>
              <a:ext uri="{FF2B5EF4-FFF2-40B4-BE49-F238E27FC236}">
                <a16:creationId xmlns:a16="http://schemas.microsoft.com/office/drawing/2014/main" id="{39E67169-7EB4-F3B3-17B7-4C27813B6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770" y="4333380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squares&#10;&#10;AI-generated content may be incorrect.">
            <a:extLst>
              <a:ext uri="{FF2B5EF4-FFF2-40B4-BE49-F238E27FC236}">
                <a16:creationId xmlns:a16="http://schemas.microsoft.com/office/drawing/2014/main" id="{51ADF9E6-5F95-2EF5-4A04-3E06CDC97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70" y="4333380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screen&#10;&#10;AI-generated content may be incorrect.">
            <a:extLst>
              <a:ext uri="{FF2B5EF4-FFF2-40B4-BE49-F238E27FC236}">
                <a16:creationId xmlns:a16="http://schemas.microsoft.com/office/drawing/2014/main" id="{DE7C5BED-2930-1AC3-C02C-AC33C7348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770" y="1864500"/>
            <a:ext cx="4937760" cy="2468880"/>
          </a:xfrm>
          <a:prstGeom prst="rect">
            <a:avLst/>
          </a:prstGeom>
        </p:spPr>
      </p:pic>
      <p:pic>
        <p:nvPicPr>
          <p:cNvPr id="12" name="Picture 11" descr="A red and blue gradients&#10;&#10;AI-generated content may be incorrect.">
            <a:extLst>
              <a:ext uri="{FF2B5EF4-FFF2-40B4-BE49-F238E27FC236}">
                <a16:creationId xmlns:a16="http://schemas.microsoft.com/office/drawing/2014/main" id="{5D4A6EC8-8D2D-982C-B054-2E795E37CB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72" y="1864500"/>
            <a:ext cx="4937760" cy="2468880"/>
          </a:xfrm>
          <a:prstGeom prst="rect">
            <a:avLst/>
          </a:prstGeom>
        </p:spPr>
      </p:pic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7667F969-45CA-C191-C74A-B81BD6A6F8F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41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0AE14-70A3-DAC4-115F-6D370602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717386-1E34-EBBE-53FA-B2B219ACA1C4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B17BA-1A5B-3718-3B6C-8DA3624354F6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validation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52CF7-2FE1-6C1E-B0D2-3EB5E5AA1C11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7" name="Picture 6" descr="A red and blue lines&#10;&#10;AI-generated content may be incorrect.">
            <a:extLst>
              <a:ext uri="{FF2B5EF4-FFF2-40B4-BE49-F238E27FC236}">
                <a16:creationId xmlns:a16="http://schemas.microsoft.com/office/drawing/2014/main" id="{98FC4A1B-8561-86C6-95F6-B9ED88D08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55" y="4333380"/>
            <a:ext cx="4937760" cy="2468880"/>
          </a:xfrm>
          <a:prstGeom prst="rect">
            <a:avLst/>
          </a:prstGeom>
        </p:spPr>
      </p:pic>
      <p:pic>
        <p:nvPicPr>
          <p:cNvPr id="11" name="Picture 10" descr="A red and blue squares&#10;&#10;AI-generated content may be incorrect.">
            <a:extLst>
              <a:ext uri="{FF2B5EF4-FFF2-40B4-BE49-F238E27FC236}">
                <a16:creationId xmlns:a16="http://schemas.microsoft.com/office/drawing/2014/main" id="{C7FB8773-F1EF-C9B1-0D1F-3629C96AB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66" y="4333380"/>
            <a:ext cx="4937760" cy="2468880"/>
          </a:xfrm>
          <a:prstGeom prst="rect">
            <a:avLst/>
          </a:prstGeom>
        </p:spPr>
      </p:pic>
      <p:pic>
        <p:nvPicPr>
          <p:cNvPr id="14" name="Picture 13" descr="A close-up of a screen&#10;&#10;AI-generated content may be incorrect.">
            <a:extLst>
              <a:ext uri="{FF2B5EF4-FFF2-40B4-BE49-F238E27FC236}">
                <a16:creationId xmlns:a16="http://schemas.microsoft.com/office/drawing/2014/main" id="{71A8F0CD-0379-4BE0-3B12-CB27AB438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55" y="1783722"/>
            <a:ext cx="4937760" cy="2468880"/>
          </a:xfrm>
          <a:prstGeom prst="rect">
            <a:avLst/>
          </a:prstGeom>
        </p:spPr>
      </p:pic>
      <p:pic>
        <p:nvPicPr>
          <p:cNvPr id="16" name="Picture 15" descr="A red and blue gradients&#10;&#10;AI-generated content may be incorrect.">
            <a:extLst>
              <a:ext uri="{FF2B5EF4-FFF2-40B4-BE49-F238E27FC236}">
                <a16:creationId xmlns:a16="http://schemas.microsoft.com/office/drawing/2014/main" id="{C3411309-DC74-0A3E-89FF-BAA5523FD9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66" y="1809489"/>
            <a:ext cx="4937760" cy="2468880"/>
          </a:xfrm>
          <a:prstGeom prst="rect">
            <a:avLst/>
          </a:prstGeom>
        </p:spPr>
      </p:pic>
      <p:pic>
        <p:nvPicPr>
          <p:cNvPr id="17" name="Picture 16" descr="A close-up of a logo&#10;&#10;AI-generated content may be incorrect.">
            <a:extLst>
              <a:ext uri="{FF2B5EF4-FFF2-40B4-BE49-F238E27FC236}">
                <a16:creationId xmlns:a16="http://schemas.microsoft.com/office/drawing/2014/main" id="{B510D0C0-5005-119F-AF9A-E62616E575B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88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0BE4-D3F2-ACFD-C753-4E66D0BC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63F0-4018-1AA9-7075-B4FAF331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Euler Loss Curve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27B88-1498-3E40-A6EB-D0AD75F19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116" y="1276758"/>
            <a:ext cx="9033768" cy="5216117"/>
          </a:xfrm>
          <a:prstGeom prst="rect">
            <a:avLst/>
          </a:prstGeom>
        </p:spPr>
      </p:pic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5D63F4F1-62A9-4A07-00F7-A5139157C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30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ADC3-CBAB-2556-F45A-6D3743540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Euler Loss Curve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DC1BA-DB83-C26E-4DD1-6B802988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85" y="1275650"/>
            <a:ext cx="8991781" cy="5065995"/>
          </a:xfrm>
          <a:prstGeom prst="rect">
            <a:avLst/>
          </a:prstGeom>
        </p:spPr>
      </p:pic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DC89AE24-3BE8-33A0-7A41-683F90294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95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C306-8CEE-6B8D-9F0C-F5C664A69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RK4 Model Inference </a:t>
            </a:r>
            <a:endParaRPr lang="zh-CN" alt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6C6D0-E832-9368-B4E3-CBBFE2ED4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Evaluating the model outputs on Train, Test, and Validation Samples</a:t>
            </a:r>
            <a:endParaRPr lang="zh-CN" alt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64C19E9D-ADFB-04F0-E2AF-466B5E9D90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17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B409-95F3-B8CB-0100-B268738B6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71CDF4-C955-B87E-EA60-D6A8299237B6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Snapshot</a:t>
            </a:r>
            <a:r>
              <a:rPr lang="en-US" b="1" dirty="0">
                <a:solidFill>
                  <a:schemeClr val="tx2"/>
                </a:solidFill>
              </a:rPr>
              <a:t> Inference Output – RK4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FF0F0-4921-EF52-3ECB-50AAD91326B4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9E156-8A3D-D3E1-E3DA-8E786E54B3DA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</a:t>
            </a:r>
            <a:r>
              <a:rPr lang="en-US" altLang="zh-CN" dirty="0"/>
              <a:t> 40,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301F9C7-2540-FF5B-EF3B-58A8E5394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931" y="4334382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rectangles&#10;&#10;AI-generated content may be incorrect.">
            <a:extLst>
              <a:ext uri="{FF2B5EF4-FFF2-40B4-BE49-F238E27FC236}">
                <a16:creationId xmlns:a16="http://schemas.microsoft.com/office/drawing/2014/main" id="{AC906D21-59F2-FCFC-A1DE-604F41B13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27" y="4334382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screen&#10;&#10;AI-generated content may be incorrect.">
            <a:extLst>
              <a:ext uri="{FF2B5EF4-FFF2-40B4-BE49-F238E27FC236}">
                <a16:creationId xmlns:a16="http://schemas.microsoft.com/office/drawing/2014/main" id="{8CD242D8-F173-9D63-708B-CD71686B2F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266" y="1824612"/>
            <a:ext cx="4937760" cy="2468880"/>
          </a:xfrm>
          <a:prstGeom prst="rect">
            <a:avLst/>
          </a:prstGeom>
        </p:spPr>
      </p:pic>
      <p:pic>
        <p:nvPicPr>
          <p:cNvPr id="14" name="Picture 13" descr="A red and blue lines&#10;&#10;AI-generated content may be incorrect.">
            <a:extLst>
              <a:ext uri="{FF2B5EF4-FFF2-40B4-BE49-F238E27FC236}">
                <a16:creationId xmlns:a16="http://schemas.microsoft.com/office/drawing/2014/main" id="{A2F3332E-588E-328A-4A78-C7F7A08EE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27" y="1865502"/>
            <a:ext cx="4937760" cy="2468880"/>
          </a:xfrm>
          <a:prstGeom prst="rect">
            <a:avLst/>
          </a:prstGeom>
        </p:spPr>
      </p:pic>
      <p:pic>
        <p:nvPicPr>
          <p:cNvPr id="15" name="Picture 14" descr="A close-up of a logo&#10;&#10;AI-generated content may be incorrect.">
            <a:extLst>
              <a:ext uri="{FF2B5EF4-FFF2-40B4-BE49-F238E27FC236}">
                <a16:creationId xmlns:a16="http://schemas.microsoft.com/office/drawing/2014/main" id="{804D4750-A559-380E-1D62-2BD4F04A67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37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4E79-7DD8-AFF4-83E9-8245FF90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9AD786-F888-9E50-AE0F-7BBA3C3A0057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 </a:t>
            </a:r>
            <a:r>
              <a:rPr lang="en-US" b="1" dirty="0">
                <a:solidFill>
                  <a:schemeClr val="tx2"/>
                </a:solidFill>
              </a:rPr>
              <a:t>Inference Output – RK4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B301E-E86F-15E1-8900-E1B5BD3D7696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2B541-0791-3D99-664D-8C4FF2BC4329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8D3D0BF-2B01-C970-E078-84E45B612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40" y="4264158"/>
            <a:ext cx="4937760" cy="2468880"/>
          </a:xfrm>
          <a:prstGeom prst="rect">
            <a:avLst/>
          </a:prstGeom>
        </p:spPr>
      </p:pic>
      <p:pic>
        <p:nvPicPr>
          <p:cNvPr id="11" name="Picture 10" descr="A red and blue rectangles&#10;&#10;AI-generated content may be incorrect.">
            <a:extLst>
              <a:ext uri="{FF2B5EF4-FFF2-40B4-BE49-F238E27FC236}">
                <a16:creationId xmlns:a16="http://schemas.microsoft.com/office/drawing/2014/main" id="{2AF1ABB9-BE11-5719-AC4B-FD33898C7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4264158"/>
            <a:ext cx="4937760" cy="2468880"/>
          </a:xfrm>
          <a:prstGeom prst="rect">
            <a:avLst/>
          </a:prstGeom>
        </p:spPr>
      </p:pic>
      <p:pic>
        <p:nvPicPr>
          <p:cNvPr id="14" name="Picture 13" descr="A close-up of a red and blue frame&#10;&#10;AI-generated content may be incorrect.">
            <a:extLst>
              <a:ext uri="{FF2B5EF4-FFF2-40B4-BE49-F238E27FC236}">
                <a16:creationId xmlns:a16="http://schemas.microsoft.com/office/drawing/2014/main" id="{1352C54B-8685-B231-8660-6FD245F29E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40" y="1769511"/>
            <a:ext cx="4937760" cy="2468880"/>
          </a:xfrm>
          <a:prstGeom prst="rect">
            <a:avLst/>
          </a:prstGeom>
        </p:spPr>
      </p:pic>
      <p:pic>
        <p:nvPicPr>
          <p:cNvPr id="16" name="Picture 15" descr="A red and blue lines&#10;&#10;AI-generated content may be incorrect.">
            <a:extLst>
              <a:ext uri="{FF2B5EF4-FFF2-40B4-BE49-F238E27FC236}">
                <a16:creationId xmlns:a16="http://schemas.microsoft.com/office/drawing/2014/main" id="{BBDB566E-EA00-2A6E-DCED-6BC5FCD2CC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1769511"/>
            <a:ext cx="4937760" cy="2468880"/>
          </a:xfrm>
          <a:prstGeom prst="rect">
            <a:avLst/>
          </a:prstGeom>
        </p:spPr>
      </p:pic>
      <p:pic>
        <p:nvPicPr>
          <p:cNvPr id="17" name="Picture 16" descr="A close-up of a logo&#10;&#10;AI-generated content may be incorrect.">
            <a:extLst>
              <a:ext uri="{FF2B5EF4-FFF2-40B4-BE49-F238E27FC236}">
                <a16:creationId xmlns:a16="http://schemas.microsoft.com/office/drawing/2014/main" id="{11BC4523-3A58-9EF2-7D1B-7FD46ED512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508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C3CA-0CBA-495C-C5C5-EF6D6AD8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5B3897-0DA1-0BD6-24BE-EF3DB33CF88D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Snapshot </a:t>
            </a:r>
            <a:r>
              <a:rPr lang="en-US" b="1" dirty="0">
                <a:solidFill>
                  <a:schemeClr val="tx2"/>
                </a:solidFill>
              </a:rPr>
              <a:t>Inference Output – RK4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8CA63-3FB6-0DCE-C3BD-BA2F4FBDA4FA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AB95B-D0A3-E62F-20A6-0424D6ED5E90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B5A8F0C-B6AF-E105-740F-C7E622B1E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78369"/>
            <a:ext cx="4937760" cy="2468880"/>
          </a:xfrm>
          <a:prstGeom prst="rect">
            <a:avLst/>
          </a:prstGeom>
        </p:spPr>
      </p:pic>
      <p:pic>
        <p:nvPicPr>
          <p:cNvPr id="9" name="Picture 8" descr="A red and blue squares&#10;&#10;AI-generated content may be incorrect.">
            <a:extLst>
              <a:ext uri="{FF2B5EF4-FFF2-40B4-BE49-F238E27FC236}">
                <a16:creationId xmlns:a16="http://schemas.microsoft.com/office/drawing/2014/main" id="{726B7B1C-EA76-F176-CBDF-B10A703AF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9" y="4278369"/>
            <a:ext cx="4937760" cy="2468880"/>
          </a:xfrm>
          <a:prstGeom prst="rect">
            <a:avLst/>
          </a:prstGeom>
        </p:spPr>
      </p:pic>
      <p:pic>
        <p:nvPicPr>
          <p:cNvPr id="12" name="Picture 11" descr="A close-up of a frame&#10;&#10;AI-generated content may be incorrect.">
            <a:extLst>
              <a:ext uri="{FF2B5EF4-FFF2-40B4-BE49-F238E27FC236}">
                <a16:creationId xmlns:a16="http://schemas.microsoft.com/office/drawing/2014/main" id="{12212ED5-99B8-484E-8C4A-D895E3FAB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83722"/>
            <a:ext cx="4937760" cy="2468880"/>
          </a:xfrm>
          <a:prstGeom prst="rect">
            <a:avLst/>
          </a:prstGeom>
        </p:spPr>
      </p:pic>
      <p:pic>
        <p:nvPicPr>
          <p:cNvPr id="18" name="Picture 17" descr="A red and blue rectangular shapes&#10;&#10;AI-generated content may be incorrect.">
            <a:extLst>
              <a:ext uri="{FF2B5EF4-FFF2-40B4-BE49-F238E27FC236}">
                <a16:creationId xmlns:a16="http://schemas.microsoft.com/office/drawing/2014/main" id="{82DB10D1-C344-7E60-03C3-B4025E3C66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9" y="1783722"/>
            <a:ext cx="4937760" cy="2468880"/>
          </a:xfrm>
          <a:prstGeom prst="rect">
            <a:avLst/>
          </a:prstGeom>
        </p:spPr>
      </p:pic>
      <p:pic>
        <p:nvPicPr>
          <p:cNvPr id="19" name="Picture 18" descr="A close-up of a logo&#10;&#10;AI-generated content may be incorrect.">
            <a:extLst>
              <a:ext uri="{FF2B5EF4-FFF2-40B4-BE49-F238E27FC236}">
                <a16:creationId xmlns:a16="http://schemas.microsoft.com/office/drawing/2014/main" id="{3806EB7C-9DC7-F210-721E-498206FABD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2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7775-7F0E-23A8-6E04-AF41293D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05C507-2437-7AB4-F00F-2AC50FACC5DF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 </a:t>
            </a:r>
            <a:r>
              <a:rPr lang="en-US" b="1" dirty="0">
                <a:solidFill>
                  <a:schemeClr val="tx2"/>
                </a:solidFill>
              </a:rPr>
              <a:t>Inference Output – RK4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BA452-DF33-1CF8-0BA9-B8B3D0286002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BAA6F-44DA-F992-6B95-75B8D7EF34D7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36FB40E-9B9F-A9A3-B3CC-DF93E01D6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747" y="4308082"/>
            <a:ext cx="4937760" cy="2468880"/>
          </a:xfrm>
          <a:prstGeom prst="rect">
            <a:avLst/>
          </a:prstGeom>
        </p:spPr>
      </p:pic>
      <p:pic>
        <p:nvPicPr>
          <p:cNvPr id="10" name="Picture 9" descr="A red and blue squares&#10;&#10;AI-generated content may be incorrect.">
            <a:extLst>
              <a:ext uri="{FF2B5EF4-FFF2-40B4-BE49-F238E27FC236}">
                <a16:creationId xmlns:a16="http://schemas.microsoft.com/office/drawing/2014/main" id="{D1ADB86F-DD7C-E8FB-70D2-06EB2F49D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6" y="4199350"/>
            <a:ext cx="4937760" cy="2468880"/>
          </a:xfrm>
          <a:prstGeom prst="rect">
            <a:avLst/>
          </a:prstGeom>
        </p:spPr>
      </p:pic>
      <p:pic>
        <p:nvPicPr>
          <p:cNvPr id="13" name="Picture 12" descr="A close-up of a frame&#10;&#10;AI-generated content may be incorrect.">
            <a:extLst>
              <a:ext uri="{FF2B5EF4-FFF2-40B4-BE49-F238E27FC236}">
                <a16:creationId xmlns:a16="http://schemas.microsoft.com/office/drawing/2014/main" id="{10E88266-7B0E-088E-B46A-348827340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747" y="1809489"/>
            <a:ext cx="4937760" cy="2468880"/>
          </a:xfrm>
          <a:prstGeom prst="rect">
            <a:avLst/>
          </a:prstGeom>
        </p:spPr>
      </p:pic>
      <p:pic>
        <p:nvPicPr>
          <p:cNvPr id="16" name="Picture 15" descr="A red and blue rectangular shapes&#10;&#10;AI-generated content may be incorrect.">
            <a:extLst>
              <a:ext uri="{FF2B5EF4-FFF2-40B4-BE49-F238E27FC236}">
                <a16:creationId xmlns:a16="http://schemas.microsoft.com/office/drawing/2014/main" id="{52EA9939-278E-2B6F-0E73-4A1B5E5787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02" y="1839202"/>
            <a:ext cx="4937760" cy="2468880"/>
          </a:xfrm>
          <a:prstGeom prst="rect">
            <a:avLst/>
          </a:prstGeom>
        </p:spPr>
      </p:pic>
      <p:pic>
        <p:nvPicPr>
          <p:cNvPr id="17" name="Picture 16" descr="A close-up of a logo&#10;&#10;AI-generated content may be incorrect.">
            <a:extLst>
              <a:ext uri="{FF2B5EF4-FFF2-40B4-BE49-F238E27FC236}">
                <a16:creationId xmlns:a16="http://schemas.microsoft.com/office/drawing/2014/main" id="{F6C9D931-3309-8A52-4E57-CC61D64FCC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4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E77F-53C7-EE72-1DB2-02135A88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06432F-3247-FA07-7776-B9082A0D564C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Snapshot </a:t>
            </a:r>
            <a:r>
              <a:rPr lang="en-US" b="1" dirty="0">
                <a:solidFill>
                  <a:schemeClr val="tx2"/>
                </a:solidFill>
              </a:rPr>
              <a:t>Inference Output – RK4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51274-0201-FA18-E506-C25189A4E1E0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validation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A25EA-E47B-FE16-81F7-4E9D998CD135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red and blue lines&#10;&#10;AI-generated content may be incorrect.">
            <a:extLst>
              <a:ext uri="{FF2B5EF4-FFF2-40B4-BE49-F238E27FC236}">
                <a16:creationId xmlns:a16="http://schemas.microsoft.com/office/drawing/2014/main" id="{DB7641AF-6FA8-C49B-C9FD-CF4AB1780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55" y="4389120"/>
            <a:ext cx="4937760" cy="2468880"/>
          </a:xfrm>
          <a:prstGeom prst="rect">
            <a:avLst/>
          </a:prstGeom>
        </p:spPr>
      </p:pic>
      <p:pic>
        <p:nvPicPr>
          <p:cNvPr id="9" name="Picture 8" descr="A red and blue squares&#10;&#10;AI-generated content may be incorrect.">
            <a:extLst>
              <a:ext uri="{FF2B5EF4-FFF2-40B4-BE49-F238E27FC236}">
                <a16:creationId xmlns:a16="http://schemas.microsoft.com/office/drawing/2014/main" id="{C12AE536-2579-082D-B18F-DDCBF9193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7" y="4333380"/>
            <a:ext cx="4937760" cy="2468880"/>
          </a:xfrm>
          <a:prstGeom prst="rect">
            <a:avLst/>
          </a:prstGeom>
        </p:spPr>
      </p:pic>
      <p:pic>
        <p:nvPicPr>
          <p:cNvPr id="12" name="Picture 11" descr="A close-up of a screen&#10;&#10;AI-generated content may be incorrect.">
            <a:extLst>
              <a:ext uri="{FF2B5EF4-FFF2-40B4-BE49-F238E27FC236}">
                <a16:creationId xmlns:a16="http://schemas.microsoft.com/office/drawing/2014/main" id="{B5BBB890-32DB-6416-6D2B-3205D3A2D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55" y="1809489"/>
            <a:ext cx="4937760" cy="2468880"/>
          </a:xfrm>
          <a:prstGeom prst="rect">
            <a:avLst/>
          </a:prstGeom>
        </p:spPr>
      </p:pic>
      <p:pic>
        <p:nvPicPr>
          <p:cNvPr id="18" name="Picture 17" descr="A red and blue gradients&#10;&#10;AI-generated content may be incorrect.">
            <a:extLst>
              <a:ext uri="{FF2B5EF4-FFF2-40B4-BE49-F238E27FC236}">
                <a16:creationId xmlns:a16="http://schemas.microsoft.com/office/drawing/2014/main" id="{8B42773F-E74E-50BA-1A71-5A0F806EB4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7" y="1809489"/>
            <a:ext cx="4937760" cy="2468880"/>
          </a:xfrm>
          <a:prstGeom prst="rect">
            <a:avLst/>
          </a:prstGeom>
        </p:spPr>
      </p:pic>
      <p:pic>
        <p:nvPicPr>
          <p:cNvPr id="19" name="Picture 18" descr="A close-up of a logo&#10;&#10;AI-generated content may be incorrect.">
            <a:extLst>
              <a:ext uri="{FF2B5EF4-FFF2-40B4-BE49-F238E27FC236}">
                <a16:creationId xmlns:a16="http://schemas.microsoft.com/office/drawing/2014/main" id="{BBFF3FDF-1E7E-060F-6FAC-C01B571707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81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7A1E-C28A-EFCF-8E49-44697C6D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7F3E9B-E0E5-72BE-7012-7FF59284B7EB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 </a:t>
            </a:r>
            <a:r>
              <a:rPr lang="en-US" b="1" dirty="0">
                <a:solidFill>
                  <a:schemeClr val="tx2"/>
                </a:solidFill>
              </a:rPr>
              <a:t>Inference Output – RK4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28E46-765E-23B8-84A9-9F127386F6B6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validation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D3629-6A38-0981-8CF0-CAD48E98FD37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7" name="Picture 6" descr="A red and blue lines&#10;&#10;AI-generated content may be incorrect.">
            <a:extLst>
              <a:ext uri="{FF2B5EF4-FFF2-40B4-BE49-F238E27FC236}">
                <a16:creationId xmlns:a16="http://schemas.microsoft.com/office/drawing/2014/main" id="{C21C8489-366E-844A-65B2-6BF5D492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287" y="4389120"/>
            <a:ext cx="4937760" cy="2468880"/>
          </a:xfrm>
          <a:prstGeom prst="rect">
            <a:avLst/>
          </a:prstGeom>
        </p:spPr>
      </p:pic>
      <p:pic>
        <p:nvPicPr>
          <p:cNvPr id="10" name="Picture 9" descr="A red and blue squares&#10;&#10;AI-generated content may be incorrect.">
            <a:extLst>
              <a:ext uri="{FF2B5EF4-FFF2-40B4-BE49-F238E27FC236}">
                <a16:creationId xmlns:a16="http://schemas.microsoft.com/office/drawing/2014/main" id="{8F69794F-4508-A7F5-BA7D-683815ED2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1" y="4357545"/>
            <a:ext cx="4937760" cy="2468880"/>
          </a:xfrm>
          <a:prstGeom prst="rect">
            <a:avLst/>
          </a:prstGeom>
        </p:spPr>
      </p:pic>
      <p:pic>
        <p:nvPicPr>
          <p:cNvPr id="13" name="Picture 12" descr="A close-up of a screen&#10;&#10;AI-generated content may be incorrect.">
            <a:extLst>
              <a:ext uri="{FF2B5EF4-FFF2-40B4-BE49-F238E27FC236}">
                <a16:creationId xmlns:a16="http://schemas.microsoft.com/office/drawing/2014/main" id="{B16DAB79-5E07-6F17-FFC5-F61BC2652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287" y="1888665"/>
            <a:ext cx="4937760" cy="2468880"/>
          </a:xfrm>
          <a:prstGeom prst="rect">
            <a:avLst/>
          </a:prstGeom>
        </p:spPr>
      </p:pic>
      <p:pic>
        <p:nvPicPr>
          <p:cNvPr id="16" name="Picture 15" descr="A red and blue gradients&#10;&#10;AI-generated content may be incorrect.">
            <a:extLst>
              <a:ext uri="{FF2B5EF4-FFF2-40B4-BE49-F238E27FC236}">
                <a16:creationId xmlns:a16="http://schemas.microsoft.com/office/drawing/2014/main" id="{EE22C156-18DB-9C2F-4CBD-19AA250B80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1" y="1888665"/>
            <a:ext cx="4937760" cy="2468880"/>
          </a:xfrm>
          <a:prstGeom prst="rect">
            <a:avLst/>
          </a:prstGeom>
        </p:spPr>
      </p:pic>
      <p:pic>
        <p:nvPicPr>
          <p:cNvPr id="17" name="Picture 16" descr="A close-up of a logo&#10;&#10;AI-generated content may be incorrect.">
            <a:extLst>
              <a:ext uri="{FF2B5EF4-FFF2-40B4-BE49-F238E27FC236}">
                <a16:creationId xmlns:a16="http://schemas.microsoft.com/office/drawing/2014/main" id="{5AAB94FC-4597-F3A2-1590-F80B2A4658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700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E8D1-83D6-7FF6-B1A5-6A9DBEB2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RK4 Loss Curve 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03AD1C-BD4E-B272-A449-81198BBC8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487" y="1307583"/>
            <a:ext cx="9229025" cy="526418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6B06B51F-111C-5F9A-81EA-3ADF5736A9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40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B4C0-2355-3786-8172-AEDAD9DB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059C-BD2D-DB0C-DADA-73623141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RK4 Loss Curve 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58BCC-E416-C562-8C8D-D5781961C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981" y="1399709"/>
            <a:ext cx="8716734" cy="5093166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E025E70C-723A-FE90-1C2C-A013593B5C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626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E1FC-5D56-07D8-CBFE-214E6020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</a:rPr>
              <a:t>Observations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0C42D-820E-2EE6-A656-53182BF92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Euler: </a:t>
            </a:r>
            <a:r>
              <a:rPr lang="en-US" altLang="zh-CN" dirty="0"/>
              <a:t>Quicker training iterations, accurate snapshot predictions,  </a:t>
            </a:r>
            <a:r>
              <a:rPr lang="en-US" altLang="zh-CN" b="1" dirty="0">
                <a:solidFill>
                  <a:schemeClr val="accent1"/>
                </a:solidFill>
              </a:rPr>
              <a:t>loss is unstable </a:t>
            </a:r>
            <a:r>
              <a:rPr lang="en-US" altLang="zh-CN" dirty="0"/>
              <a:t>and with mediocre rollout predictions</a:t>
            </a:r>
          </a:p>
          <a:p>
            <a:pPr lvl="1"/>
            <a:r>
              <a:rPr lang="en-US" altLang="zh-CN" b="1" dirty="0">
                <a:solidFill>
                  <a:schemeClr val="accent1"/>
                </a:solidFill>
              </a:rPr>
              <a:t>Appears to rollout better at 100-200 epochs</a:t>
            </a:r>
          </a:p>
          <a:p>
            <a:pPr marL="0" indent="0">
              <a:buNone/>
            </a:pP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/>
              <a:t>RK4: </a:t>
            </a:r>
            <a:r>
              <a:rPr lang="en-US" altLang="zh-CN" dirty="0"/>
              <a:t>slower training iterations, stabler loss, </a:t>
            </a:r>
            <a:r>
              <a:rPr lang="en-US" altLang="zh-CN" i="1" dirty="0"/>
              <a:t>theoretically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less error on rollout prediction, </a:t>
            </a:r>
            <a:r>
              <a:rPr lang="en-US" altLang="zh-CN" dirty="0"/>
              <a:t>but performs poorly due to compounding errors -&gt; </a:t>
            </a:r>
            <a:r>
              <a:rPr lang="en-US" altLang="zh-CN" b="1" dirty="0"/>
              <a:t>different configuration needed</a:t>
            </a:r>
          </a:p>
          <a:p>
            <a:endParaRPr lang="en-US" altLang="zh-CN" dirty="0"/>
          </a:p>
          <a:p>
            <a:r>
              <a:rPr lang="en-US" altLang="zh-CN" dirty="0"/>
              <a:t>Both models generally </a:t>
            </a:r>
            <a:r>
              <a:rPr lang="en-US" altLang="zh-CN" b="1" dirty="0">
                <a:solidFill>
                  <a:schemeClr val="accent1"/>
                </a:solidFill>
              </a:rPr>
              <a:t>predict well on snapshots</a:t>
            </a:r>
            <a:r>
              <a:rPr lang="en-US" altLang="zh-CN" dirty="0"/>
              <a:t> + </a:t>
            </a:r>
            <a:r>
              <a:rPr lang="en-US" altLang="zh-CN" b="1" dirty="0">
                <a:solidFill>
                  <a:schemeClr val="accent1"/>
                </a:solidFill>
              </a:rPr>
              <a:t>very first timestamp of rollout </a:t>
            </a:r>
          </a:p>
          <a:p>
            <a:endParaRPr lang="en-US" altLang="zh-CN" b="1" dirty="0">
              <a:solidFill>
                <a:schemeClr val="accent1"/>
              </a:solidFill>
            </a:endParaRPr>
          </a:p>
          <a:p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4C02CAB4-5D83-5639-7E65-E312DA4250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096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9C3F-D9F6-5134-38BA-2B30461E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Euler Inference at 100 epochs</a:t>
            </a:r>
            <a:endParaRPr lang="zh-CN" alt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2B768-F5C8-D529-92E1-7023C3E56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Interesting Observation of better performance at earlier stages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84820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BF63-CC68-4F0A-D26E-4963AC81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C54CAE-B835-1D69-079E-CF0836252AF7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52E58-BC7D-D50C-F522-BB5DA8EB379F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975D3-6C8A-E15F-AB01-10CF09FAF6E0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>
                <a:highlight>
                  <a:srgbClr val="FFFF00"/>
                </a:highlight>
              </a:rPr>
              <a:t>100</a:t>
            </a:r>
            <a:r>
              <a:rPr lang="en-US" altLang="zh-CN" dirty="0"/>
              <a:t>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</a:t>
            </a:r>
            <a:r>
              <a:rPr lang="en-US" altLang="zh-CN" dirty="0"/>
              <a:t> 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E9B5DE7-6A3A-E6CD-4EA7-036E4403C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735" y="4366112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rectangles&#10;&#10;AI-generated content may be incorrect.">
            <a:extLst>
              <a:ext uri="{FF2B5EF4-FFF2-40B4-BE49-F238E27FC236}">
                <a16:creationId xmlns:a16="http://schemas.microsoft.com/office/drawing/2014/main" id="{9CCE3C52-38C7-F18B-2FF2-6C3E345A4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85" y="4366112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screen&#10;&#10;AI-generated content may be incorrect.">
            <a:extLst>
              <a:ext uri="{FF2B5EF4-FFF2-40B4-BE49-F238E27FC236}">
                <a16:creationId xmlns:a16="http://schemas.microsoft.com/office/drawing/2014/main" id="{2F12E5FC-7334-595C-9F4D-22A4A1A6D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735" y="1735676"/>
            <a:ext cx="4937760" cy="2468880"/>
          </a:xfrm>
          <a:prstGeom prst="rect">
            <a:avLst/>
          </a:prstGeom>
        </p:spPr>
      </p:pic>
      <p:pic>
        <p:nvPicPr>
          <p:cNvPr id="12" name="Picture 11" descr="A red and blue lines&#10;&#10;AI-generated content may be incorrect.">
            <a:extLst>
              <a:ext uri="{FF2B5EF4-FFF2-40B4-BE49-F238E27FC236}">
                <a16:creationId xmlns:a16="http://schemas.microsoft.com/office/drawing/2014/main" id="{2DE1ECFC-B5AD-6241-FF2F-27F85CA0D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85" y="1735676"/>
            <a:ext cx="4937760" cy="2468880"/>
          </a:xfrm>
          <a:prstGeom prst="rect">
            <a:avLst/>
          </a:prstGeom>
        </p:spPr>
      </p:pic>
      <p:pic>
        <p:nvPicPr>
          <p:cNvPr id="23" name="Picture 22" descr="A close-up of a logo&#10;&#10;AI-generated content may be incorrect.">
            <a:extLst>
              <a:ext uri="{FF2B5EF4-FFF2-40B4-BE49-F238E27FC236}">
                <a16:creationId xmlns:a16="http://schemas.microsoft.com/office/drawing/2014/main" id="{A00C590D-AC92-C8E9-C51E-4641D660EA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289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4930-4150-40F4-CB73-D12B50BB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867F67-D343-E5D7-4948-18E84B47F083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EE792-DEE7-F300-2C53-C1BFBE1ED1B1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C4211-4B34-D09D-70AD-FE8B960D5BDA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>
                <a:highlight>
                  <a:srgbClr val="FFFF00"/>
                </a:highlight>
              </a:rPr>
              <a:t>100</a:t>
            </a:r>
            <a:r>
              <a:rPr lang="en-US" altLang="zh-CN" dirty="0"/>
              <a:t>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</a:t>
            </a:r>
            <a:r>
              <a:rPr lang="en-US" altLang="zh-CN" dirty="0"/>
              <a:t> 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148CAD7-3F16-9693-C68B-4EEC25899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619" y="4252602"/>
            <a:ext cx="4937760" cy="2468880"/>
          </a:xfrm>
          <a:prstGeom prst="rect">
            <a:avLst/>
          </a:prstGeom>
        </p:spPr>
      </p:pic>
      <p:pic>
        <p:nvPicPr>
          <p:cNvPr id="11" name="Picture 10" descr="A red and blue squares&#10;&#10;AI-generated content may be incorrect.">
            <a:extLst>
              <a:ext uri="{FF2B5EF4-FFF2-40B4-BE49-F238E27FC236}">
                <a16:creationId xmlns:a16="http://schemas.microsoft.com/office/drawing/2014/main" id="{84DF3070-8159-458E-C399-B45FB8406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18" y="4252602"/>
            <a:ext cx="4937760" cy="2468880"/>
          </a:xfrm>
          <a:prstGeom prst="rect">
            <a:avLst/>
          </a:prstGeom>
        </p:spPr>
      </p:pic>
      <p:pic>
        <p:nvPicPr>
          <p:cNvPr id="14" name="Picture 13" descr="A close-up of a red square&#10;&#10;AI-generated content may be incorrect.">
            <a:extLst>
              <a:ext uri="{FF2B5EF4-FFF2-40B4-BE49-F238E27FC236}">
                <a16:creationId xmlns:a16="http://schemas.microsoft.com/office/drawing/2014/main" id="{D2B51955-DBB1-023A-9730-E09914BEB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619" y="1783722"/>
            <a:ext cx="4937760" cy="2468880"/>
          </a:xfrm>
          <a:prstGeom prst="rect">
            <a:avLst/>
          </a:prstGeom>
        </p:spPr>
      </p:pic>
      <p:pic>
        <p:nvPicPr>
          <p:cNvPr id="16" name="Picture 15" descr="A red and blue frame&#10;&#10;AI-generated content may be incorrect.">
            <a:extLst>
              <a:ext uri="{FF2B5EF4-FFF2-40B4-BE49-F238E27FC236}">
                <a16:creationId xmlns:a16="http://schemas.microsoft.com/office/drawing/2014/main" id="{2FE848B0-42F3-B3B1-8A72-65F28D8004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18" y="1783722"/>
            <a:ext cx="4937760" cy="2468880"/>
          </a:xfrm>
          <a:prstGeom prst="rect">
            <a:avLst/>
          </a:prstGeom>
        </p:spPr>
      </p:pic>
      <p:pic>
        <p:nvPicPr>
          <p:cNvPr id="23" name="Picture 22" descr="A close-up of a logo&#10;&#10;AI-generated content may be incorrect.">
            <a:extLst>
              <a:ext uri="{FF2B5EF4-FFF2-40B4-BE49-F238E27FC236}">
                <a16:creationId xmlns:a16="http://schemas.microsoft.com/office/drawing/2014/main" id="{C1342630-AC10-CC27-11E6-D3940022D6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297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352A-5E18-ABD5-D0AA-6F032882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7C716E-2AAD-F11F-7C0C-1EAE55DBBFE2}"/>
              </a:ext>
            </a:extLst>
          </p:cNvPr>
          <p:cNvSpPr txBox="1">
            <a:spLocks/>
          </p:cNvSpPr>
          <p:nvPr/>
        </p:nvSpPr>
        <p:spPr>
          <a:xfrm>
            <a:off x="318655" y="-1881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solidFill>
                  <a:schemeClr val="tx2"/>
                </a:solidFill>
              </a:rPr>
              <a:t>Rollout</a:t>
            </a:r>
            <a:r>
              <a:rPr lang="en-US" b="1" dirty="0">
                <a:solidFill>
                  <a:schemeClr val="tx2"/>
                </a:solidFill>
              </a:rPr>
              <a:t> Inference Output – Euler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05B45-9694-A5C1-FED0-9BC4F5FE5EC4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validation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EEBB9-1249-45F1-8ADE-751FA60BEEAA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>
                <a:highlight>
                  <a:srgbClr val="FFFF00"/>
                </a:highlight>
              </a:rPr>
              <a:t>100</a:t>
            </a:r>
            <a:r>
              <a:rPr lang="en-US" altLang="zh-CN" dirty="0"/>
              <a:t>, </a:t>
            </a:r>
            <a:r>
              <a:rPr lang="en-US" altLang="zh-CN" b="1" dirty="0"/>
              <a:t>Batch Size: </a:t>
            </a:r>
            <a:r>
              <a:rPr lang="en-US" altLang="zh-CN" dirty="0"/>
              <a:t>60, </a:t>
            </a:r>
            <a:r>
              <a:rPr lang="en-US" altLang="zh-CN" b="1" dirty="0"/>
              <a:t>Temporal Skip:</a:t>
            </a:r>
            <a:r>
              <a:rPr lang="en-US" altLang="zh-CN" dirty="0"/>
              <a:t> 50, </a:t>
            </a:r>
            <a:r>
              <a:rPr lang="en-US" altLang="zh-CN" b="1" dirty="0"/>
              <a:t>Training: </a:t>
            </a:r>
            <a:r>
              <a:rPr lang="en-US" altLang="zh-CN" dirty="0"/>
              <a:t>11</a:t>
            </a:r>
            <a:r>
              <a:rPr lang="en-US" altLang="zh-CN" b="1" dirty="0"/>
              <a:t> </a:t>
            </a:r>
            <a:r>
              <a:rPr lang="en-US" altLang="zh-CN" dirty="0"/>
              <a:t>files + single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1e-4</a:t>
            </a:r>
            <a:endParaRPr lang="zh-CN" altLang="en-US" dirty="0"/>
          </a:p>
        </p:txBody>
      </p:sp>
      <p:pic>
        <p:nvPicPr>
          <p:cNvPr id="3" name="Picture 2" descr="A red and blue lines&#10;&#10;AI-generated content may be incorrect.">
            <a:extLst>
              <a:ext uri="{FF2B5EF4-FFF2-40B4-BE49-F238E27FC236}">
                <a16:creationId xmlns:a16="http://schemas.microsoft.com/office/drawing/2014/main" id="{BDF5CEB5-8D2C-18CA-08A8-53C1A68AB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765" y="4308342"/>
            <a:ext cx="4937760" cy="2468880"/>
          </a:xfrm>
          <a:prstGeom prst="rect">
            <a:avLst/>
          </a:prstGeom>
        </p:spPr>
      </p:pic>
      <p:pic>
        <p:nvPicPr>
          <p:cNvPr id="9" name="Picture 8" descr="A red and blue squares&#10;&#10;AI-generated content may be incorrect.">
            <a:extLst>
              <a:ext uri="{FF2B5EF4-FFF2-40B4-BE49-F238E27FC236}">
                <a16:creationId xmlns:a16="http://schemas.microsoft.com/office/drawing/2014/main" id="{8CF6FA6E-2346-3F7C-E1AC-45D8CB68A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73" y="4308342"/>
            <a:ext cx="4937760" cy="2468880"/>
          </a:xfrm>
          <a:prstGeom prst="rect">
            <a:avLst/>
          </a:prstGeom>
        </p:spPr>
      </p:pic>
      <p:pic>
        <p:nvPicPr>
          <p:cNvPr id="12" name="Picture 11" descr="A close-up of a screen&#10;&#10;AI-generated content may be incorrect.">
            <a:extLst>
              <a:ext uri="{FF2B5EF4-FFF2-40B4-BE49-F238E27FC236}">
                <a16:creationId xmlns:a16="http://schemas.microsoft.com/office/drawing/2014/main" id="{ED1AB58C-47F6-54CF-4691-E6A556B80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765" y="1783722"/>
            <a:ext cx="4937760" cy="2468880"/>
          </a:xfrm>
          <a:prstGeom prst="rect">
            <a:avLst/>
          </a:prstGeom>
        </p:spPr>
      </p:pic>
      <p:pic>
        <p:nvPicPr>
          <p:cNvPr id="15" name="Picture 14" descr="A red and blue gradients&#10;&#10;AI-generated content may be incorrect.">
            <a:extLst>
              <a:ext uri="{FF2B5EF4-FFF2-40B4-BE49-F238E27FC236}">
                <a16:creationId xmlns:a16="http://schemas.microsoft.com/office/drawing/2014/main" id="{746BDE33-0528-2C1A-3FB3-1F6A2CC57A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73" y="1783722"/>
            <a:ext cx="4937760" cy="2468880"/>
          </a:xfrm>
          <a:prstGeom prst="rect">
            <a:avLst/>
          </a:prstGeom>
        </p:spPr>
      </p:pic>
      <p:pic>
        <p:nvPicPr>
          <p:cNvPr id="23" name="Picture 22" descr="A close-up of a logo&#10;&#10;AI-generated content may be incorrect.">
            <a:extLst>
              <a:ext uri="{FF2B5EF4-FFF2-40B4-BE49-F238E27FC236}">
                <a16:creationId xmlns:a16="http://schemas.microsoft.com/office/drawing/2014/main" id="{BAB99254-B5B5-F90E-E80F-7B7B4239A8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767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242A-4660-E21B-AB11-CEB6E0094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5F58-1ADD-6616-0294-3A6F3D42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Future Steps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54D6B-35B0-FE9D-062D-CF924D831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Further steps to take to optimize the model and evaluate its outputs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F91A4FA1-7681-7C9A-BBC1-C756ABB626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742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50366-5F50-C0D1-825E-1689E464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</a:rPr>
              <a:t>Optimization Results so far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1B7B8-5C06-B363-CCF3-E81521453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</a:rPr>
              <a:t>Training time accelerated </a:t>
            </a:r>
            <a:r>
              <a:rPr lang="en-US" altLang="zh-CN" dirty="0"/>
              <a:t>from </a:t>
            </a:r>
            <a:r>
              <a:rPr lang="en-US" altLang="zh-CN" b="1" dirty="0">
                <a:solidFill>
                  <a:schemeClr val="accent1"/>
                </a:solidFill>
              </a:rPr>
              <a:t>8+ hours </a:t>
            </a:r>
            <a:r>
              <a:rPr lang="en-US" altLang="zh-CN" dirty="0"/>
              <a:t>per training sample w/ full trajectory -&gt; </a:t>
            </a:r>
            <a:r>
              <a:rPr lang="en-US" altLang="zh-CN" b="1" dirty="0">
                <a:solidFill>
                  <a:schemeClr val="accent1"/>
                </a:solidFill>
              </a:rPr>
              <a:t>6.75 minutes </a:t>
            </a:r>
            <a:r>
              <a:rPr lang="en-US" altLang="zh-CN" dirty="0"/>
              <a:t>per training sample w/ full trajectory.</a:t>
            </a:r>
          </a:p>
          <a:p>
            <a:endParaRPr lang="en-US" altLang="zh-CN" dirty="0"/>
          </a:p>
          <a:p>
            <a:r>
              <a:rPr lang="en-US" altLang="zh-CN" b="1" dirty="0">
                <a:solidFill>
                  <a:schemeClr val="accent1"/>
                </a:solidFill>
              </a:rPr>
              <a:t>Reduced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rollout inference MSE </a:t>
            </a:r>
            <a:r>
              <a:rPr lang="en-US" altLang="zh-CN" dirty="0"/>
              <a:t>on training sample from ~0.12 to ~0.0228 (by ~81%)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61641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20D5-952A-F896-5B8A-FCEFE627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Optimizing Inference Quality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BB3A0-598B-7B95-D061-09050353F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/>
              <a:t>Experiment with a range </a:t>
            </a:r>
            <a:r>
              <a:rPr lang="en-US" altLang="zh-CN" b="1" dirty="0">
                <a:solidFill>
                  <a:schemeClr val="accent1"/>
                </a:solidFill>
              </a:rPr>
              <a:t>of parameters &amp; configurations</a:t>
            </a:r>
          </a:p>
          <a:p>
            <a:pPr lvl="1"/>
            <a:r>
              <a:rPr lang="en-US" altLang="zh-CN" b="1" dirty="0">
                <a:solidFill>
                  <a:schemeClr val="accent1"/>
                </a:solidFill>
              </a:rPr>
              <a:t>Learning rates, temporal skips, number of trajectories, number of training samples, integrators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Once optimized fully, check if test and validation results perform equally as good as training samples.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Evaluate the inference quality with physics-based quantitative physics metrics in the </a:t>
            </a:r>
            <a:r>
              <a:rPr lang="en-US" altLang="zh-CN" dirty="0" err="1"/>
              <a:t>ShearFlow</a:t>
            </a:r>
            <a:r>
              <a:rPr lang="en-US" altLang="zh-CN" dirty="0"/>
              <a:t> equation. </a:t>
            </a:r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8F0F05F8-A34B-81F4-B771-87EFF33B02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516" y="6188661"/>
            <a:ext cx="1793484" cy="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879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99A42-BB03-2ADB-E830-16A6ABC9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6615AF-AFC1-DC74-903B-FCCFC7748413}"/>
              </a:ext>
            </a:extLst>
          </p:cNvPr>
          <p:cNvSpPr/>
          <p:nvPr/>
        </p:nvSpPr>
        <p:spPr>
          <a:xfrm>
            <a:off x="12475" y="10887"/>
            <a:ext cx="12188825" cy="4996785"/>
          </a:xfrm>
          <a:prstGeom prst="rect">
            <a:avLst/>
          </a:prstGeom>
          <a:solidFill>
            <a:srgbClr val="01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12158"/>
              </a:solidFill>
            </a:endParaRPr>
          </a:p>
        </p:txBody>
      </p:sp>
      <p:pic>
        <p:nvPicPr>
          <p:cNvPr id="10" name="Picture 9" descr="primary_full_color_rgb.png">
            <a:extLst>
              <a:ext uri="{FF2B5EF4-FFF2-40B4-BE49-F238E27FC236}">
                <a16:creationId xmlns:a16="http://schemas.microsoft.com/office/drawing/2014/main" id="{E786AA48-23D4-9136-ACE5-448CF1FDDE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27" y="6107916"/>
            <a:ext cx="1801091" cy="44528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2A9D854-F130-9A11-C12E-F53417136D6E}"/>
              </a:ext>
            </a:extLst>
          </p:cNvPr>
          <p:cNvSpPr txBox="1">
            <a:spLocks/>
          </p:cNvSpPr>
          <p:nvPr/>
        </p:nvSpPr>
        <p:spPr>
          <a:xfrm>
            <a:off x="69490" y="2506515"/>
            <a:ext cx="12204214" cy="114453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u="none" kern="2200" spc="0" baseline="0">
                <a:solidFill>
                  <a:schemeClr val="bg1"/>
                </a:solidFill>
                <a:latin typeface="FranklinGothicURWComDem"/>
                <a:ea typeface="+mj-ea"/>
                <a:cs typeface="FranklinGothicURWComDem"/>
              </a:defRPr>
            </a:lvl1pPr>
          </a:lstStyle>
          <a:p>
            <a:r>
              <a:rPr lang="en-US" sz="6600" b="1">
                <a:latin typeface="+mn-lt"/>
              </a:rPr>
              <a:t>Thank You</a:t>
            </a:r>
            <a:r>
              <a:rPr lang="en-US" sz="5400" b="1">
                <a:latin typeface="+mn-lt"/>
              </a:rPr>
              <a:t> </a:t>
            </a:r>
          </a:p>
        </p:txBody>
      </p:sp>
      <p:pic>
        <p:nvPicPr>
          <p:cNvPr id="14" name="Picture 13" descr="dotted_line_white.png">
            <a:extLst>
              <a:ext uri="{FF2B5EF4-FFF2-40B4-BE49-F238E27FC236}">
                <a16:creationId xmlns:a16="http://schemas.microsoft.com/office/drawing/2014/main" id="{6FE99884-39AA-71BA-7A40-6A9C1A03C6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37"/>
          <a:stretch/>
        </p:blipFill>
        <p:spPr>
          <a:xfrm>
            <a:off x="1184466" y="4052780"/>
            <a:ext cx="9979155" cy="376052"/>
          </a:xfrm>
          <a:prstGeom prst="rect">
            <a:avLst/>
          </a:prstGeom>
        </p:spPr>
      </p:pic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41DD7EF5-216D-4E95-A995-64DB9E18E5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" y="5105401"/>
            <a:ext cx="2362200" cy="88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507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ECDB-F4A4-F5CE-9D25-EC430EEE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Older Documentation Pages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7E530-D26D-D04A-5D0F-277354E28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Previous explorations or slides that reflected poor outputs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4484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2297-5E15-DBA0-EC56-A2B0E671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8B25-EA21-6191-F0F9-6A4A0C23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624"/>
            <a:ext cx="10515600" cy="823070"/>
          </a:xfrm>
        </p:spPr>
        <p:txBody>
          <a:bodyPr/>
          <a:lstStyle/>
          <a:p>
            <a:r>
              <a:rPr lang="en-US"/>
              <a:t>Trajectory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121E-26E2-E064-D6B6-5F1AE0DED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987"/>
            <a:ext cx="10515600" cy="49418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Based on the information from the header file, we know that there are </a:t>
            </a:r>
            <a:r>
              <a:rPr lang="en-US" strike="sngStrike" dirty="0">
                <a:highlight>
                  <a:srgbClr val="FFFF00"/>
                </a:highlight>
              </a:rPr>
              <a:t>4 trajectories for each file</a:t>
            </a:r>
            <a:r>
              <a:rPr lang="en-US" strike="sngStrike" dirty="0"/>
              <a:t> </a:t>
            </a:r>
            <a:r>
              <a:rPr lang="en-US" dirty="0"/>
              <a:t>– we want to compare these to each other across 3 files (at random)</a:t>
            </a:r>
          </a:p>
          <a:p>
            <a:r>
              <a:rPr lang="en-US" dirty="0"/>
              <a:t>Min/Max Absolute Difference: For each field, we take the trajectories and compute the min &amp; max absolute difference – smallest and largest of those values are the min &amp; max absolute differences</a:t>
            </a:r>
          </a:p>
          <a:p>
            <a:pPr lvl="1"/>
            <a:r>
              <a:rPr lang="en-US" dirty="0"/>
              <a:t>Why does this good? – Catches any change, anywhere, tells us how similar or not (min &amp; max) the runs are to each other</a:t>
            </a:r>
          </a:p>
          <a:p>
            <a:pPr lvl="2"/>
            <a:r>
              <a:rPr lang="en-US" dirty="0"/>
              <a:t>At least 1 identical: </a:t>
            </a:r>
            <a:r>
              <a:rPr lang="en-US" b="1" dirty="0"/>
              <a:t>min = 0</a:t>
            </a:r>
          </a:p>
          <a:p>
            <a:pPr lvl="2"/>
            <a:r>
              <a:rPr lang="en-US" dirty="0"/>
              <a:t>Every Pair Diff: </a:t>
            </a:r>
            <a:r>
              <a:rPr lang="en-US" b="1" dirty="0"/>
              <a:t>min &gt; 0 or max &gt;0</a:t>
            </a:r>
          </a:p>
          <a:p>
            <a:pPr lvl="2"/>
            <a:r>
              <a:rPr lang="en-US" dirty="0"/>
              <a:t>All the Same: </a:t>
            </a:r>
            <a:r>
              <a:rPr lang="en-US" b="1" dirty="0"/>
              <a:t>max = 0</a:t>
            </a:r>
          </a:p>
          <a:p>
            <a:r>
              <a:rPr lang="en-US" dirty="0"/>
              <a:t>Conclusion: </a:t>
            </a:r>
          </a:p>
          <a:p>
            <a:pPr lvl="1"/>
            <a:r>
              <a:rPr lang="en-US" dirty="0"/>
              <a:t>Within files: we have four independent starting points randomized by tracer blobs – same scenario slightly tweaked</a:t>
            </a:r>
          </a:p>
          <a:p>
            <a:pPr lvl="1"/>
            <a:r>
              <a:rPr lang="en-US" dirty="0"/>
              <a:t>Amongst files: the files differ in terms of flow regime (different Re &amp; Sc), but the way randomization of the blobs occur does not change</a:t>
            </a:r>
          </a:p>
        </p:txBody>
      </p:sp>
    </p:spTree>
    <p:extLst>
      <p:ext uri="{BB962C8B-B14F-4D97-AF65-F5344CB8AC3E}">
        <p14:creationId xmlns:p14="http://schemas.microsoft.com/office/powerpoint/2010/main" val="42445102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13EE-EBE5-23AF-1793-53AE5108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recent trainings (broken model)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40626-A210-521F-D2B2-DEED893EB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5022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8AE0-EC36-0553-3E2F-66F2AF5D1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1270-848F-A722-6BD7-303E2A80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Snapshot Inference Output – Euler 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37E63697-AD89-F1DA-AAC6-5B8173E2A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029" y="4186581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stripes&#10;&#10;AI-generated content may be incorrect.">
            <a:extLst>
              <a:ext uri="{FF2B5EF4-FFF2-40B4-BE49-F238E27FC236}">
                <a16:creationId xmlns:a16="http://schemas.microsoft.com/office/drawing/2014/main" id="{ED48F4C7-2D39-E641-6BD4-E59BFFFCE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94" y="4258380"/>
            <a:ext cx="4937760" cy="2468880"/>
          </a:xfrm>
          <a:prstGeom prst="rect">
            <a:avLst/>
          </a:prstGeom>
        </p:spPr>
      </p:pic>
      <p:pic>
        <p:nvPicPr>
          <p:cNvPr id="11" name="Picture 10" descr="A close-up of a person's skin&#10;&#10;AI-generated content may be incorrect.">
            <a:extLst>
              <a:ext uri="{FF2B5EF4-FFF2-40B4-BE49-F238E27FC236}">
                <a16:creationId xmlns:a16="http://schemas.microsoft.com/office/drawing/2014/main" id="{38FF84E2-74F4-9D38-B0EC-2177DF23DC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029" y="1638545"/>
            <a:ext cx="4937760" cy="2468880"/>
          </a:xfrm>
          <a:prstGeom prst="rect">
            <a:avLst/>
          </a:prstGeom>
        </p:spPr>
      </p:pic>
      <p:pic>
        <p:nvPicPr>
          <p:cNvPr id="13" name="Picture 12" descr="A red and blue lines&#10;&#10;AI-generated content may be incorrect.">
            <a:extLst>
              <a:ext uri="{FF2B5EF4-FFF2-40B4-BE49-F238E27FC236}">
                <a16:creationId xmlns:a16="http://schemas.microsoft.com/office/drawing/2014/main" id="{AB914A46-1A50-67DC-657F-1CBCD9FB4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94" y="1638545"/>
            <a:ext cx="4937760" cy="2468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A11555-93DE-4209-FA3A-66335B82ECAF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85D83D-ECA6-9118-81A6-57351193E3E6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8396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0A34-9D93-B0D5-F0BF-B94EF385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A334-A924-85BA-C057-F81E2D58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Rollout Inference Output – Euler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24CB2D-29B1-0E58-8941-D9DFB54EFE67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F0E3FFD-8CB2-A424-3BF0-D8E875C0F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838" y="4124574"/>
            <a:ext cx="4937760" cy="2468880"/>
          </a:xfrm>
          <a:prstGeom prst="rect">
            <a:avLst/>
          </a:prstGeom>
        </p:spPr>
      </p:pic>
      <p:pic>
        <p:nvPicPr>
          <p:cNvPr id="7" name="Picture 6" descr="A red and blue stripes&#10;&#10;AI-generated content may be incorrect.">
            <a:extLst>
              <a:ext uri="{FF2B5EF4-FFF2-40B4-BE49-F238E27FC236}">
                <a16:creationId xmlns:a16="http://schemas.microsoft.com/office/drawing/2014/main" id="{4835B3E7-C562-6312-6F8F-7EEC79592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4" y="4124574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person's skin&#10;&#10;AI-generated content may be incorrect.">
            <a:extLst>
              <a:ext uri="{FF2B5EF4-FFF2-40B4-BE49-F238E27FC236}">
                <a16:creationId xmlns:a16="http://schemas.microsoft.com/office/drawing/2014/main" id="{872DF07C-A1E1-E2A7-9BE5-BF4B29B0C8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838" y="1655694"/>
            <a:ext cx="4937760" cy="2468880"/>
          </a:xfrm>
          <a:prstGeom prst="rect">
            <a:avLst/>
          </a:prstGeom>
        </p:spPr>
      </p:pic>
      <p:pic>
        <p:nvPicPr>
          <p:cNvPr id="14" name="Picture 13" descr="A red and blue stripes&#10;&#10;AI-generated content may be incorrect.">
            <a:extLst>
              <a:ext uri="{FF2B5EF4-FFF2-40B4-BE49-F238E27FC236}">
                <a16:creationId xmlns:a16="http://schemas.microsoft.com/office/drawing/2014/main" id="{29735BF1-B4D2-AC4F-2AA7-22BD83E46B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4" y="1655694"/>
            <a:ext cx="4937760" cy="2468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45DB5D-57AA-1C6E-025B-5B54418E4B79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1796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EB56C-5D6C-9AB1-BFD3-C5CF9480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91CD-EFD4-2CD0-6392-DC412A4E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Snapshot Inference Output – Euler 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9EB1C8AF-46FD-34D2-C927-36E12B23E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029" y="4188491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squares&#10;&#10;AI-generated content may be incorrect.">
            <a:extLst>
              <a:ext uri="{FF2B5EF4-FFF2-40B4-BE49-F238E27FC236}">
                <a16:creationId xmlns:a16="http://schemas.microsoft.com/office/drawing/2014/main" id="{E14FAA9A-2EBD-4434-0ADD-A660566533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47" y="4188491"/>
            <a:ext cx="4937760" cy="2468880"/>
          </a:xfrm>
          <a:prstGeom prst="rect">
            <a:avLst/>
          </a:prstGeom>
        </p:spPr>
      </p:pic>
      <p:pic>
        <p:nvPicPr>
          <p:cNvPr id="11" name="Picture 10" descr="A close-up of a red square&#10;&#10;AI-generated content may be incorrect.">
            <a:extLst>
              <a:ext uri="{FF2B5EF4-FFF2-40B4-BE49-F238E27FC236}">
                <a16:creationId xmlns:a16="http://schemas.microsoft.com/office/drawing/2014/main" id="{9BC8A4EE-5439-4CF0-7CEF-9ACC84EE3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029" y="1639500"/>
            <a:ext cx="4937760" cy="2468880"/>
          </a:xfrm>
          <a:prstGeom prst="rect">
            <a:avLst/>
          </a:prstGeom>
        </p:spPr>
      </p:pic>
      <p:pic>
        <p:nvPicPr>
          <p:cNvPr id="13" name="Picture 12" descr="A red and blue squares&#10;&#10;AI-generated content may be incorrect.">
            <a:extLst>
              <a:ext uri="{FF2B5EF4-FFF2-40B4-BE49-F238E27FC236}">
                <a16:creationId xmlns:a16="http://schemas.microsoft.com/office/drawing/2014/main" id="{80178D2A-54D1-8C04-AD69-65A1DCD40A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47" y="1639500"/>
            <a:ext cx="4937760" cy="2468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EB8638-C431-25BC-B214-2A3EE4DDBBA7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3EC57C-AA48-7C3D-7DC3-5B7B5BECCDD9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01333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B60E-7302-92C3-97B6-0600E544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132B-D545-2297-4F5E-F42D3A67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Rollout Inference Output – Euler </a:t>
            </a: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13CBAEB8-EF90-83DD-C606-D92CC3C71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153" y="4167126"/>
            <a:ext cx="4937760" cy="2468880"/>
          </a:xfrm>
          <a:prstGeom prst="rect">
            <a:avLst/>
          </a:prstGeom>
        </p:spPr>
      </p:pic>
      <p:pic>
        <p:nvPicPr>
          <p:cNvPr id="7" name="Picture 6" descr="A red and blue squares&#10;&#10;AI-generated content may be incorrect.">
            <a:extLst>
              <a:ext uri="{FF2B5EF4-FFF2-40B4-BE49-F238E27FC236}">
                <a16:creationId xmlns:a16="http://schemas.microsoft.com/office/drawing/2014/main" id="{6C6A8A0E-22C5-938B-932B-7D278748B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87" y="4167126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graph&#10;&#10;AI-generated content may be incorrect.">
            <a:extLst>
              <a:ext uri="{FF2B5EF4-FFF2-40B4-BE49-F238E27FC236}">
                <a16:creationId xmlns:a16="http://schemas.microsoft.com/office/drawing/2014/main" id="{93B1793B-BEA1-EDBE-3D2D-4172221BBF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153" y="1623246"/>
            <a:ext cx="4937760" cy="2468880"/>
          </a:xfrm>
          <a:prstGeom prst="rect">
            <a:avLst/>
          </a:prstGeom>
        </p:spPr>
      </p:pic>
      <p:pic>
        <p:nvPicPr>
          <p:cNvPr id="14" name="Picture 13" descr="A red and blue squares&#10;&#10;AI-generated content may be incorrect.">
            <a:extLst>
              <a:ext uri="{FF2B5EF4-FFF2-40B4-BE49-F238E27FC236}">
                <a16:creationId xmlns:a16="http://schemas.microsoft.com/office/drawing/2014/main" id="{7DD9616D-D183-E122-8ED9-ADB42BCD1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87" y="1623246"/>
            <a:ext cx="4937760" cy="2468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A3FAEA-0A3C-15D7-E8FD-B6124129A347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BDB4D4-0B95-1ACB-8869-96E849361E36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6511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4AC01-1D16-F9F7-8B44-35AADC1E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2EAA-0B16-DCC1-AEFD-CBB5012C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Euler  (recent) </a:t>
            </a:r>
            <a:r>
              <a:rPr lang="en-US" b="1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D9E61-925E-0803-3691-2E5641CE8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85" y="1412666"/>
            <a:ext cx="8493629" cy="517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190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0756-7877-E378-F874-2C97C586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EACB-561D-3AB2-7E58-064F91E5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Euler  (recent) </a:t>
            </a:r>
            <a:r>
              <a:rPr lang="en-US" b="1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E5666-775B-6830-C6F4-A45F4FE52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266" y="1382531"/>
            <a:ext cx="9051468" cy="524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909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2161-5B19-78F9-2AFB-CE64E5B2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Longer training outputs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45BC6-63ED-8983-7B8F-8F9D433FB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1881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278D-8D97-3BF3-32D0-B52F6BC8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E38F-D75E-EDF9-A13D-9864471D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Snapshot Inference Output – Euler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3ACDE-9727-2A1F-C042-5BF3F66A3DFA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 err="1">
                <a:highlight>
                  <a:srgbClr val="FFFF00"/>
                </a:highlight>
              </a:rPr>
              <a:t>val</a:t>
            </a:r>
            <a:r>
              <a:rPr lang="en-US" altLang="zh-CN" dirty="0">
                <a:highlight>
                  <a:srgbClr val="FFFF00"/>
                </a:highlight>
              </a:rPr>
              <a:t>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05C324-5BE6-46D3-A9A5-AAAA35B29551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  <p:pic>
        <p:nvPicPr>
          <p:cNvPr id="4" name="Picture 3" descr="A red and blue lines&#10;&#10;AI-generated content may be incorrect.">
            <a:extLst>
              <a:ext uri="{FF2B5EF4-FFF2-40B4-BE49-F238E27FC236}">
                <a16:creationId xmlns:a16="http://schemas.microsoft.com/office/drawing/2014/main" id="{18146348-F828-4E93-2ABE-40CDBFD89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906" y="4199116"/>
            <a:ext cx="4937760" cy="2468880"/>
          </a:xfrm>
          <a:prstGeom prst="rect">
            <a:avLst/>
          </a:prstGeom>
        </p:spPr>
      </p:pic>
      <p:pic>
        <p:nvPicPr>
          <p:cNvPr id="7" name="Picture 6" descr="A red and blue color scheme&#10;&#10;AI-generated content may be incorrect.">
            <a:extLst>
              <a:ext uri="{FF2B5EF4-FFF2-40B4-BE49-F238E27FC236}">
                <a16:creationId xmlns:a16="http://schemas.microsoft.com/office/drawing/2014/main" id="{D86CE1CF-1B3D-D164-943C-911A6C900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18" y="4199116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diagram&#10;&#10;AI-generated content may be incorrect.">
            <a:extLst>
              <a:ext uri="{FF2B5EF4-FFF2-40B4-BE49-F238E27FC236}">
                <a16:creationId xmlns:a16="http://schemas.microsoft.com/office/drawing/2014/main" id="{A3335B46-64E9-27AD-2B5E-8BEE0B489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906" y="1730236"/>
            <a:ext cx="4937760" cy="2468880"/>
          </a:xfrm>
          <a:prstGeom prst="rect">
            <a:avLst/>
          </a:prstGeom>
        </p:spPr>
      </p:pic>
      <p:pic>
        <p:nvPicPr>
          <p:cNvPr id="14" name="Picture 13" descr="A red and blue gradients&#10;&#10;AI-generated content may be incorrect.">
            <a:extLst>
              <a:ext uri="{FF2B5EF4-FFF2-40B4-BE49-F238E27FC236}">
                <a16:creationId xmlns:a16="http://schemas.microsoft.com/office/drawing/2014/main" id="{33408EE5-492E-2AA9-3BFB-89D9BC9530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18" y="1730236"/>
            <a:ext cx="49377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502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689F-DCE5-E3B3-78F9-32C739C4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8349-9510-53E5-7AA5-6E7161B2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Rollout Inference Output – Euler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0B078D-CF40-F5C3-5A8A-8FD5068CA4D9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inference: </a:t>
            </a:r>
            <a:r>
              <a:rPr lang="en-US" altLang="zh-CN" dirty="0" err="1">
                <a:highlight>
                  <a:srgbClr val="FFFF00"/>
                </a:highlight>
              </a:rPr>
              <a:t>val</a:t>
            </a:r>
            <a:r>
              <a:rPr lang="en-US" altLang="zh-CN" dirty="0">
                <a:highlight>
                  <a:srgbClr val="FFFF00"/>
                </a:highlight>
              </a:rPr>
              <a:t>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B7A39-58A1-4938-E2B0-B8F0545C715A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  <p:pic>
        <p:nvPicPr>
          <p:cNvPr id="5" name="Picture 4" descr="A red and blue gradients&#10;&#10;AI-generated content may be incorrect.">
            <a:extLst>
              <a:ext uri="{FF2B5EF4-FFF2-40B4-BE49-F238E27FC236}">
                <a16:creationId xmlns:a16="http://schemas.microsoft.com/office/drawing/2014/main" id="{F57B3127-F8CD-8633-7DF1-096DD746F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545" y="4233727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color scheme&#10;&#10;AI-generated content may be incorrect.">
            <a:extLst>
              <a:ext uri="{FF2B5EF4-FFF2-40B4-BE49-F238E27FC236}">
                <a16:creationId xmlns:a16="http://schemas.microsoft.com/office/drawing/2014/main" id="{0616357F-86BC-A9D0-1463-EEA83FEE51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4313230"/>
            <a:ext cx="4937760" cy="2468880"/>
          </a:xfrm>
          <a:prstGeom prst="rect">
            <a:avLst/>
          </a:prstGeom>
        </p:spPr>
      </p:pic>
      <p:pic>
        <p:nvPicPr>
          <p:cNvPr id="11" name="Picture 10" descr="A close-up of a diagram&#10;&#10;AI-generated content may be incorrect.">
            <a:extLst>
              <a:ext uri="{FF2B5EF4-FFF2-40B4-BE49-F238E27FC236}">
                <a16:creationId xmlns:a16="http://schemas.microsoft.com/office/drawing/2014/main" id="{9DDF0639-DB95-CDD6-E193-283F55B459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547" y="1764847"/>
            <a:ext cx="4937760" cy="2468880"/>
          </a:xfrm>
          <a:prstGeom prst="rect">
            <a:avLst/>
          </a:prstGeom>
        </p:spPr>
      </p:pic>
      <p:pic>
        <p:nvPicPr>
          <p:cNvPr id="13" name="Picture 12" descr="A red and blue gradients&#10;&#10;AI-generated content may be incorrect.">
            <a:extLst>
              <a:ext uri="{FF2B5EF4-FFF2-40B4-BE49-F238E27FC236}">
                <a16:creationId xmlns:a16="http://schemas.microsoft.com/office/drawing/2014/main" id="{BCBE7BCE-7BB5-9360-60AC-4EF4C8440A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1764847"/>
            <a:ext cx="49377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999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80A1E-ED9E-E208-5B60-1CEC65032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3100-BCBF-8D5C-DB1D-01EE75BD4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Euler  (longer) </a:t>
            </a:r>
            <a:r>
              <a:rPr lang="en-US" b="1" dirty="0"/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03DF7-E193-AA0B-BBDF-AFA56E14D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209" y="1389243"/>
            <a:ext cx="8815582" cy="517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440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EF34-72CB-94E6-E8BA-891B04CD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99A8-0340-1158-FBAC-8D7F3668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Euler  (longer) </a:t>
            </a:r>
            <a:r>
              <a:rPr lang="en-US" b="1" dirty="0"/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8DEEA4-D4E8-7E18-279E-751E10197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39" y="1354661"/>
            <a:ext cx="9073122" cy="523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031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7A24-C64E-924C-9DBF-11918555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2977-885E-3670-48B2-8003AD9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Snap Inference Output – RK4</a:t>
            </a:r>
          </a:p>
        </p:txBody>
      </p:sp>
      <p:pic>
        <p:nvPicPr>
          <p:cNvPr id="4" name="Picture 3" descr="A red and blue lines&#10;&#10;AI-generated content may be incorrect.">
            <a:extLst>
              <a:ext uri="{FF2B5EF4-FFF2-40B4-BE49-F238E27FC236}">
                <a16:creationId xmlns:a16="http://schemas.microsoft.com/office/drawing/2014/main" id="{4CD8E20B-217C-9F11-002F-04DB6A5E9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368" y="4309067"/>
            <a:ext cx="4937760" cy="2468880"/>
          </a:xfrm>
          <a:prstGeom prst="rect">
            <a:avLst/>
          </a:prstGeom>
        </p:spPr>
      </p:pic>
      <p:pic>
        <p:nvPicPr>
          <p:cNvPr id="7" name="Picture 6" descr="A red and blue stripes&#10;&#10;AI-generated content may be incorrect.">
            <a:extLst>
              <a:ext uri="{FF2B5EF4-FFF2-40B4-BE49-F238E27FC236}">
                <a16:creationId xmlns:a16="http://schemas.microsoft.com/office/drawing/2014/main" id="{6ECEA81A-BBC7-2EE1-7BE7-32D2D1A20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4" y="4309067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red and blue background&#10;&#10;AI-generated content may be incorrect.">
            <a:extLst>
              <a:ext uri="{FF2B5EF4-FFF2-40B4-BE49-F238E27FC236}">
                <a16:creationId xmlns:a16="http://schemas.microsoft.com/office/drawing/2014/main" id="{E5E0BDD1-09C3-FEC2-5007-3605CBF7F4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368" y="1699788"/>
            <a:ext cx="4937760" cy="2468880"/>
          </a:xfrm>
          <a:prstGeom prst="rect">
            <a:avLst/>
          </a:prstGeom>
        </p:spPr>
      </p:pic>
      <p:pic>
        <p:nvPicPr>
          <p:cNvPr id="14" name="Picture 13" descr="A red and blue lines&#10;&#10;AI-generated content may be incorrect.">
            <a:extLst>
              <a:ext uri="{FF2B5EF4-FFF2-40B4-BE49-F238E27FC236}">
                <a16:creationId xmlns:a16="http://schemas.microsoft.com/office/drawing/2014/main" id="{E266F961-2A63-B1D4-2999-90FCC4962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74" y="1699788"/>
            <a:ext cx="4937760" cy="2468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5C871B1-56D3-D7E4-846C-A8B417F0D382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1D85F-51C5-D6B8-2787-13CE77D540FA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061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4A732-A782-007D-70FA-10F6766F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2B3A-CD28-3041-C018-8768E7B1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Rollout Inference Output – RK4</a:t>
            </a:r>
          </a:p>
        </p:txBody>
      </p:sp>
      <p:pic>
        <p:nvPicPr>
          <p:cNvPr id="5" name="Picture 4" descr="A red and blue lines&#10;&#10;AI-generated content may be incorrect.">
            <a:extLst>
              <a:ext uri="{FF2B5EF4-FFF2-40B4-BE49-F238E27FC236}">
                <a16:creationId xmlns:a16="http://schemas.microsoft.com/office/drawing/2014/main" id="{AD9091F1-B7D9-3120-9D4F-D3970BECC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166" y="4258661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stripes&#10;&#10;AI-generated content may be incorrect.">
            <a:extLst>
              <a:ext uri="{FF2B5EF4-FFF2-40B4-BE49-F238E27FC236}">
                <a16:creationId xmlns:a16="http://schemas.microsoft.com/office/drawing/2014/main" id="{ADBE81BD-6F8E-AF22-4C5B-34D53E414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14" y="4296068"/>
            <a:ext cx="4937760" cy="2468880"/>
          </a:xfrm>
          <a:prstGeom prst="rect">
            <a:avLst/>
          </a:prstGeom>
        </p:spPr>
      </p:pic>
      <p:pic>
        <p:nvPicPr>
          <p:cNvPr id="11" name="Picture 10" descr="A close-up of a red and blue background&#10;&#10;AI-generated content may be incorrect.">
            <a:extLst>
              <a:ext uri="{FF2B5EF4-FFF2-40B4-BE49-F238E27FC236}">
                <a16:creationId xmlns:a16="http://schemas.microsoft.com/office/drawing/2014/main" id="{42B575DC-9738-663A-1958-10B605E9FC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166" y="1711992"/>
            <a:ext cx="4937760" cy="2468880"/>
          </a:xfrm>
          <a:prstGeom prst="rect">
            <a:avLst/>
          </a:prstGeom>
        </p:spPr>
      </p:pic>
      <p:pic>
        <p:nvPicPr>
          <p:cNvPr id="13" name="Picture 12" descr="A red and blue lines&#10;&#10;AI-generated content may be incorrect.">
            <a:extLst>
              <a:ext uri="{FF2B5EF4-FFF2-40B4-BE49-F238E27FC236}">
                <a16:creationId xmlns:a16="http://schemas.microsoft.com/office/drawing/2014/main" id="{A8CDCE9E-76E3-A8FE-C34A-99BAD73A91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47" y="1646672"/>
            <a:ext cx="4937760" cy="2468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1ED5A8E-B545-AD7B-4F14-7BEB6EC98017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train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C24D5A-590C-4572-24C0-0CDBB38BA294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989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6342B-B853-CD8F-BCCA-6418F34F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4416-73E7-D198-4531-AB62D60A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Snap Inference Output – RK4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C6EEDE3-8C49-D3F7-AB41-D393975CE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985" y="4234115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squares&#10;&#10;AI-generated content may be incorrect.">
            <a:extLst>
              <a:ext uri="{FF2B5EF4-FFF2-40B4-BE49-F238E27FC236}">
                <a16:creationId xmlns:a16="http://schemas.microsoft.com/office/drawing/2014/main" id="{DBDFF80A-EF62-1350-2D93-F7973CA6F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80" y="4234115"/>
            <a:ext cx="4937760" cy="2468880"/>
          </a:xfrm>
          <a:prstGeom prst="rect">
            <a:avLst/>
          </a:prstGeom>
        </p:spPr>
      </p:pic>
      <p:pic>
        <p:nvPicPr>
          <p:cNvPr id="11" name="Picture 10" descr="A close-up of a red and blue background&#10;&#10;AI-generated content may be incorrect.">
            <a:extLst>
              <a:ext uri="{FF2B5EF4-FFF2-40B4-BE49-F238E27FC236}">
                <a16:creationId xmlns:a16="http://schemas.microsoft.com/office/drawing/2014/main" id="{B408351F-50FF-4466-03AD-70B97FAAFF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040" y="1667455"/>
            <a:ext cx="4937760" cy="2468880"/>
          </a:xfrm>
          <a:prstGeom prst="rect">
            <a:avLst/>
          </a:prstGeom>
        </p:spPr>
      </p:pic>
      <p:pic>
        <p:nvPicPr>
          <p:cNvPr id="13" name="Picture 12" descr="A red and blue squares&#10;&#10;AI-generated content may be incorrect.">
            <a:extLst>
              <a:ext uri="{FF2B5EF4-FFF2-40B4-BE49-F238E27FC236}">
                <a16:creationId xmlns:a16="http://schemas.microsoft.com/office/drawing/2014/main" id="{AFEA6DE8-04B5-586A-7282-850EB00167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80" y="1667455"/>
            <a:ext cx="4937760" cy="24688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F911AC-B05D-0011-E001-B2DE150CA07C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923CA6-3EA9-5F89-EBDF-E16B38616990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99728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F1E88-11B5-7EB3-EA47-C019430A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2812-304E-4C71-A7D4-08C8AA39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Rollout Inference Output – RK4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C5AB16B-3939-2A6D-934F-F07D9ECED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98" y="4283504"/>
            <a:ext cx="4937760" cy="2468880"/>
          </a:xfrm>
          <a:prstGeom prst="rect">
            <a:avLst/>
          </a:prstGeom>
        </p:spPr>
      </p:pic>
      <p:pic>
        <p:nvPicPr>
          <p:cNvPr id="7" name="Picture 6" descr="A red and blue squares&#10;&#10;AI-generated content may be incorrect.">
            <a:extLst>
              <a:ext uri="{FF2B5EF4-FFF2-40B4-BE49-F238E27FC236}">
                <a16:creationId xmlns:a16="http://schemas.microsoft.com/office/drawing/2014/main" id="{E2806B12-4A27-FB87-6604-6A1FA7E0C9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9" y="4283504"/>
            <a:ext cx="4937760" cy="2468880"/>
          </a:xfrm>
          <a:prstGeom prst="rect">
            <a:avLst/>
          </a:prstGeom>
        </p:spPr>
      </p:pic>
      <p:pic>
        <p:nvPicPr>
          <p:cNvPr id="10" name="Picture 9" descr="A close-up of a red and blue background&#10;&#10;AI-generated content may be incorrect.">
            <a:extLst>
              <a:ext uri="{FF2B5EF4-FFF2-40B4-BE49-F238E27FC236}">
                <a16:creationId xmlns:a16="http://schemas.microsoft.com/office/drawing/2014/main" id="{38DD68DA-3AEC-81AF-9FB9-1A450A16C8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98" y="1628817"/>
            <a:ext cx="4937760" cy="2468880"/>
          </a:xfrm>
          <a:prstGeom prst="rect">
            <a:avLst/>
          </a:prstGeom>
        </p:spPr>
      </p:pic>
      <p:pic>
        <p:nvPicPr>
          <p:cNvPr id="14" name="Picture 13" descr="A red and blue squares&#10;&#10;AI-generated content may be incorrect.">
            <a:extLst>
              <a:ext uri="{FF2B5EF4-FFF2-40B4-BE49-F238E27FC236}">
                <a16:creationId xmlns:a16="http://schemas.microsoft.com/office/drawing/2014/main" id="{41A87D86-3286-8811-D62D-F906A756DE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9" y="1628817"/>
            <a:ext cx="4937760" cy="24688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C8193D7-D2AE-2444-F912-6D73C6077EFA}"/>
              </a:ext>
            </a:extLst>
          </p:cNvPr>
          <p:cNvSpPr txBox="1"/>
          <p:nvPr/>
        </p:nvSpPr>
        <p:spPr>
          <a:xfrm>
            <a:off x="318655" y="742292"/>
            <a:ext cx="1007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inference: </a:t>
            </a:r>
            <a:r>
              <a:rPr lang="en-US" altLang="zh-CN" dirty="0">
                <a:highlight>
                  <a:srgbClr val="FFFF00"/>
                </a:highlight>
              </a:rPr>
              <a:t>test samples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8E9E42-0C6B-480C-116F-BF9239476965}"/>
              </a:ext>
            </a:extLst>
          </p:cNvPr>
          <p:cNvSpPr txBox="1"/>
          <p:nvPr/>
        </p:nvSpPr>
        <p:spPr>
          <a:xfrm>
            <a:off x="318655" y="1137391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Epochs: </a:t>
            </a:r>
            <a:r>
              <a:rPr lang="en-US" altLang="zh-CN" dirty="0"/>
              <a:t>100, </a:t>
            </a:r>
            <a:r>
              <a:rPr lang="en-US" altLang="zh-CN" b="1" dirty="0"/>
              <a:t>Batch Size: </a:t>
            </a:r>
            <a:r>
              <a:rPr lang="en-US" altLang="zh-CN" dirty="0"/>
              <a:t>40,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74336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D570-4A6F-5337-5593-C64A8029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D5F1-F33E-8390-AB76-66BA009D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RK4 (recent) </a:t>
            </a:r>
            <a:r>
              <a:rPr lang="en-US" b="1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83875-8B66-A9DE-CBAF-DD2A7FF3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703" y="1287693"/>
            <a:ext cx="8820594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217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1CE9-A81D-D0E2-29DF-BE6AD209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RK4 (recent) </a:t>
            </a:r>
            <a:r>
              <a:rPr lang="en-US" b="1" dirty="0"/>
              <a:t>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6DD72B-BC0C-B682-1090-A56FC4811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648" y="1313146"/>
            <a:ext cx="9314703" cy="539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122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84EC-EC7A-905E-5036-D177F1A20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Older trainings (broken model)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D0132-0279-69B2-02A9-23E12EED2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2001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8ECB5-2FD3-2CE1-5203-D8BEE51B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82" y="-256669"/>
            <a:ext cx="11921836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Snapshot Inference Output</a:t>
            </a:r>
          </a:p>
        </p:txBody>
      </p:sp>
      <p:pic>
        <p:nvPicPr>
          <p:cNvPr id="10" name="Content Placeholder 9" descr="A close-up of a red and blue square&#10;&#10;AI-generated content may be incorrect.">
            <a:extLst>
              <a:ext uri="{FF2B5EF4-FFF2-40B4-BE49-F238E27FC236}">
                <a16:creationId xmlns:a16="http://schemas.microsoft.com/office/drawing/2014/main" id="{EE6EBE22-4173-D76C-BD7F-AFCE942C5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1320271"/>
            <a:ext cx="4937760" cy="2468880"/>
          </a:xfrm>
        </p:spPr>
      </p:pic>
      <p:pic>
        <p:nvPicPr>
          <p:cNvPr id="12" name="Picture 11" descr="A red and blue squares&#10;&#10;AI-generated content may be incorrect.">
            <a:extLst>
              <a:ext uri="{FF2B5EF4-FFF2-40B4-BE49-F238E27FC236}">
                <a16:creationId xmlns:a16="http://schemas.microsoft.com/office/drawing/2014/main" id="{AE8CB731-A27A-1105-61F3-FF6637C79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20271"/>
            <a:ext cx="4937760" cy="2468880"/>
          </a:xfrm>
          <a:prstGeom prst="rect">
            <a:avLst/>
          </a:prstGeom>
        </p:spPr>
      </p:pic>
      <p:pic>
        <p:nvPicPr>
          <p:cNvPr id="14" name="Picture 13" descr="A red and blue squares&#10;&#10;AI-generated content may be incorrect.">
            <a:extLst>
              <a:ext uri="{FF2B5EF4-FFF2-40B4-BE49-F238E27FC236}">
                <a16:creationId xmlns:a16="http://schemas.microsoft.com/office/drawing/2014/main" id="{21D55007-4FAD-3A39-C091-FA22A83FA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4085705"/>
            <a:ext cx="4937760" cy="2468880"/>
          </a:xfrm>
          <a:prstGeom prst="rect">
            <a:avLst/>
          </a:prstGeom>
        </p:spPr>
      </p:pic>
      <p:pic>
        <p:nvPicPr>
          <p:cNvPr id="16" name="Picture 15" descr="A screenshot of a graph&#10;&#10;AI-generated content may be incorrect.">
            <a:extLst>
              <a:ext uri="{FF2B5EF4-FFF2-40B4-BE49-F238E27FC236}">
                <a16:creationId xmlns:a16="http://schemas.microsoft.com/office/drawing/2014/main" id="{4ACCCB5D-F43C-AFEC-F16D-CE098ADA2B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85705"/>
            <a:ext cx="4937760" cy="24688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99201B-71E9-A7E3-613A-489753D8903B}"/>
              </a:ext>
            </a:extLst>
          </p:cNvPr>
          <p:cNvSpPr txBox="1"/>
          <p:nvPr/>
        </p:nvSpPr>
        <p:spPr>
          <a:xfrm>
            <a:off x="302029" y="700551"/>
            <a:ext cx="10454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inference: </a:t>
            </a:r>
            <a:r>
              <a:rPr lang="en-US" altLang="zh-CN" dirty="0"/>
              <a:t>test samples,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4036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0F83-704E-FBBE-279E-CB4A1B9C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8875-DAE6-65B5-8F68-6A6F4553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Rollout Inference Output</a:t>
            </a:r>
          </a:p>
        </p:txBody>
      </p:sp>
      <p:pic>
        <p:nvPicPr>
          <p:cNvPr id="4" name="Picture 3" descr="A red and blue squares&#10;&#10;AI-generated content may be incorrect.">
            <a:extLst>
              <a:ext uri="{FF2B5EF4-FFF2-40B4-BE49-F238E27FC236}">
                <a16:creationId xmlns:a16="http://schemas.microsoft.com/office/drawing/2014/main" id="{EAACD3D9-7154-CF88-9078-0AD5C93F8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55" y="1560842"/>
            <a:ext cx="4937760" cy="2468880"/>
          </a:xfrm>
          <a:prstGeom prst="rect">
            <a:avLst/>
          </a:prstGeom>
        </p:spPr>
      </p:pic>
      <p:pic>
        <p:nvPicPr>
          <p:cNvPr id="6" name="Picture 5" descr="A close-up of a red and blue square&#10;&#10;AI-generated content may be incorrect.">
            <a:extLst>
              <a:ext uri="{FF2B5EF4-FFF2-40B4-BE49-F238E27FC236}">
                <a16:creationId xmlns:a16="http://schemas.microsoft.com/office/drawing/2014/main" id="{3C5EBAA7-4A00-ECE8-A749-10452CB00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528" y="1560842"/>
            <a:ext cx="4937760" cy="2468880"/>
          </a:xfrm>
          <a:prstGeom prst="rect">
            <a:avLst/>
          </a:prstGeom>
        </p:spPr>
      </p:pic>
      <p:pic>
        <p:nvPicPr>
          <p:cNvPr id="8" name="Picture 7" descr="A red and blue squares&#10;&#10;AI-generated content may be incorrect.">
            <a:extLst>
              <a:ext uri="{FF2B5EF4-FFF2-40B4-BE49-F238E27FC236}">
                <a16:creationId xmlns:a16="http://schemas.microsoft.com/office/drawing/2014/main" id="{475351AA-14AC-1272-49B1-459B3421D0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528" y="4270293"/>
            <a:ext cx="4937760" cy="2468880"/>
          </a:xfrm>
          <a:prstGeom prst="rect">
            <a:avLst/>
          </a:prstGeom>
        </p:spPr>
      </p:pic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40E7DE69-486C-A22A-1287-A037CC543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55" y="4270293"/>
            <a:ext cx="4937760" cy="24688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7313A0-DEEC-FC57-6B21-8D43B4ED5284}"/>
              </a:ext>
            </a:extLst>
          </p:cNvPr>
          <p:cNvSpPr txBox="1"/>
          <p:nvPr/>
        </p:nvSpPr>
        <p:spPr>
          <a:xfrm>
            <a:off x="318655" y="913058"/>
            <a:ext cx="9989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Euler, </a:t>
            </a: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70,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inference: </a:t>
            </a:r>
            <a:r>
              <a:rPr lang="en-US" altLang="zh-CN" dirty="0"/>
              <a:t>test samples, </a:t>
            </a:r>
            <a:r>
              <a:rPr lang="en-US" altLang="zh-CN" b="1" dirty="0"/>
              <a:t>learning rate: </a:t>
            </a:r>
            <a:r>
              <a:rPr lang="en-US" altLang="zh-CN" dirty="0"/>
              <a:t>1e-5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38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D6F5-9FB5-89E7-FA49-C9155FA5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DA44-E6EF-5FAA-07B0-07E75920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Snapshot Inference 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10C88-B3D3-1DCA-25DE-D29A97B7D960}"/>
              </a:ext>
            </a:extLst>
          </p:cNvPr>
          <p:cNvSpPr txBox="1"/>
          <p:nvPr/>
        </p:nvSpPr>
        <p:spPr>
          <a:xfrm>
            <a:off x="318655" y="913058"/>
            <a:ext cx="1012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20,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inference: </a:t>
            </a:r>
            <a:r>
              <a:rPr lang="en-US" altLang="zh-CN" dirty="0"/>
              <a:t>test samples, learning rate: 1e-5</a:t>
            </a:r>
            <a:endParaRPr lang="zh-CN" altLang="en-US" dirty="0"/>
          </a:p>
        </p:txBody>
      </p:sp>
      <p:pic>
        <p:nvPicPr>
          <p:cNvPr id="5" name="Picture 4" descr="A red and blue color scheme&#10;&#10;AI-generated content may be incorrect.">
            <a:extLst>
              <a:ext uri="{FF2B5EF4-FFF2-40B4-BE49-F238E27FC236}">
                <a16:creationId xmlns:a16="http://schemas.microsoft.com/office/drawing/2014/main" id="{DF57F83E-8D33-3550-EE53-D7D3C5F00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4269084"/>
            <a:ext cx="4937760" cy="2468880"/>
          </a:xfrm>
          <a:prstGeom prst="rect">
            <a:avLst/>
          </a:prstGeom>
        </p:spPr>
      </p:pic>
      <p:pic>
        <p:nvPicPr>
          <p:cNvPr id="9" name="Picture 8" descr="A red and blue lines with black text&#10;&#10;AI-generated content may be incorrect.">
            <a:extLst>
              <a:ext uri="{FF2B5EF4-FFF2-40B4-BE49-F238E27FC236}">
                <a16:creationId xmlns:a16="http://schemas.microsoft.com/office/drawing/2014/main" id="{92F7DFC6-C134-FC4A-8166-B95CEE2CE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72" y="4269084"/>
            <a:ext cx="4937760" cy="2468880"/>
          </a:xfrm>
          <a:prstGeom prst="rect">
            <a:avLst/>
          </a:prstGeom>
        </p:spPr>
      </p:pic>
      <p:pic>
        <p:nvPicPr>
          <p:cNvPr id="11" name="Picture 10" descr="A close-up of a red and blue square&#10;&#10;AI-generated content may be incorrect.">
            <a:extLst>
              <a:ext uri="{FF2B5EF4-FFF2-40B4-BE49-F238E27FC236}">
                <a16:creationId xmlns:a16="http://schemas.microsoft.com/office/drawing/2014/main" id="{04461D93-73C0-8F6E-0BEC-B541DFAAB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72" y="1692265"/>
            <a:ext cx="4937760" cy="2468880"/>
          </a:xfrm>
          <a:prstGeom prst="rect">
            <a:avLst/>
          </a:prstGeom>
        </p:spPr>
      </p:pic>
      <p:pic>
        <p:nvPicPr>
          <p:cNvPr id="13" name="Picture 12" descr="A red and blue squares&#10;&#10;AI-generated content may be incorrect.">
            <a:extLst>
              <a:ext uri="{FF2B5EF4-FFF2-40B4-BE49-F238E27FC236}">
                <a16:creationId xmlns:a16="http://schemas.microsoft.com/office/drawing/2014/main" id="{E2A1D559-0364-AC30-E9BC-7593CEC9D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1692265"/>
            <a:ext cx="49377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569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F0E3-F9A4-AF43-1795-A41E86359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5D4D-2A46-8995-DA54-46E80699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-18817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Rollout Inference 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7BE3FA-EEC3-AD44-A676-D65C4F3B2253}"/>
              </a:ext>
            </a:extLst>
          </p:cNvPr>
          <p:cNvSpPr txBox="1"/>
          <p:nvPr/>
        </p:nvSpPr>
        <p:spPr>
          <a:xfrm>
            <a:off x="318655" y="913058"/>
            <a:ext cx="1007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Integrator: </a:t>
            </a:r>
            <a:r>
              <a:rPr lang="en-US" altLang="zh-CN" dirty="0"/>
              <a:t>RK4, </a:t>
            </a:r>
            <a:r>
              <a:rPr lang="en-US" altLang="zh-CN" b="1" dirty="0"/>
              <a:t>Epochs: </a:t>
            </a:r>
            <a:r>
              <a:rPr lang="en-US" altLang="zh-CN" dirty="0"/>
              <a:t>1000, </a:t>
            </a:r>
            <a:r>
              <a:rPr lang="en-US" altLang="zh-CN" b="1" dirty="0"/>
              <a:t>Batch Size: </a:t>
            </a:r>
            <a:r>
              <a:rPr lang="en-US" altLang="zh-CN" dirty="0"/>
              <a:t>20, </a:t>
            </a:r>
            <a:r>
              <a:rPr lang="en-US" altLang="zh-CN" b="1" dirty="0"/>
              <a:t>Temporal Skip: </a:t>
            </a:r>
            <a:r>
              <a:rPr lang="en-US" altLang="zh-CN" dirty="0"/>
              <a:t>20, </a:t>
            </a:r>
            <a:r>
              <a:rPr lang="en-US" altLang="zh-CN" b="1" dirty="0"/>
              <a:t>Training: </a:t>
            </a:r>
            <a:r>
              <a:rPr lang="en-US" altLang="zh-CN" dirty="0"/>
              <a:t>2 files + full trajectories, </a:t>
            </a:r>
            <a:r>
              <a:rPr lang="en-US" altLang="zh-CN" b="1" dirty="0"/>
              <a:t>Validation: </a:t>
            </a:r>
            <a:r>
              <a:rPr lang="en-US" altLang="zh-CN" dirty="0"/>
              <a:t>2 files + single trajectories , </a:t>
            </a:r>
            <a:r>
              <a:rPr lang="en-US" altLang="zh-CN" b="1" dirty="0"/>
              <a:t>inference: </a:t>
            </a:r>
            <a:r>
              <a:rPr lang="en-US" altLang="zh-CN" dirty="0"/>
              <a:t>test samples, learning rate: 1e-5</a:t>
            </a:r>
            <a:endParaRPr lang="zh-CN" altLang="en-US" dirty="0"/>
          </a:p>
        </p:txBody>
      </p:sp>
      <p:pic>
        <p:nvPicPr>
          <p:cNvPr id="5" name="Picture 4" descr="A red and blue squares&#10;&#10;AI-generated content may be incorrect.">
            <a:extLst>
              <a:ext uri="{FF2B5EF4-FFF2-40B4-BE49-F238E27FC236}">
                <a16:creationId xmlns:a16="http://schemas.microsoft.com/office/drawing/2014/main" id="{78B65D31-32CA-FC91-F732-6156A3402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1722813"/>
            <a:ext cx="4937760" cy="2468880"/>
          </a:xfrm>
          <a:prstGeom prst="rect">
            <a:avLst/>
          </a:prstGeom>
        </p:spPr>
      </p:pic>
      <p:pic>
        <p:nvPicPr>
          <p:cNvPr id="9" name="Picture 8" descr="A close-up of a red and blue square&#10;&#10;AI-generated content may be incorrect.">
            <a:extLst>
              <a:ext uri="{FF2B5EF4-FFF2-40B4-BE49-F238E27FC236}">
                <a16:creationId xmlns:a16="http://schemas.microsoft.com/office/drawing/2014/main" id="{F8C19412-AB8C-84FD-82AB-DBE5134CC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1944"/>
            <a:ext cx="4937760" cy="2468880"/>
          </a:xfrm>
          <a:prstGeom prst="rect">
            <a:avLst/>
          </a:prstGeom>
        </p:spPr>
      </p:pic>
      <p:pic>
        <p:nvPicPr>
          <p:cNvPr id="11" name="Picture 10" descr="A red and blue squares&#10;&#10;AI-generated content may be incorrect.">
            <a:extLst>
              <a:ext uri="{FF2B5EF4-FFF2-40B4-BE49-F238E27FC236}">
                <a16:creationId xmlns:a16="http://schemas.microsoft.com/office/drawing/2014/main" id="{C64D1B2B-5EC5-9384-904F-5DBFD004A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5" y="4255824"/>
            <a:ext cx="4937760" cy="2468880"/>
          </a:xfrm>
          <a:prstGeom prst="rect">
            <a:avLst/>
          </a:prstGeom>
        </p:spPr>
      </p:pic>
      <p:pic>
        <p:nvPicPr>
          <p:cNvPr id="13" name="Picture 12" descr="A close-up of a graph&#10;&#10;AI-generated content may be incorrect.">
            <a:extLst>
              <a:ext uri="{FF2B5EF4-FFF2-40B4-BE49-F238E27FC236}">
                <a16:creationId xmlns:a16="http://schemas.microsoft.com/office/drawing/2014/main" id="{A8CD8C28-2C86-6CE9-4A4C-AE2F1F35D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89120"/>
            <a:ext cx="49377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05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9C38-1F96-9B87-A552-B13482A7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D1E3E-037D-5BE6-DF6D-E7B190D2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Euler </a:t>
            </a:r>
            <a:r>
              <a:rPr lang="en-US" b="1" dirty="0"/>
              <a:t> 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8962B8-3B2F-918E-20E6-182F512B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66" y="1518650"/>
            <a:ext cx="8565268" cy="519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933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2BD0-73E2-2172-8993-CC58BC7E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47D5-8C02-DB87-07CC-F109F259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Euler </a:t>
            </a:r>
            <a:r>
              <a:rPr lang="en-US" b="1" dirty="0"/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39E5C5-8727-D0CC-7230-5BDCF8D6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64" y="1358938"/>
            <a:ext cx="9455529" cy="549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000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71A4-0184-C560-CB89-BB44D3E9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E9A5-8B5E-D3CD-651C-95471FBDD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RK4 </a:t>
            </a:r>
            <a:r>
              <a:rPr lang="en-US" b="1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AA9A8-2962-B6F3-EFFA-664FDED6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279" y="1321724"/>
            <a:ext cx="9191441" cy="553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874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F68D-85ED-09AC-E451-DEA2EF69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AFF5-52D4-845E-0941-9258E6F3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Loss Curve – RK4 </a:t>
            </a:r>
            <a:r>
              <a:rPr lang="en-US" b="1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64674-B7F6-CF24-7900-77A4862D5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25" y="1499922"/>
            <a:ext cx="8842950" cy="522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75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5504</TotalTime>
  <Words>3262</Words>
  <Application>Microsoft Office PowerPoint</Application>
  <PresentationFormat>Widescreen</PresentationFormat>
  <Paragraphs>379</Paragraphs>
  <Slides>83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4" baseType="lpstr">
      <vt:lpstr>office theme</vt:lpstr>
      <vt:lpstr>PowerPoint Presentation</vt:lpstr>
      <vt:lpstr>Agenda </vt:lpstr>
      <vt:lpstr>Motivating Example</vt:lpstr>
      <vt:lpstr>What is a Shear Flow?</vt:lpstr>
      <vt:lpstr>What is a Shear Flow?</vt:lpstr>
      <vt:lpstr>Couette Flow – Ideal Example</vt:lpstr>
      <vt:lpstr>Real-World Shear Flow Fluid Dynamics</vt:lpstr>
      <vt:lpstr>Real-World Shear Flow Fluid Dynamics (in General)</vt:lpstr>
      <vt:lpstr>Modeling Objectives</vt:lpstr>
      <vt:lpstr>How it motivates the project?</vt:lpstr>
      <vt:lpstr>What are we predicting with PARC?</vt:lpstr>
      <vt:lpstr>Data Overview </vt:lpstr>
      <vt:lpstr>PowerPoint Presentation</vt:lpstr>
      <vt:lpstr>PowerPoint Presentation</vt:lpstr>
      <vt:lpstr>Initial Conditions </vt:lpstr>
      <vt:lpstr>Initial Conditions </vt:lpstr>
      <vt:lpstr>Spatial Down Sampling </vt:lpstr>
      <vt:lpstr>Temporal Down Sampling </vt:lpstr>
      <vt:lpstr>Trajectory Overview </vt:lpstr>
      <vt:lpstr>Train-Test Split Strategy</vt:lpstr>
      <vt:lpstr>Re-splitting the dataset </vt:lpstr>
      <vt:lpstr>Training Process</vt:lpstr>
      <vt:lpstr>Model Building Changes</vt:lpstr>
      <vt:lpstr>Model Building Changes</vt:lpstr>
      <vt:lpstr>Training Strategies #1 </vt:lpstr>
      <vt:lpstr>Training Strategies #2 (Current) </vt:lpstr>
      <vt:lpstr>Model Output</vt:lpstr>
      <vt:lpstr>Euler Model Inference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Euler Loss Curve</vt:lpstr>
      <vt:lpstr>Euler Loss Curve</vt:lpstr>
      <vt:lpstr>RK4 Model Inference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RK4 Loss Curve </vt:lpstr>
      <vt:lpstr>RK4 Loss Curve </vt:lpstr>
      <vt:lpstr>Observations</vt:lpstr>
      <vt:lpstr>Euler Inference at 100 epochs</vt:lpstr>
      <vt:lpstr>PowerPoint Presentation</vt:lpstr>
      <vt:lpstr>PowerPoint Presentation</vt:lpstr>
      <vt:lpstr>PowerPoint Presentation</vt:lpstr>
      <vt:lpstr>Future Steps </vt:lpstr>
      <vt:lpstr>Optimization Results so far</vt:lpstr>
      <vt:lpstr>Optimizing Inference Quality</vt:lpstr>
      <vt:lpstr>PowerPoint Presentation</vt:lpstr>
      <vt:lpstr>Older Documentation Pages</vt:lpstr>
      <vt:lpstr>Trajectory Analysis</vt:lpstr>
      <vt:lpstr>More recent trainings (broken model)</vt:lpstr>
      <vt:lpstr>Snapshot Inference Output – Euler </vt:lpstr>
      <vt:lpstr>Rollout Inference Output – Euler</vt:lpstr>
      <vt:lpstr>Snapshot Inference Output – Euler </vt:lpstr>
      <vt:lpstr>Rollout Inference Output – Euler </vt:lpstr>
      <vt:lpstr>Loss Curve – Euler  (recent)  </vt:lpstr>
      <vt:lpstr>Loss Curve – Euler  (recent)  </vt:lpstr>
      <vt:lpstr>Longer training outputs</vt:lpstr>
      <vt:lpstr>Snapshot Inference Output – Euler </vt:lpstr>
      <vt:lpstr>Rollout Inference Output – Euler </vt:lpstr>
      <vt:lpstr>Loss Curve – Euler  (longer)  </vt:lpstr>
      <vt:lpstr>Loss Curve – Euler  (longer)  </vt:lpstr>
      <vt:lpstr>Snap Inference Output – RK4</vt:lpstr>
      <vt:lpstr>Rollout Inference Output – RK4</vt:lpstr>
      <vt:lpstr>Snap Inference Output – RK4</vt:lpstr>
      <vt:lpstr>Rollout Inference Output – RK4</vt:lpstr>
      <vt:lpstr>Loss Curve – RK4 (recent)  </vt:lpstr>
      <vt:lpstr>Loss Curve – RK4 (recent)  </vt:lpstr>
      <vt:lpstr>Older trainings (broken model)</vt:lpstr>
      <vt:lpstr>Snapshot Inference Output</vt:lpstr>
      <vt:lpstr>Rollout Inference Output</vt:lpstr>
      <vt:lpstr>Snapshot Inference Output</vt:lpstr>
      <vt:lpstr>Rollout Inference Output</vt:lpstr>
      <vt:lpstr>Loss Curve – Euler  </vt:lpstr>
      <vt:lpstr>Loss Curve – Euler  </vt:lpstr>
      <vt:lpstr>Loss Curve – RK4  </vt:lpstr>
      <vt:lpstr>Loss Curve – RK4 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Ethan</dc:creator>
  <cp:lastModifiedBy>Ethan Cao</cp:lastModifiedBy>
  <cp:revision>120</cp:revision>
  <dcterms:created xsi:type="dcterms:W3CDTF">2013-07-15T20:26:40Z</dcterms:created>
  <dcterms:modified xsi:type="dcterms:W3CDTF">2026-10-14T02:46:20Z</dcterms:modified>
</cp:coreProperties>
</file>